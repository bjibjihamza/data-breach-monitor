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Bonjour à tous. Nous avons le plaisir de vous présenter notre projet de fin de module intitulé Data Breach &amp; Threat Intelligence Monitoring Platform, réalisé par notre équipe — Chaimae, Yassir, Imane et moi-même Hamza — sous l'encadrement du Professeur Younes Wadiai, dans le cadre de la filière Big Data &amp; Intelligence Artificielle.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Notre présentation se déroulera en 4 parties : je commencerai par poser le contexte, l'architecture globale et une démo rapide de la plateforme ; Chaimae enchaînera avec le module GitHub Monitoring ; Yassir présentera les modules Telegram et Google Alerts ; et Imane clôturera avec le module BI Threat Intelligence, la chaîne de traitement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Chaque jour, une quantité massive d'informations sensibles apparaît sur des espaces publics : secrets oubliés dans des dépôts GitHub, annonces de fuites sur Telegram, vulnérabilités CVE publiées, couverture médiatique d'incidents. Ces expositions sont rarement intentionnelles, mais elles représentent un risque exploitable. Le problème pour un analyste, c'est la dispersion : les signaux sont partout, et personne ne les centralise. Notre projet répond précisément à ce constat.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L'objectif global est de collecter, normaliser, filtrer et restituer des signaux cyber issus de sources ouvertes et autorisées. Nous sommes dans une démarche purement défensive — pas d'actions offensives, pas de scraping de dark web. La plateforme s'adresse à un analyste SOC, un responsable sécurité, un enseignant-chercheur, ou toute équipe souhaitant expérimenter une chaîne OSINT complète.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Voici la vue conceptuelle de notre pipeline. L'architecture est modulaire et organisée en deux sous-systèmes : à gauche, la plateforme principale de monitoring qui détecte les expositions publiques via GitHub, Telegram et Google Alerts ; à droite, le module BI Threat Intelligence dédié aux CVE selon une architecture médaillon Bronze/Silver/Gold. Le pipeline couvre 7 étapes : configuration, collecte, normalisation, analyse, filtrage, redaction, et restitution. Nous nous appuyons sur 4 familles de sources complémentaires. Quatre principes nous guident : séparation des responsabilités, configuration externalisée, filtrage explicite, et approche défensive — les données sensibles ne sont jamais stockées en clair.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 DEMO] Avant que mes collègues n'entrent dans le détail de chaque module, je voudrais vous donner un aperçu concret et visuel. Considérez ce slide comme une démo exclusive en avant-première. Concrètement, lorsqu'un analyste se connecte à notre plateforme, il accède à un environnement unifié dans lequel il peut : scanner en temps réel les fuites de secrets sur GitHub ; surveiller les canaux Telegram publics dédiés aux fuites ; visualiser les actualités cyber issues de Google Alerts classées par catégorie ; explorer les CVE à travers les dashboards Power BI ; et superviser l'état de chaque source. Là où un analyste devait ouvrir 5 ou 6 outils différents, notre plateforme centralise, qualifie et présente tous ces signaux dans une seule interface cohérente. Mes collègues vont maintenant détailler chaque module, en commençant par Chaimae avec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Merci Hamza. GitHub est l'une de nos sources principales car elle permet d'identifier des preuves techniques d'exposition directement présentes dans des dépôts publics. De nombreux développeurs publient — souvent par erreur — des fichiers .env, des clés d'API, des tokens, des certificats, ou des chaînes de connexion. Contrairement aux autres sources qui fournissent des indications déclaratives, GitHub nous donne des preuves directement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L'accès se fait via l'API officielle GitHub Code Search, authentifiée par un token développeur pour bénéficier de quotas adaptés. Toute la logique de recherche repose sur un fichier de configuration externalisé appelé global_risks.yml, qui organise les requêtes par catégories de risques : fichiers d'environnement, identifiants PostgreSQL/MySQL/MongoDB, clés d'API, secrets cloud AWS/Azure/GCP, tokens JWT, clés privées, fichiers Docker/Kubernetes. Cette externalisation rend la veille structurée, auditable et évolutive — ajouter une nouvelle catégorie ne nécessite pas de modifier le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Voici l'interface GitHub Intelligence. Le tableau central liste les signaux détectés avec leur sévérité, leur niveau de confiance, leur type de secret et leur statut. Les panneaux latéraux affichent l'état du scanner et les compteurs. À droite, un cas réel détecté : un fichier contenant des identifiants SMTP Gmail, des URLs PostgreSQL/Supabase/Render avec utilisateurs et mots de passe, un secret Google OAuth, et plusieurs variables de connexion. Cette fuite est classée secret exposure avec une sévérité high, car elle permettrait à un attaquant d'accéder à des services backend. Je passe la parole à Yassir.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Merci Chaimae. Telegram est utilisé comme source de veille communautaire et OSINT. Beaucoup de canaux publics y publient des annonces liées aux fuites de données, aux CVE et aux incidents cyber. Distinction importante : contrairement à GitHub qui fournit des preuves techniques, Telegram fournit des indications déclaratives — des signaux à analyser et à valider, pas des preuves définitives. Nous surveillons deux canaux publics déclarés dans un fichier de configuration : CVEDetector pour les vulnérabilités, et breachforums_cdn pour le suivi des annonces de fuites.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Pour chaque message collecté, la plateforme effectue 5 étapes : extraction des informations utiles, détection des thématiques, classification, génération d'un signal normalisé, et masquage du contenu sensible. Voici un exemple concret : une annonce sur le canal breachforums_cdn mentionnant une fuite liée à Avito.ma, avec environ 2,7 millions d'enregistrements exposés. Il faut bien comprendre que ce n'est pas une preuve technique automatique — c'est un signal OSINT qui doit être corroboré avec d'autres sources avant d'être considéré comme un incident confirmé.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Google Alerts apporte la dimension news et OSINT au pipeline. Au total, nous avons configuré 16 alertes personnalisables, chacune définie par un nom, une catégorie, un périmètre géographique, une requête bilingue français/anglais, et une URL RSS. Les catégories couvrent un spectre large : cyberattaques globales, ransomware, fuites santé, incidents financiers, secteur public, 0-day, activité dark web, et même les bulletins officiels ANSSI / CERT-FR.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Les flux RSS sont récupérés à intervalle régulier par notre planificateur. Pour chaque entrée, la plateforme extrait les métadonnées, rattache la détection à sa catégorie d'origine, applique les règles de filtrage, et conserve uniquement l'information normalisée et redactée. L'interface permet à l'analyste de suivre en temps réel les alertes, de filtrer par catégorie et par sévérité, et d'identifier rapidement les incidents médiatisés. Je passe la parole à Imane.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Merci Yassir. Le module BI Threat Intelligence est un sous-projet complémentaire orienté vers l'exploitation analytique des flux CVE. Contrairement aux autres modules qui détectent des expositions ponctuelles, celui-ci produit une vision décisionnelle sur l'évolution des vulnérabilités dans le temps. Il repose sur une architecture Data Warehouse organisée selon le modèle médaillon : la couche Bronze ingère les données CVE brutes ; la couche Silver nettoie, normalise, enrichit et déduplique ; la couche Gold produit les agrégats métiers et les tables prêtes pour Power BI.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Le module fournit 3 pages Power BI répondant chacune à un objectif analytique distinct. Executive Overview donne la vision globale : nombre total de CVE, vulnérabilités critiques, fournisseurs impactés, pourcentage de CVE critiques. Time &amp; Age Analysis analyse la dimension temporelle : évolution annuelle et mensuelle, distribution par ancienneté. Severity &amp; Impact Analysis se concentre sur la criticité : distribution des sévérités, scores CVSS moyens et maximums, relation entre impact et exploitabilité.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Revenons à la chaîne de traitement commune. La collecte fonctionne selon 2 régimes : planifiée par un scheduler et à la demande déclenchée par l'analyste. Chaque détection est associée à un hash de déduplication pour éviter la pollution de la base. Comme les sources produisent des formats différents — code, messages, RSS, objets structurés — une étape de normalisation transforme tout en document unifié. Le cœur du système est la detection policy : c'est le garde-fou central qui décide si une donnée brute mérite d'être conservée. Elle vérifie le contenu réel, identifie les secrets exploitables, exclut les faux positifs, calcule un score de risque, attribue une sévérité, et masque les valeurs sensibles avant stockage.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Chaque détection retenue est classée selon 5 axes : la source, la catégorie de risque, la sévérité, le niveau de confiance, et le statut analyste (new, reviewed, confirmed, false_positive, escalated). Un point essentiel : nous ne considérons jamais automatiquement qu'un résultat brut est un incident. Les fichiers d'exemple, les valeurs changeme ou your_key, les chemins tests/ ou examples/ sont systématiquement filtrés. La détection initiale identifie un candidat, mais c'est la detection policy qui distingue un vrai secret exploitable d'un faux positif.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En conclusion, notre projet a permis de concevoir une plateforme de veille cyber qui traite la veille comme un processus méthodologique et non comme une simple accumulation de logs. À travers 4 sources complémentaires — GitHub, Telegram, Google Alerts et le module BI CVE — nous couvrons un large spectre d'expositions publiques. Au-delà de l'aspect technique, c'est un véritable exercice méthodologique. Les perspectives ouvertes sont nombreuses : améliorer la corrélation entre sources, automatiser la production de rapports, enrichir les indicateurs de risque… autant de pistes pour faire évoluer notre outil pédagogique vers un outil opérationnel.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 ÉQUIPE] Nous vous remercions pour votre attention. Toute l'équipe — Hamza, Chaimae, Yassir et moi-même — reste à votre disposition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verview.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9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arallelogram 5"/>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371600"/>
            <a:ext cx="7772400" cy="1371600"/>
          </a:xfrm>
          <a:prstGeom prst="rect">
            <a:avLst/>
          </a:prstGeom>
          <a:noFill/>
        </p:spPr>
        <p:txBody>
          <a:bodyPr wrap="square" lIns="0" rIns="0" tIns="0" bIns="0" anchor="t">
            <a:spAutoFit/>
          </a:bodyPr>
          <a:lstStyle/>
          <a:p>
            <a:pPr algn="r">
              <a:lnSpc>
                <a:spcPct val="90000"/>
              </a:lnSpc>
            </a:pPr>
            <a:r>
              <a:rPr sz="7200" b="1" i="0">
                <a:solidFill>
                  <a:srgbClr val="64FFDA"/>
                </a:solidFill>
                <a:latin typeface="Segoe UI Black"/>
              </a:rPr>
              <a:t>DATA BREACH</a:t>
            </a:r>
          </a:p>
          <a:p>
            <a:pPr algn="r">
              <a:lnSpc>
                <a:spcPct val="90000"/>
              </a:lnSpc>
            </a:pPr>
            <a:r>
              <a:rPr sz="7200" b="1" i="0">
                <a:solidFill>
                  <a:srgbClr val="64FFDA"/>
                </a:solidFill>
                <a:latin typeface="Segoe UI Black"/>
              </a:rPr>
              <a:t>&amp; THREAT INTEL</a:t>
            </a:r>
          </a:p>
        </p:txBody>
      </p:sp>
      <p:sp>
        <p:nvSpPr>
          <p:cNvPr id="8" name="TextBox 7"/>
          <p:cNvSpPr txBox="1"/>
          <p:nvPr/>
        </p:nvSpPr>
        <p:spPr>
          <a:xfrm>
            <a:off x="3657600" y="3474720"/>
            <a:ext cx="7772400" cy="731520"/>
          </a:xfrm>
          <a:prstGeom prst="rect">
            <a:avLst/>
          </a:prstGeom>
          <a:noFill/>
        </p:spPr>
        <p:txBody>
          <a:bodyPr wrap="square" lIns="0" rIns="0" tIns="0" bIns="0" anchor="t">
            <a:spAutoFit/>
          </a:bodyPr>
          <a:lstStyle/>
          <a:p>
            <a:pPr algn="r"/>
            <a:r>
              <a:rPr sz="4200" b="1" i="0">
                <a:solidFill>
                  <a:srgbClr val="E6F1FF"/>
                </a:solidFill>
                <a:latin typeface="Segoe UI Black"/>
              </a:rPr>
              <a:t>MONITORING PLATFORM</a:t>
            </a:r>
          </a:p>
        </p:txBody>
      </p:sp>
      <p:cxnSp>
        <p:nvCxnSpPr>
          <p:cNvPr id="9" name="Connector 8"/>
          <p:cNvCxnSpPr/>
          <p:nvPr/>
        </p:nvCxnSpPr>
        <p:spPr>
          <a:xfrm>
            <a:off x="8076895" y="4572000"/>
            <a:ext cx="3200400" cy="0"/>
          </a:xfrm>
          <a:prstGeom prst="line">
            <a:avLst/>
          </a:prstGeom>
          <a:ln w="19050">
            <a:solidFill>
              <a:srgbClr val="E6F1F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0319" y="4535424"/>
            <a:ext cx="73152" cy="73152"/>
          </a:xfrm>
          <a:prstGeom prst="ellipse">
            <a:avLst/>
          </a:prstGeom>
          <a:solidFill>
            <a:srgbClr val="0A192F"/>
          </a:solidFill>
          <a:ln w="19050">
            <a:solidFill>
              <a:srgbClr val="E6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240719" y="4535424"/>
            <a:ext cx="73152" cy="73152"/>
          </a:xfrm>
          <a:prstGeom prst="ellipse">
            <a:avLst/>
          </a:prstGeom>
          <a:solidFill>
            <a:srgbClr val="0A192F"/>
          </a:solidFill>
          <a:ln w="19050">
            <a:solidFill>
              <a:srgbClr val="E6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8095" y="4846320"/>
            <a:ext cx="5029200" cy="731520"/>
          </a:xfrm>
          <a:prstGeom prst="rect">
            <a:avLst/>
          </a:prstGeom>
          <a:noFill/>
        </p:spPr>
        <p:txBody>
          <a:bodyPr wrap="square" lIns="0" rIns="0" tIns="0" bIns="0" anchor="t">
            <a:spAutoFit/>
          </a:bodyPr>
          <a:lstStyle/>
          <a:p>
            <a:pPr algn="r"/>
            <a:r>
              <a:rPr sz="1200" b="0" i="0">
                <a:solidFill>
                  <a:srgbClr val="CCD6F6"/>
                </a:solidFill>
                <a:latin typeface="Segoe UI"/>
              </a:rPr>
              <a:t>Plateforme de veille cyber multi-sources — détection, qualification</a:t>
            </a:r>
          </a:p>
          <a:p>
            <a:pPr algn="r"/>
            <a:r>
              <a:rPr sz="1200" b="0" i="0">
                <a:solidFill>
                  <a:srgbClr val="CCD6F6"/>
                </a:solidFill>
                <a:latin typeface="Segoe UI"/>
              </a:rPr>
              <a:t>et visualisation des expositions publiques et signaux OSINT.</a:t>
            </a:r>
          </a:p>
        </p:txBody>
      </p:sp>
      <p:sp>
        <p:nvSpPr>
          <p:cNvPr id="13" name="TextBox 12"/>
          <p:cNvSpPr txBox="1"/>
          <p:nvPr/>
        </p:nvSpPr>
        <p:spPr>
          <a:xfrm>
            <a:off x="731520" y="4572000"/>
            <a:ext cx="4572000" cy="457200"/>
          </a:xfrm>
          <a:prstGeom prst="rect">
            <a:avLst/>
          </a:prstGeom>
          <a:noFill/>
        </p:spPr>
        <p:txBody>
          <a:bodyPr wrap="square" lIns="0" rIns="0" tIns="0" bIns="0" anchor="t">
            <a:spAutoFit/>
          </a:bodyPr>
          <a:lstStyle/>
          <a:p>
            <a:pPr algn="l"/>
            <a:r>
              <a:rPr sz="2400" b="1" i="0">
                <a:solidFill>
                  <a:srgbClr val="64FFDA"/>
                </a:solidFill>
                <a:latin typeface="Segoe UI Black"/>
              </a:rPr>
              <a:t>Detect Early. Respond Faster.</a:t>
            </a:r>
          </a:p>
        </p:txBody>
      </p:sp>
      <p:sp>
        <p:nvSpPr>
          <p:cNvPr id="14" name="TextBox 13"/>
          <p:cNvSpPr txBox="1"/>
          <p:nvPr/>
        </p:nvSpPr>
        <p:spPr>
          <a:xfrm>
            <a:off x="731520" y="5212080"/>
            <a:ext cx="4572000" cy="914400"/>
          </a:xfrm>
          <a:prstGeom prst="rect">
            <a:avLst/>
          </a:prstGeom>
          <a:noFill/>
        </p:spPr>
        <p:txBody>
          <a:bodyPr wrap="square" lIns="0" rIns="0" tIns="0" bIns="0" anchor="t">
            <a:spAutoFit/>
          </a:bodyPr>
          <a:lstStyle/>
          <a:p>
            <a:pPr algn="l">
              <a:lnSpc>
                <a:spcPct val="130000"/>
              </a:lnSpc>
            </a:pPr>
            <a:r>
              <a:rPr sz="1000" b="0" i="0">
                <a:solidFill>
                  <a:srgbClr val="8892B0"/>
                </a:solidFill>
                <a:latin typeface="Segoe UI"/>
              </a:rPr>
              <a:t>Projet de fin de module • 2025-2026</a:t>
            </a:r>
          </a:p>
          <a:p>
            <a:pPr algn="l">
              <a:lnSpc>
                <a:spcPct val="130000"/>
              </a:lnSpc>
            </a:pPr>
            <a:r>
              <a:rPr sz="1000" b="0" i="0">
                <a:solidFill>
                  <a:srgbClr val="8892B0"/>
                </a:solidFill>
                <a:latin typeface="Segoe UI"/>
              </a:rPr>
              <a:t>Hamza Bjibji • Chaimae Ben Sbeh</a:t>
            </a:r>
          </a:p>
          <a:p>
            <a:pPr algn="l">
              <a:lnSpc>
                <a:spcPct val="130000"/>
              </a:lnSpc>
            </a:pPr>
            <a:r>
              <a:rPr sz="1000" b="0" i="0">
                <a:solidFill>
                  <a:srgbClr val="8892B0"/>
                </a:solidFill>
                <a:latin typeface="Segoe UI"/>
              </a:rPr>
              <a:t>Yassir Salim El Akramine • Imane Sghiouar</a:t>
            </a:r>
          </a:p>
          <a:p>
            <a:pPr algn="l">
              <a:lnSpc>
                <a:spcPct val="130000"/>
              </a:lnSpc>
            </a:pPr>
            <a:r>
              <a:rPr sz="1000" b="0" i="0">
                <a:solidFill>
                  <a:srgbClr val="8892B0"/>
                </a:solidFill>
                <a:latin typeface="Segoe UI"/>
              </a:rPr>
              <a:t>Encadré par: Prof. Younes Wadiai</a:t>
            </a:r>
          </a:p>
        </p:txBody>
      </p:sp>
      <p:sp>
        <p:nvSpPr>
          <p:cNvPr id="15" name="TextBox 14"/>
          <p:cNvSpPr txBox="1"/>
          <p:nvPr/>
        </p:nvSpPr>
        <p:spPr>
          <a:xfrm>
            <a:off x="9905695" y="457200"/>
            <a:ext cx="1371600" cy="457200"/>
          </a:xfrm>
          <a:prstGeom prst="rect">
            <a:avLst/>
          </a:prstGeom>
          <a:noFill/>
        </p:spPr>
        <p:txBody>
          <a:bodyPr wrap="square" lIns="0" rIns="0" tIns="0" bIns="0" anchor="t">
            <a:spAutoFit/>
          </a:bodyPr>
          <a:lstStyle/>
          <a:p>
            <a:pPr algn="r"/>
            <a:r>
              <a:rPr sz="2400" b="1" i="0">
                <a:solidFill>
                  <a:srgbClr val="64FFDA"/>
                </a:solidFill>
                <a:latin typeface="Segoe UI Black"/>
              </a:rPr>
              <a:t>v1.0</a:t>
            </a:r>
          </a:p>
        </p:txBody>
      </p:sp>
      <p:sp>
        <p:nvSpPr>
          <p:cNvPr id="16" name="TextBox 15"/>
          <p:cNvSpPr txBox="1"/>
          <p:nvPr/>
        </p:nvSpPr>
        <p:spPr>
          <a:xfrm>
            <a:off x="9905695" y="822960"/>
            <a:ext cx="1371600" cy="274320"/>
          </a:xfrm>
          <a:prstGeom prst="rect">
            <a:avLst/>
          </a:prstGeom>
          <a:noFill/>
        </p:spPr>
        <p:txBody>
          <a:bodyPr wrap="square" lIns="0" rIns="0" tIns="0" bIns="0" anchor="t">
            <a:spAutoFit/>
          </a:bodyPr>
          <a:lstStyle/>
          <a:p>
            <a:pPr algn="r"/>
            <a:r>
              <a:rPr sz="1000" b="0" i="0">
                <a:solidFill>
                  <a:srgbClr val="E6F1FF"/>
                </a:solidFill>
                <a:latin typeface="Segoe UI"/>
              </a:rPr>
              <a:t>Release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02</a:t>
            </a:r>
          </a:p>
        </p:txBody>
      </p:sp>
      <p:sp>
        <p:nvSpPr>
          <p:cNvPr id="6" name="Rectangle 5"/>
          <p:cNvSpPr/>
          <p:nvPr/>
        </p:nvSpPr>
        <p:spPr>
          <a:xfrm>
            <a:off x="11094415" y="457200"/>
            <a:ext cx="640080" cy="640080"/>
          </a:xfrm>
          <a:prstGeom prst="rect">
            <a:avLst/>
          </a:prstGeom>
          <a:solidFill>
            <a:srgbClr val="0A192F"/>
          </a:solidFill>
          <a:ln w="2540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64FFDA"/>
                </a:solidFill>
                <a:latin typeface="Segoe UI Black"/>
              </a:rPr>
              <a:t>02</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PLAN DE LA PRÉSENTATION</a:t>
            </a:r>
          </a:p>
        </p:txBody>
      </p:sp>
      <p:cxnSp>
        <p:nvCxnSpPr>
          <p:cNvPr id="10" name="Connector 9"/>
          <p:cNvCxnSpPr/>
          <p:nvPr/>
        </p:nvCxnSpPr>
        <p:spPr>
          <a:xfrm>
            <a:off x="640080" y="1371600"/>
            <a:ext cx="2743200" cy="0"/>
          </a:xfrm>
          <a:prstGeom prst="line">
            <a:avLst/>
          </a:prstGeom>
          <a:ln w="19050">
            <a:solidFill>
              <a:srgbClr val="64FFD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514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5147" y="1554480"/>
            <a:ext cx="2697480" cy="16459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467" y="2011680"/>
            <a:ext cx="2148840" cy="1371600"/>
          </a:xfrm>
          <a:prstGeom prst="rect">
            <a:avLst/>
          </a:prstGeom>
          <a:noFill/>
        </p:spPr>
        <p:txBody>
          <a:bodyPr wrap="square" lIns="0" rIns="0" tIns="0" bIns="0" anchor="t">
            <a:spAutoFit/>
          </a:bodyPr>
          <a:lstStyle/>
          <a:p>
            <a:pPr algn="l"/>
            <a:r>
              <a:rPr sz="7200" b="1" i="0">
                <a:solidFill>
                  <a:srgbClr val="5E81AC"/>
                </a:solidFill>
                <a:latin typeface="Segoe UI"/>
              </a:rPr>
              <a:t>01</a:t>
            </a:r>
          </a:p>
        </p:txBody>
      </p:sp>
      <p:sp>
        <p:nvSpPr>
          <p:cNvPr id="16" name="TextBox 15"/>
          <p:cNvSpPr txBox="1"/>
          <p:nvPr/>
        </p:nvSpPr>
        <p:spPr>
          <a:xfrm>
            <a:off x="76946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Introduction &amp; Architecture</a:t>
            </a:r>
          </a:p>
        </p:txBody>
      </p:sp>
      <p:cxnSp>
        <p:nvCxnSpPr>
          <p:cNvPr id="17" name="Connector 16"/>
          <p:cNvCxnSpPr/>
          <p:nvPr/>
        </p:nvCxnSpPr>
        <p:spPr>
          <a:xfrm>
            <a:off x="769467.5" y="4251960"/>
            <a:ext cx="914400.0" cy="0"/>
          </a:xfrm>
          <a:prstGeom prst="line">
            <a:avLst/>
          </a:prstGeom>
          <a:ln w="25400">
            <a:solidFill>
              <a:srgbClr val="5E81A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946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Contexte, objectifs, architecture</a:t>
            </a:r>
          </a:p>
          <a:p>
            <a:pPr algn="l"/>
            <a:r>
              <a:rPr sz="1000" b="0" i="0">
                <a:solidFill>
                  <a:srgbClr val="CCD6F6"/>
                </a:solidFill>
                <a:latin typeface="Segoe UI"/>
              </a:rPr>
              <a:t>globale et démo de la plateforme</a:t>
            </a:r>
          </a:p>
        </p:txBody>
      </p:sp>
      <p:sp>
        <p:nvSpPr>
          <p:cNvPr id="19" name="TextBox 18"/>
          <p:cNvSpPr txBox="1"/>
          <p:nvPr/>
        </p:nvSpPr>
        <p:spPr>
          <a:xfrm>
            <a:off x="769467" y="5212080"/>
            <a:ext cx="2148840" cy="320040"/>
          </a:xfrm>
          <a:prstGeom prst="rect">
            <a:avLst/>
          </a:prstGeom>
          <a:noFill/>
        </p:spPr>
        <p:txBody>
          <a:bodyPr wrap="square" lIns="0" rIns="0" tIns="0" bIns="0" anchor="t">
            <a:spAutoFit/>
          </a:bodyPr>
          <a:lstStyle/>
          <a:p>
            <a:pPr algn="l"/>
            <a:r>
              <a:rPr sz="1000" b="1" i="0">
                <a:solidFill>
                  <a:srgbClr val="5E81AC"/>
                </a:solidFill>
                <a:latin typeface="Segoe UI"/>
              </a:rPr>
              <a:t>Hamza Bjibji</a:t>
            </a:r>
          </a:p>
        </p:txBody>
      </p:sp>
      <p:sp>
        <p:nvSpPr>
          <p:cNvPr id="20" name="Rounded Rectangle 19"/>
          <p:cNvSpPr/>
          <p:nvPr/>
        </p:nvSpPr>
        <p:spPr>
          <a:xfrm>
            <a:off x="332978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29787" y="1554480"/>
            <a:ext cx="2697480" cy="164592"/>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4107" y="2011680"/>
            <a:ext cx="2148840" cy="1371600"/>
          </a:xfrm>
          <a:prstGeom prst="rect">
            <a:avLst/>
          </a:prstGeom>
          <a:noFill/>
        </p:spPr>
        <p:txBody>
          <a:bodyPr wrap="square" lIns="0" rIns="0" tIns="0" bIns="0" anchor="t">
            <a:spAutoFit/>
          </a:bodyPr>
          <a:lstStyle/>
          <a:p>
            <a:pPr algn="l"/>
            <a:r>
              <a:rPr sz="7200" b="1" i="0">
                <a:solidFill>
                  <a:srgbClr val="64FFDA"/>
                </a:solidFill>
                <a:latin typeface="Segoe UI"/>
              </a:rPr>
              <a:t>02</a:t>
            </a:r>
          </a:p>
        </p:txBody>
      </p:sp>
      <p:sp>
        <p:nvSpPr>
          <p:cNvPr id="23" name="TextBox 22"/>
          <p:cNvSpPr txBox="1"/>
          <p:nvPr/>
        </p:nvSpPr>
        <p:spPr>
          <a:xfrm>
            <a:off x="360410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GitHub Monitoring</a:t>
            </a:r>
          </a:p>
        </p:txBody>
      </p:sp>
      <p:cxnSp>
        <p:nvCxnSpPr>
          <p:cNvPr id="24" name="Connector 23"/>
          <p:cNvCxnSpPr/>
          <p:nvPr/>
        </p:nvCxnSpPr>
        <p:spPr>
          <a:xfrm>
            <a:off x="3604107.5" y="4251960"/>
            <a:ext cx="914400.0" cy="0"/>
          </a:xfrm>
          <a:prstGeom prst="line">
            <a:avLst/>
          </a:prstGeom>
          <a:ln w="25400">
            <a:solidFill>
              <a:srgbClr val="64FFD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0410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Détection de secrets exposés</a:t>
            </a:r>
          </a:p>
          <a:p>
            <a:pPr algn="l"/>
            <a:r>
              <a:rPr sz="1000" b="0" i="0">
                <a:solidFill>
                  <a:srgbClr val="CCD6F6"/>
                </a:solidFill>
                <a:latin typeface="Segoe UI"/>
              </a:rPr>
              <a:t>dans les dépôts publics GitHub</a:t>
            </a:r>
          </a:p>
        </p:txBody>
      </p:sp>
      <p:sp>
        <p:nvSpPr>
          <p:cNvPr id="26" name="TextBox 25"/>
          <p:cNvSpPr txBox="1"/>
          <p:nvPr/>
        </p:nvSpPr>
        <p:spPr>
          <a:xfrm>
            <a:off x="3604107" y="5212080"/>
            <a:ext cx="2148840" cy="320040"/>
          </a:xfrm>
          <a:prstGeom prst="rect">
            <a:avLst/>
          </a:prstGeom>
          <a:noFill/>
        </p:spPr>
        <p:txBody>
          <a:bodyPr wrap="square" lIns="0" rIns="0" tIns="0" bIns="0" anchor="t">
            <a:spAutoFit/>
          </a:bodyPr>
          <a:lstStyle/>
          <a:p>
            <a:pPr algn="l"/>
            <a:r>
              <a:rPr sz="1000" b="1" i="0">
                <a:solidFill>
                  <a:srgbClr val="64FFDA"/>
                </a:solidFill>
                <a:latin typeface="Segoe UI"/>
              </a:rPr>
              <a:t>Chaimae Ben Sbeh</a:t>
            </a:r>
          </a:p>
        </p:txBody>
      </p:sp>
      <p:sp>
        <p:nvSpPr>
          <p:cNvPr id="27" name="Rounded Rectangle 26"/>
          <p:cNvSpPr/>
          <p:nvPr/>
        </p:nvSpPr>
        <p:spPr>
          <a:xfrm>
            <a:off x="616442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64427" y="1554480"/>
            <a:ext cx="2697480" cy="16459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8747" y="2011680"/>
            <a:ext cx="2148840" cy="1371600"/>
          </a:xfrm>
          <a:prstGeom prst="rect">
            <a:avLst/>
          </a:prstGeom>
          <a:noFill/>
        </p:spPr>
        <p:txBody>
          <a:bodyPr wrap="square" lIns="0" rIns="0" tIns="0" bIns="0" anchor="t">
            <a:spAutoFit/>
          </a:bodyPr>
          <a:lstStyle/>
          <a:p>
            <a:pPr algn="l"/>
            <a:r>
              <a:rPr sz="7200" b="1" i="0">
                <a:solidFill>
                  <a:srgbClr val="EBCB8B"/>
                </a:solidFill>
                <a:latin typeface="Segoe UI"/>
              </a:rPr>
              <a:t>03</a:t>
            </a:r>
          </a:p>
        </p:txBody>
      </p:sp>
      <p:sp>
        <p:nvSpPr>
          <p:cNvPr id="30" name="TextBox 29"/>
          <p:cNvSpPr txBox="1"/>
          <p:nvPr/>
        </p:nvSpPr>
        <p:spPr>
          <a:xfrm>
            <a:off x="643874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Telegram &amp; Google Alerts</a:t>
            </a:r>
          </a:p>
        </p:txBody>
      </p:sp>
      <p:cxnSp>
        <p:nvCxnSpPr>
          <p:cNvPr id="31" name="Connector 30"/>
          <p:cNvCxnSpPr/>
          <p:nvPr/>
        </p:nvCxnSpPr>
        <p:spPr>
          <a:xfrm>
            <a:off x="6438747.5" y="4251960"/>
            <a:ext cx="914400.0" cy="0"/>
          </a:xfrm>
          <a:prstGeom prst="line">
            <a:avLst/>
          </a:prstGeom>
          <a:ln w="25400">
            <a:solidFill>
              <a:srgbClr val="EBCB8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3874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Veille communautaire OSINT</a:t>
            </a:r>
          </a:p>
          <a:p>
            <a:pPr algn="l"/>
            <a:r>
              <a:rPr sz="1000" b="0" i="0">
                <a:solidFill>
                  <a:srgbClr val="CCD6F6"/>
                </a:solidFill>
                <a:latin typeface="Segoe UI"/>
              </a:rPr>
              <a:t>et couverture médiatique</a:t>
            </a:r>
          </a:p>
        </p:txBody>
      </p:sp>
      <p:sp>
        <p:nvSpPr>
          <p:cNvPr id="33" name="TextBox 32"/>
          <p:cNvSpPr txBox="1"/>
          <p:nvPr/>
        </p:nvSpPr>
        <p:spPr>
          <a:xfrm>
            <a:off x="6438747" y="5212080"/>
            <a:ext cx="2148840" cy="320040"/>
          </a:xfrm>
          <a:prstGeom prst="rect">
            <a:avLst/>
          </a:prstGeom>
          <a:noFill/>
        </p:spPr>
        <p:txBody>
          <a:bodyPr wrap="square" lIns="0" rIns="0" tIns="0" bIns="0" anchor="t">
            <a:spAutoFit/>
          </a:bodyPr>
          <a:lstStyle/>
          <a:p>
            <a:pPr algn="l"/>
            <a:r>
              <a:rPr sz="1000" b="1" i="0">
                <a:solidFill>
                  <a:srgbClr val="EBCB8B"/>
                </a:solidFill>
                <a:latin typeface="Segoe UI"/>
              </a:rPr>
              <a:t>Yassir Salim El Akramine</a:t>
            </a:r>
          </a:p>
        </p:txBody>
      </p:sp>
      <p:sp>
        <p:nvSpPr>
          <p:cNvPr id="34" name="Rounded Rectangle 33"/>
          <p:cNvSpPr/>
          <p:nvPr/>
        </p:nvSpPr>
        <p:spPr>
          <a:xfrm>
            <a:off x="8999067" y="1554480"/>
            <a:ext cx="269748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99067" y="1554480"/>
            <a:ext cx="2697480" cy="164592"/>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73387" y="2011680"/>
            <a:ext cx="2148840" cy="1371600"/>
          </a:xfrm>
          <a:prstGeom prst="rect">
            <a:avLst/>
          </a:prstGeom>
          <a:noFill/>
        </p:spPr>
        <p:txBody>
          <a:bodyPr wrap="square" lIns="0" rIns="0" tIns="0" bIns="0" anchor="t">
            <a:spAutoFit/>
          </a:bodyPr>
          <a:lstStyle/>
          <a:p>
            <a:pPr algn="l"/>
            <a:r>
              <a:rPr sz="7200" b="1" i="0">
                <a:solidFill>
                  <a:srgbClr val="B48EAD"/>
                </a:solidFill>
                <a:latin typeface="Segoe UI"/>
              </a:rPr>
              <a:t>04</a:t>
            </a:r>
          </a:p>
        </p:txBody>
      </p:sp>
      <p:sp>
        <p:nvSpPr>
          <p:cNvPr id="37" name="TextBox 36"/>
          <p:cNvSpPr txBox="1"/>
          <p:nvPr/>
        </p:nvSpPr>
        <p:spPr>
          <a:xfrm>
            <a:off x="9273387" y="3383280"/>
            <a:ext cx="2148840" cy="914400"/>
          </a:xfrm>
          <a:prstGeom prst="rect">
            <a:avLst/>
          </a:prstGeom>
          <a:noFill/>
        </p:spPr>
        <p:txBody>
          <a:bodyPr wrap="square" lIns="0" rIns="0" tIns="0" bIns="0" anchor="t">
            <a:spAutoFit/>
          </a:bodyPr>
          <a:lstStyle/>
          <a:p>
            <a:pPr algn="l"/>
            <a:r>
              <a:rPr sz="1600" b="1" i="0">
                <a:solidFill>
                  <a:srgbClr val="E6F1FF"/>
                </a:solidFill>
                <a:latin typeface="Segoe UI"/>
              </a:rPr>
              <a:t>BI Threat Intel &amp; Conclusion</a:t>
            </a:r>
          </a:p>
        </p:txBody>
      </p:sp>
      <p:cxnSp>
        <p:nvCxnSpPr>
          <p:cNvPr id="38" name="Connector 37"/>
          <p:cNvCxnSpPr/>
          <p:nvPr/>
        </p:nvCxnSpPr>
        <p:spPr>
          <a:xfrm>
            <a:off x="9273387.5" y="4251960"/>
            <a:ext cx="914400.0" cy="0"/>
          </a:xfrm>
          <a:prstGeom prst="line">
            <a:avLst/>
          </a:prstGeom>
          <a:ln w="25400">
            <a:solidFill>
              <a:srgbClr val="B48EA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73387" y="4343400"/>
            <a:ext cx="2148840" cy="822960"/>
          </a:xfrm>
          <a:prstGeom prst="rect">
            <a:avLst/>
          </a:prstGeom>
          <a:noFill/>
        </p:spPr>
        <p:txBody>
          <a:bodyPr wrap="square" lIns="0" rIns="0" tIns="0" bIns="0" anchor="t">
            <a:spAutoFit/>
          </a:bodyPr>
          <a:lstStyle/>
          <a:p>
            <a:pPr algn="l"/>
            <a:r>
              <a:rPr sz="1000" b="0" i="0">
                <a:solidFill>
                  <a:srgbClr val="CCD6F6"/>
                </a:solidFill>
                <a:latin typeface="Segoe UI"/>
              </a:rPr>
              <a:t>Module CVE Bronze/Silver/Gold,</a:t>
            </a:r>
          </a:p>
          <a:p>
            <a:pPr algn="l"/>
            <a:r>
              <a:rPr sz="1000" b="0" i="0">
                <a:solidFill>
                  <a:srgbClr val="CCD6F6"/>
                </a:solidFill>
                <a:latin typeface="Segoe UI"/>
              </a:rPr>
              <a:t>classification &amp; perspectives</a:t>
            </a:r>
          </a:p>
        </p:txBody>
      </p:sp>
      <p:sp>
        <p:nvSpPr>
          <p:cNvPr id="40" name="TextBox 39"/>
          <p:cNvSpPr txBox="1"/>
          <p:nvPr/>
        </p:nvSpPr>
        <p:spPr>
          <a:xfrm>
            <a:off x="9273387" y="5212080"/>
            <a:ext cx="2148840" cy="320040"/>
          </a:xfrm>
          <a:prstGeom prst="rect">
            <a:avLst/>
          </a:prstGeom>
          <a:noFill/>
        </p:spPr>
        <p:txBody>
          <a:bodyPr wrap="square" lIns="0" rIns="0" tIns="0" bIns="0" anchor="t">
            <a:spAutoFit/>
          </a:bodyPr>
          <a:lstStyle/>
          <a:p>
            <a:pPr algn="l"/>
            <a:r>
              <a:rPr sz="1000" b="1" i="0">
                <a:solidFill>
                  <a:srgbClr val="B48EAD"/>
                </a:solidFill>
                <a:latin typeface="Segoe UI"/>
              </a:rPr>
              <a:t>Imane Sghiouar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03</a:t>
            </a:r>
          </a:p>
        </p:txBody>
      </p:sp>
      <p:sp>
        <p:nvSpPr>
          <p:cNvPr id="6" name="Rectangle 5"/>
          <p:cNvSpPr/>
          <p:nvPr/>
        </p:nvSpPr>
        <p:spPr>
          <a:xfrm>
            <a:off x="11094415" y="457200"/>
            <a:ext cx="640080" cy="640080"/>
          </a:xfrm>
          <a:prstGeom prst="rect">
            <a:avLst/>
          </a:prstGeom>
          <a:solidFill>
            <a:srgbClr val="0A192F"/>
          </a:solidFill>
          <a:ln w="2540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64FFDA"/>
                </a:solidFill>
                <a:latin typeface="Segoe UI Black"/>
              </a:rPr>
              <a:t>03</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CONTEXTE &amp; PROBLÉMATIQUE</a:t>
            </a:r>
          </a:p>
        </p:txBody>
      </p:sp>
      <p:cxnSp>
        <p:nvCxnSpPr>
          <p:cNvPr id="10" name="Connector 9"/>
          <p:cNvCxnSpPr/>
          <p:nvPr/>
        </p:nvCxnSpPr>
        <p:spPr>
          <a:xfrm>
            <a:off x="640080" y="1371600"/>
            <a:ext cx="2743200" cy="0"/>
          </a:xfrm>
          <a:prstGeom prst="line">
            <a:avLst/>
          </a:prstGeom>
          <a:ln w="19050">
            <a:solidFill>
              <a:srgbClr val="64FFD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371600"/>
            <a:ext cx="10972800" cy="1097280"/>
          </a:xfrm>
          <a:prstGeom prst="rect">
            <a:avLst/>
          </a:prstGeom>
          <a:noFill/>
        </p:spPr>
        <p:txBody>
          <a:bodyPr wrap="square" lIns="0" rIns="0" tIns="0" bIns="0" anchor="t">
            <a:spAutoFit/>
          </a:bodyPr>
          <a:lstStyle/>
          <a:p>
            <a:pPr algn="l"/>
            <a:r>
              <a:rPr sz="2200" b="1" i="0">
                <a:solidFill>
                  <a:srgbClr val="E6F1FF"/>
                </a:solidFill>
                <a:latin typeface="Segoe UI"/>
              </a:rPr>
              <a:t>Chaque jour, une quantité massive d'informations sensibles</a:t>
            </a:r>
          </a:p>
          <a:p>
            <a:pPr algn="l"/>
            <a:r>
              <a:rPr sz="2200" b="1" i="0">
                <a:solidFill>
                  <a:srgbClr val="E6F1FF"/>
                </a:solidFill>
                <a:latin typeface="Segoe UI"/>
              </a:rPr>
              <a:t>apparaît sur des espaces publics.</a:t>
            </a:r>
          </a:p>
        </p:txBody>
      </p:sp>
      <p:sp>
        <p:nvSpPr>
          <p:cNvPr id="14" name="Rounded Rectangle 13"/>
          <p:cNvSpPr/>
          <p:nvPr/>
        </p:nvSpPr>
        <p:spPr>
          <a:xfrm>
            <a:off x="60944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447" y="2926080"/>
            <a:ext cx="91440" cy="18288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3767" y="3200400"/>
            <a:ext cx="2057400" cy="548640"/>
          </a:xfrm>
          <a:prstGeom prst="rect">
            <a:avLst/>
          </a:prstGeom>
          <a:noFill/>
        </p:spPr>
        <p:txBody>
          <a:bodyPr wrap="square" lIns="0" rIns="0" tIns="0" bIns="0" anchor="t">
            <a:spAutoFit/>
          </a:bodyPr>
          <a:lstStyle/>
          <a:p>
            <a:pPr algn="l"/>
            <a:r>
              <a:rPr sz="2200" b="1" i="0">
                <a:solidFill>
                  <a:srgbClr val="5E81AC"/>
                </a:solidFill>
                <a:latin typeface="Segoe UI"/>
              </a:rPr>
              <a:t>Secrets</a:t>
            </a:r>
          </a:p>
        </p:txBody>
      </p:sp>
      <p:sp>
        <p:nvSpPr>
          <p:cNvPr id="17" name="TextBox 16"/>
          <p:cNvSpPr txBox="1"/>
          <p:nvPr/>
        </p:nvSpPr>
        <p:spPr>
          <a:xfrm>
            <a:off x="88376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.env, API keys, tokens</a:t>
            </a:r>
          </a:p>
          <a:p>
            <a:pPr algn="l"/>
            <a:r>
              <a:rPr sz="1200" b="0" i="0">
                <a:solidFill>
                  <a:srgbClr val="CCD6F6"/>
                </a:solidFill>
                <a:latin typeface="Segoe UI"/>
              </a:rPr>
              <a:t>oubliés dans GitHub</a:t>
            </a:r>
          </a:p>
        </p:txBody>
      </p:sp>
      <p:sp>
        <p:nvSpPr>
          <p:cNvPr id="18" name="Rounded Rectangle 17"/>
          <p:cNvSpPr/>
          <p:nvPr/>
        </p:nvSpPr>
        <p:spPr>
          <a:xfrm>
            <a:off x="339836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98367" y="2926080"/>
            <a:ext cx="91440" cy="18288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2687" y="3200400"/>
            <a:ext cx="2057400" cy="548640"/>
          </a:xfrm>
          <a:prstGeom prst="rect">
            <a:avLst/>
          </a:prstGeom>
          <a:noFill/>
        </p:spPr>
        <p:txBody>
          <a:bodyPr wrap="square" lIns="0" rIns="0" tIns="0" bIns="0" anchor="t">
            <a:spAutoFit/>
          </a:bodyPr>
          <a:lstStyle/>
          <a:p>
            <a:pPr algn="l"/>
            <a:r>
              <a:rPr sz="2200" b="1" i="0">
                <a:solidFill>
                  <a:srgbClr val="64FFDA"/>
                </a:solidFill>
                <a:latin typeface="Segoe UI"/>
              </a:rPr>
              <a:t>Fuites</a:t>
            </a:r>
          </a:p>
        </p:txBody>
      </p:sp>
      <p:sp>
        <p:nvSpPr>
          <p:cNvPr id="21" name="TextBox 20"/>
          <p:cNvSpPr txBox="1"/>
          <p:nvPr/>
        </p:nvSpPr>
        <p:spPr>
          <a:xfrm>
            <a:off x="367268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Annonces de breaches</a:t>
            </a:r>
          </a:p>
          <a:p>
            <a:pPr algn="l"/>
            <a:r>
              <a:rPr sz="1200" b="0" i="0">
                <a:solidFill>
                  <a:srgbClr val="CCD6F6"/>
                </a:solidFill>
                <a:latin typeface="Segoe UI"/>
              </a:rPr>
              <a:t>sur canaux Telegram</a:t>
            </a:r>
          </a:p>
        </p:txBody>
      </p:sp>
      <p:sp>
        <p:nvSpPr>
          <p:cNvPr id="22" name="Rounded Rectangle 21"/>
          <p:cNvSpPr/>
          <p:nvPr/>
        </p:nvSpPr>
        <p:spPr>
          <a:xfrm>
            <a:off x="618728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7287" y="2926080"/>
            <a:ext cx="91440" cy="18288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607" y="3200400"/>
            <a:ext cx="2057400" cy="548640"/>
          </a:xfrm>
          <a:prstGeom prst="rect">
            <a:avLst/>
          </a:prstGeom>
          <a:noFill/>
        </p:spPr>
        <p:txBody>
          <a:bodyPr wrap="square" lIns="0" rIns="0" tIns="0" bIns="0" anchor="t">
            <a:spAutoFit/>
          </a:bodyPr>
          <a:lstStyle/>
          <a:p>
            <a:pPr algn="l"/>
            <a:r>
              <a:rPr sz="2200" b="1" i="0">
                <a:solidFill>
                  <a:srgbClr val="EBCB8B"/>
                </a:solidFill>
                <a:latin typeface="Segoe UI"/>
              </a:rPr>
              <a:t>CVE</a:t>
            </a:r>
          </a:p>
        </p:txBody>
      </p:sp>
      <p:sp>
        <p:nvSpPr>
          <p:cNvPr id="25" name="TextBox 24"/>
          <p:cNvSpPr txBox="1"/>
          <p:nvPr/>
        </p:nvSpPr>
        <p:spPr>
          <a:xfrm>
            <a:off x="646160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Vulnérabilités</a:t>
            </a:r>
          </a:p>
          <a:p>
            <a:pPr algn="l"/>
            <a:r>
              <a:rPr sz="1200" b="0" i="0">
                <a:solidFill>
                  <a:srgbClr val="CCD6F6"/>
                </a:solidFill>
                <a:latin typeface="Segoe UI"/>
              </a:rPr>
              <a:t>publiées en continu</a:t>
            </a:r>
          </a:p>
        </p:txBody>
      </p:sp>
      <p:sp>
        <p:nvSpPr>
          <p:cNvPr id="26" name="Rounded Rectangle 25"/>
          <p:cNvSpPr/>
          <p:nvPr/>
        </p:nvSpPr>
        <p:spPr>
          <a:xfrm>
            <a:off x="8976207" y="2926080"/>
            <a:ext cx="2606040" cy="1828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76207" y="2926080"/>
            <a:ext cx="91440" cy="18288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50527" y="3200400"/>
            <a:ext cx="2057400" cy="548640"/>
          </a:xfrm>
          <a:prstGeom prst="rect">
            <a:avLst/>
          </a:prstGeom>
          <a:noFill/>
        </p:spPr>
        <p:txBody>
          <a:bodyPr wrap="square" lIns="0" rIns="0" tIns="0" bIns="0" anchor="t">
            <a:spAutoFit/>
          </a:bodyPr>
          <a:lstStyle/>
          <a:p>
            <a:pPr algn="l"/>
            <a:r>
              <a:rPr sz="2200" b="1" i="0">
                <a:solidFill>
                  <a:srgbClr val="B48EAD"/>
                </a:solidFill>
                <a:latin typeface="Segoe UI"/>
              </a:rPr>
              <a:t>News</a:t>
            </a:r>
          </a:p>
        </p:txBody>
      </p:sp>
      <p:sp>
        <p:nvSpPr>
          <p:cNvPr id="29" name="TextBox 28"/>
          <p:cNvSpPr txBox="1"/>
          <p:nvPr/>
        </p:nvSpPr>
        <p:spPr>
          <a:xfrm>
            <a:off x="9250527" y="3794760"/>
            <a:ext cx="2057400" cy="822960"/>
          </a:xfrm>
          <a:prstGeom prst="rect">
            <a:avLst/>
          </a:prstGeom>
          <a:noFill/>
        </p:spPr>
        <p:txBody>
          <a:bodyPr wrap="square" lIns="0" rIns="0" tIns="0" bIns="0" anchor="t">
            <a:spAutoFit/>
          </a:bodyPr>
          <a:lstStyle/>
          <a:p>
            <a:pPr algn="l"/>
            <a:r>
              <a:rPr sz="1200" b="0" i="0">
                <a:solidFill>
                  <a:srgbClr val="CCD6F6"/>
                </a:solidFill>
                <a:latin typeface="Segoe UI"/>
              </a:rPr>
              <a:t>Couverture médiatique</a:t>
            </a:r>
          </a:p>
          <a:p>
            <a:pPr algn="l"/>
            <a:r>
              <a:rPr sz="1200" b="0" i="0">
                <a:solidFill>
                  <a:srgbClr val="CCD6F6"/>
                </a:solidFill>
                <a:latin typeface="Segoe UI"/>
              </a:rPr>
              <a:t>d'incidents cyber</a:t>
            </a:r>
          </a:p>
        </p:txBody>
      </p:sp>
      <p:sp>
        <p:nvSpPr>
          <p:cNvPr id="30" name="Rounded Rectangle 29"/>
          <p:cNvSpPr/>
          <p:nvPr/>
        </p:nvSpPr>
        <p:spPr>
          <a:xfrm>
            <a:off x="640080" y="5212080"/>
            <a:ext cx="10927080" cy="1097280"/>
          </a:xfrm>
          <a:prstGeom prst="roundRect">
            <a:avLst>
              <a:gd name="adj" fmla="val 5000"/>
            </a:avLst>
          </a:prstGeom>
          <a:solidFill>
            <a:srgbClr val="233554">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394960"/>
            <a:ext cx="10515600" cy="457200"/>
          </a:xfrm>
          <a:prstGeom prst="rect">
            <a:avLst/>
          </a:prstGeom>
          <a:noFill/>
        </p:spPr>
        <p:txBody>
          <a:bodyPr wrap="square" lIns="0" rIns="0" tIns="0" bIns="0" anchor="t">
            <a:spAutoFit/>
          </a:bodyPr>
          <a:lstStyle/>
          <a:p>
            <a:pPr algn="l"/>
            <a:r>
              <a:rPr sz="1000" b="1" i="0">
                <a:solidFill>
                  <a:srgbClr val="5E81AC"/>
                </a:solidFill>
                <a:latin typeface="Segoe UI"/>
              </a:rPr>
              <a:t>LE PROBLÈME</a:t>
            </a:r>
          </a:p>
        </p:txBody>
      </p:sp>
      <p:sp>
        <p:nvSpPr>
          <p:cNvPr id="32" name="TextBox 31"/>
          <p:cNvSpPr txBox="1"/>
          <p:nvPr/>
        </p:nvSpPr>
        <p:spPr>
          <a:xfrm>
            <a:off x="914400" y="5669280"/>
            <a:ext cx="10515600" cy="640080"/>
          </a:xfrm>
          <a:prstGeom prst="rect">
            <a:avLst/>
          </a:prstGeom>
          <a:noFill/>
        </p:spPr>
        <p:txBody>
          <a:bodyPr wrap="square" lIns="0" rIns="0" tIns="0" bIns="0" anchor="t">
            <a:spAutoFit/>
          </a:bodyPr>
          <a:lstStyle/>
          <a:p>
            <a:pPr algn="l"/>
            <a:r>
              <a:rPr sz="1400" b="0" i="1">
                <a:solidFill>
                  <a:srgbClr val="E6F1FF"/>
                </a:solidFill>
                <a:latin typeface="Segoe UI"/>
              </a:rPr>
              <a:t>Les signaux sont partout, mais personne ne les centralise. Notre projet répond précisément à ce constat.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04</a:t>
            </a:r>
          </a:p>
        </p:txBody>
      </p:sp>
      <p:sp>
        <p:nvSpPr>
          <p:cNvPr id="6" name="Rectangle 5"/>
          <p:cNvSpPr/>
          <p:nvPr/>
        </p:nvSpPr>
        <p:spPr>
          <a:xfrm>
            <a:off x="11094415" y="457200"/>
            <a:ext cx="640080" cy="640080"/>
          </a:xfrm>
          <a:prstGeom prst="rect">
            <a:avLst/>
          </a:prstGeom>
          <a:solidFill>
            <a:srgbClr val="0A192F"/>
          </a:solidFill>
          <a:ln w="2540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64FFDA"/>
                </a:solidFill>
                <a:latin typeface="Segoe UI Black"/>
              </a:rPr>
              <a:t>04</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OBJECTIFS &amp; PUBLIC CIBLE</a:t>
            </a:r>
          </a:p>
        </p:txBody>
      </p:sp>
      <p:cxnSp>
        <p:nvCxnSpPr>
          <p:cNvPr id="10" name="Connector 9"/>
          <p:cNvCxnSpPr/>
          <p:nvPr/>
        </p:nvCxnSpPr>
        <p:spPr>
          <a:xfrm>
            <a:off x="640080" y="1371600"/>
            <a:ext cx="2743200" cy="0"/>
          </a:xfrm>
          <a:prstGeom prst="line">
            <a:avLst/>
          </a:prstGeom>
          <a:ln w="19050">
            <a:solidFill>
              <a:srgbClr val="64FFD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5486400" cy="365760"/>
          </a:xfrm>
          <a:prstGeom prst="rect">
            <a:avLst/>
          </a:prstGeom>
          <a:noFill/>
        </p:spPr>
        <p:txBody>
          <a:bodyPr wrap="square" lIns="0" rIns="0" tIns="0" bIns="0" anchor="t">
            <a:spAutoFit/>
          </a:bodyPr>
          <a:lstStyle/>
          <a:p>
            <a:pPr algn="l"/>
            <a:r>
              <a:rPr sz="1100" b="1" i="0">
                <a:solidFill>
                  <a:srgbClr val="5E81AC"/>
                </a:solidFill>
                <a:latin typeface="Segoe UI"/>
              </a:rPr>
              <a:t>OBJECTIF GLOBAL</a:t>
            </a:r>
          </a:p>
        </p:txBody>
      </p:sp>
      <p:sp>
        <p:nvSpPr>
          <p:cNvPr id="14" name="TextBox 13"/>
          <p:cNvSpPr txBox="1"/>
          <p:nvPr/>
        </p:nvSpPr>
        <p:spPr>
          <a:xfrm>
            <a:off x="640080" y="1783080"/>
            <a:ext cx="5486400" cy="1371600"/>
          </a:xfrm>
          <a:prstGeom prst="rect">
            <a:avLst/>
          </a:prstGeom>
          <a:noFill/>
        </p:spPr>
        <p:txBody>
          <a:bodyPr wrap="square" lIns="0" rIns="0" tIns="0" bIns="0" anchor="t">
            <a:spAutoFit/>
          </a:bodyPr>
          <a:lstStyle/>
          <a:p>
            <a:pPr algn="l"/>
            <a:r>
              <a:rPr sz="1800" b="1" i="0">
                <a:solidFill>
                  <a:srgbClr val="E6F1FF"/>
                </a:solidFill>
                <a:latin typeface="Segoe UI"/>
              </a:rPr>
              <a:t>Collecter, normaliser, filtrer</a:t>
            </a:r>
          </a:p>
          <a:p>
            <a:pPr algn="l"/>
            <a:r>
              <a:rPr sz="1800" b="1" i="0">
                <a:solidFill>
                  <a:srgbClr val="E6F1FF"/>
                </a:solidFill>
                <a:latin typeface="Segoe UI"/>
              </a:rPr>
              <a:t>et restituer les signaux cyber</a:t>
            </a:r>
          </a:p>
          <a:p>
            <a:pPr algn="l"/>
            <a:r>
              <a:rPr sz="1800" b="1" i="0">
                <a:solidFill>
                  <a:srgbClr val="E6F1FF"/>
                </a:solidFill>
                <a:latin typeface="Segoe UI"/>
              </a:rPr>
              <a:t>issus de sources ouvertes.</a:t>
            </a:r>
          </a:p>
        </p:txBody>
      </p:sp>
      <p:sp>
        <p:nvSpPr>
          <p:cNvPr id="15" name="Rounded Rectangle 14"/>
          <p:cNvSpPr/>
          <p:nvPr/>
        </p:nvSpPr>
        <p:spPr>
          <a:xfrm>
            <a:off x="640080" y="3291840"/>
            <a:ext cx="1234440" cy="548640"/>
          </a:xfrm>
          <a:prstGeom prst="roundRect">
            <a:avLst>
              <a:gd name="adj" fmla="val 5000"/>
            </a:avLst>
          </a:prstGeom>
          <a:solidFill>
            <a:srgbClr val="233554">
              <a:alpha val="60000"/>
            </a:srgbClr>
          </a:solidFill>
          <a:ln w="1524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91840"/>
            <a:ext cx="1234440" cy="548640"/>
          </a:xfrm>
          <a:prstGeom prst="rect">
            <a:avLst/>
          </a:prstGeom>
          <a:noFill/>
        </p:spPr>
        <p:txBody>
          <a:bodyPr wrap="square" lIns="0" rIns="0" tIns="0" bIns="0" anchor="ctr">
            <a:spAutoFit/>
          </a:bodyPr>
          <a:lstStyle/>
          <a:p>
            <a:pPr algn="ctr"/>
            <a:r>
              <a:rPr sz="1200" b="1" i="0">
                <a:solidFill>
                  <a:srgbClr val="5E81AC"/>
                </a:solidFill>
                <a:latin typeface="Segoe UI"/>
              </a:rPr>
              <a:t>Collecter</a:t>
            </a:r>
          </a:p>
        </p:txBody>
      </p:sp>
      <p:sp>
        <p:nvSpPr>
          <p:cNvPr id="17" name="Rounded Rectangle 16"/>
          <p:cNvSpPr/>
          <p:nvPr/>
        </p:nvSpPr>
        <p:spPr>
          <a:xfrm>
            <a:off x="1965960" y="3291840"/>
            <a:ext cx="1234440" cy="548640"/>
          </a:xfrm>
          <a:prstGeom prst="roundRect">
            <a:avLst>
              <a:gd name="adj" fmla="val 5000"/>
            </a:avLst>
          </a:prstGeom>
          <a:solidFill>
            <a:srgbClr val="233554">
              <a:alpha val="60000"/>
            </a:srgbClr>
          </a:solidFill>
          <a:ln w="1524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65960" y="3291840"/>
            <a:ext cx="1234440" cy="548640"/>
          </a:xfrm>
          <a:prstGeom prst="rect">
            <a:avLst/>
          </a:prstGeom>
          <a:noFill/>
        </p:spPr>
        <p:txBody>
          <a:bodyPr wrap="square" lIns="0" rIns="0" tIns="0" bIns="0" anchor="ctr">
            <a:spAutoFit/>
          </a:bodyPr>
          <a:lstStyle/>
          <a:p>
            <a:pPr algn="ctr"/>
            <a:r>
              <a:rPr sz="1200" b="1" i="0">
                <a:solidFill>
                  <a:srgbClr val="64FFDA"/>
                </a:solidFill>
                <a:latin typeface="Segoe UI"/>
              </a:rPr>
              <a:t>Normaliser</a:t>
            </a:r>
          </a:p>
        </p:txBody>
      </p:sp>
      <p:sp>
        <p:nvSpPr>
          <p:cNvPr id="19" name="Rounded Rectangle 18"/>
          <p:cNvSpPr/>
          <p:nvPr/>
        </p:nvSpPr>
        <p:spPr>
          <a:xfrm>
            <a:off x="3291840" y="3291840"/>
            <a:ext cx="1234440" cy="548640"/>
          </a:xfrm>
          <a:prstGeom prst="roundRect">
            <a:avLst>
              <a:gd name="adj" fmla="val 5000"/>
            </a:avLst>
          </a:prstGeom>
          <a:solidFill>
            <a:srgbClr val="233554">
              <a:alpha val="60000"/>
            </a:srgbClr>
          </a:solidFill>
          <a:ln w="1524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3291840"/>
            <a:ext cx="1234440" cy="548640"/>
          </a:xfrm>
          <a:prstGeom prst="rect">
            <a:avLst/>
          </a:prstGeom>
          <a:noFill/>
        </p:spPr>
        <p:txBody>
          <a:bodyPr wrap="square" lIns="0" rIns="0" tIns="0" bIns="0" anchor="ctr">
            <a:spAutoFit/>
          </a:bodyPr>
          <a:lstStyle/>
          <a:p>
            <a:pPr algn="ctr"/>
            <a:r>
              <a:rPr sz="1200" b="1" i="0">
                <a:solidFill>
                  <a:srgbClr val="EBCB8B"/>
                </a:solidFill>
                <a:latin typeface="Segoe UI"/>
              </a:rPr>
              <a:t>Filtrer</a:t>
            </a:r>
          </a:p>
        </p:txBody>
      </p:sp>
      <p:sp>
        <p:nvSpPr>
          <p:cNvPr id="21" name="Rounded Rectangle 20"/>
          <p:cNvSpPr/>
          <p:nvPr/>
        </p:nvSpPr>
        <p:spPr>
          <a:xfrm>
            <a:off x="4617720" y="3291840"/>
            <a:ext cx="1234440" cy="548640"/>
          </a:xfrm>
          <a:prstGeom prst="roundRect">
            <a:avLst>
              <a:gd name="adj" fmla="val 5000"/>
            </a:avLst>
          </a:prstGeom>
          <a:solidFill>
            <a:srgbClr val="233554">
              <a:alpha val="60000"/>
            </a:srgbClr>
          </a:solidFill>
          <a:ln w="1524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3291840"/>
            <a:ext cx="1234440" cy="548640"/>
          </a:xfrm>
          <a:prstGeom prst="rect">
            <a:avLst/>
          </a:prstGeom>
          <a:noFill/>
        </p:spPr>
        <p:txBody>
          <a:bodyPr wrap="square" lIns="0" rIns="0" tIns="0" bIns="0" anchor="ctr">
            <a:spAutoFit/>
          </a:bodyPr>
          <a:lstStyle/>
          <a:p>
            <a:pPr algn="ctr"/>
            <a:r>
              <a:rPr sz="1200" b="1" i="0">
                <a:solidFill>
                  <a:srgbClr val="B48EAD"/>
                </a:solidFill>
                <a:latin typeface="Segoe UI"/>
              </a:rPr>
              <a:t>Restituer</a:t>
            </a:r>
          </a:p>
        </p:txBody>
      </p:sp>
      <p:sp>
        <p:nvSpPr>
          <p:cNvPr id="23" name="Rounded Rectangle 22"/>
          <p:cNvSpPr/>
          <p:nvPr/>
        </p:nvSpPr>
        <p:spPr>
          <a:xfrm>
            <a:off x="640080" y="4206240"/>
            <a:ext cx="5486400"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 y="4407408"/>
            <a:ext cx="201168" cy="201168"/>
          </a:xfrm>
          <a:prstGeom prst="roundRect">
            <a:avLst>
              <a:gd name="adj" fmla="val 30000"/>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4389120"/>
            <a:ext cx="4663440" cy="365760"/>
          </a:xfrm>
          <a:prstGeom prst="rect">
            <a:avLst/>
          </a:prstGeom>
          <a:noFill/>
        </p:spPr>
        <p:txBody>
          <a:bodyPr wrap="square" lIns="0" rIns="0" tIns="0" bIns="0" anchor="t">
            <a:spAutoFit/>
          </a:bodyPr>
          <a:lstStyle/>
          <a:p>
            <a:pPr algn="l"/>
            <a:r>
              <a:rPr sz="1100" b="1" i="0">
                <a:solidFill>
                  <a:srgbClr val="A3BE8C"/>
                </a:solidFill>
                <a:latin typeface="Segoe UI"/>
              </a:rPr>
              <a:t>APPROCHE DÉFENSIVE</a:t>
            </a:r>
          </a:p>
        </p:txBody>
      </p:sp>
      <p:sp>
        <p:nvSpPr>
          <p:cNvPr id="26" name="TextBox 25"/>
          <p:cNvSpPr txBox="1"/>
          <p:nvPr/>
        </p:nvSpPr>
        <p:spPr>
          <a:xfrm>
            <a:off x="914400" y="4754880"/>
            <a:ext cx="4937760" cy="1371600"/>
          </a:xfrm>
          <a:prstGeom prst="rect">
            <a:avLst/>
          </a:prstGeom>
          <a:noFill/>
        </p:spPr>
        <p:txBody>
          <a:bodyPr wrap="square" lIns="0" rIns="0" tIns="0" bIns="0" anchor="t">
            <a:spAutoFit/>
          </a:bodyPr>
          <a:lstStyle/>
          <a:p>
            <a:pPr algn="l">
              <a:lnSpc>
                <a:spcPct val="135000"/>
              </a:lnSpc>
            </a:pPr>
            <a:r>
              <a:rPr sz="1200" b="0" i="0">
                <a:solidFill>
                  <a:srgbClr val="CCD6F6"/>
                </a:solidFill>
                <a:latin typeface="Segoe UI"/>
              </a:rPr>
              <a:t>•  Pas d'actions offensives</a:t>
            </a:r>
          </a:p>
          <a:p>
            <a:pPr algn="l">
              <a:lnSpc>
                <a:spcPct val="135000"/>
              </a:lnSpc>
            </a:pPr>
            <a:r>
              <a:rPr sz="1200" b="0" i="0">
                <a:solidFill>
                  <a:srgbClr val="CCD6F6"/>
                </a:solidFill>
                <a:latin typeface="Segoe UI"/>
              </a:rPr>
              <a:t>•  Pas de scraping de dark web</a:t>
            </a:r>
          </a:p>
          <a:p>
            <a:pPr algn="l">
              <a:lnSpc>
                <a:spcPct val="135000"/>
              </a:lnSpc>
            </a:pPr>
            <a:r>
              <a:rPr sz="1200" b="0" i="0">
                <a:solidFill>
                  <a:srgbClr val="CCD6F6"/>
                </a:solidFill>
                <a:latin typeface="Segoe UI"/>
              </a:rPr>
              <a:t>•  Pas de données volées</a:t>
            </a:r>
          </a:p>
          <a:p>
            <a:pPr algn="l">
              <a:lnSpc>
                <a:spcPct val="135000"/>
              </a:lnSpc>
            </a:pPr>
            <a:r>
              <a:rPr sz="1200" b="0" i="0">
                <a:solidFill>
                  <a:srgbClr val="CCD6F6"/>
                </a:solidFill>
                <a:latin typeface="Segoe UI"/>
              </a:rPr>
              <a:t>•  Sources ouvertes &amp; autorisées uniquement</a:t>
            </a:r>
          </a:p>
        </p:txBody>
      </p:sp>
      <p:sp>
        <p:nvSpPr>
          <p:cNvPr id="27" name="TextBox 26"/>
          <p:cNvSpPr txBox="1"/>
          <p:nvPr/>
        </p:nvSpPr>
        <p:spPr>
          <a:xfrm>
            <a:off x="6400800" y="1417320"/>
            <a:ext cx="5166360" cy="365760"/>
          </a:xfrm>
          <a:prstGeom prst="rect">
            <a:avLst/>
          </a:prstGeom>
          <a:noFill/>
        </p:spPr>
        <p:txBody>
          <a:bodyPr wrap="square" lIns="0" rIns="0" tIns="0" bIns="0" anchor="t">
            <a:spAutoFit/>
          </a:bodyPr>
          <a:lstStyle/>
          <a:p>
            <a:pPr algn="l"/>
            <a:r>
              <a:rPr sz="1100" b="1" i="0">
                <a:solidFill>
                  <a:srgbClr val="5E81AC"/>
                </a:solidFill>
                <a:latin typeface="Segoe UI"/>
              </a:rPr>
              <a:t>PUBLIC CIBLE</a:t>
            </a:r>
          </a:p>
        </p:txBody>
      </p:sp>
      <p:sp>
        <p:nvSpPr>
          <p:cNvPr id="28" name="Rounded Rectangle 27"/>
          <p:cNvSpPr/>
          <p:nvPr/>
        </p:nvSpPr>
        <p:spPr>
          <a:xfrm>
            <a:off x="6400800" y="1828800"/>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1828800"/>
            <a:ext cx="73152" cy="9601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1965960"/>
            <a:ext cx="4617720" cy="365760"/>
          </a:xfrm>
          <a:prstGeom prst="rect">
            <a:avLst/>
          </a:prstGeom>
          <a:noFill/>
        </p:spPr>
        <p:txBody>
          <a:bodyPr wrap="square" lIns="0" rIns="0" tIns="0" bIns="0" anchor="t">
            <a:spAutoFit/>
          </a:bodyPr>
          <a:lstStyle/>
          <a:p>
            <a:pPr algn="l"/>
            <a:r>
              <a:rPr sz="1400" b="1" i="0">
                <a:solidFill>
                  <a:srgbClr val="E6F1FF"/>
                </a:solidFill>
                <a:latin typeface="Segoe UI"/>
              </a:rPr>
              <a:t>Analyste SOC</a:t>
            </a:r>
          </a:p>
        </p:txBody>
      </p:sp>
      <p:sp>
        <p:nvSpPr>
          <p:cNvPr id="31" name="TextBox 30"/>
          <p:cNvSpPr txBox="1"/>
          <p:nvPr/>
        </p:nvSpPr>
        <p:spPr>
          <a:xfrm>
            <a:off x="6675120" y="2331720"/>
            <a:ext cx="4617720" cy="365760"/>
          </a:xfrm>
          <a:prstGeom prst="rect">
            <a:avLst/>
          </a:prstGeom>
          <a:noFill/>
        </p:spPr>
        <p:txBody>
          <a:bodyPr wrap="square" lIns="0" rIns="0" tIns="0" bIns="0" anchor="t">
            <a:spAutoFit/>
          </a:bodyPr>
          <a:lstStyle/>
          <a:p>
            <a:pPr algn="l"/>
            <a:r>
              <a:rPr sz="1100" b="0" i="0">
                <a:solidFill>
                  <a:srgbClr val="CCD6F6"/>
                </a:solidFill>
                <a:latin typeface="Segoe UI"/>
              </a:rPr>
              <a:t>Veille quotidienne et triage des signaux</a:t>
            </a:r>
          </a:p>
        </p:txBody>
      </p:sp>
      <p:sp>
        <p:nvSpPr>
          <p:cNvPr id="32" name="Rounded Rectangle 31"/>
          <p:cNvSpPr/>
          <p:nvPr/>
        </p:nvSpPr>
        <p:spPr>
          <a:xfrm>
            <a:off x="6400800" y="2907792"/>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907792"/>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3044952"/>
            <a:ext cx="4617720" cy="365760"/>
          </a:xfrm>
          <a:prstGeom prst="rect">
            <a:avLst/>
          </a:prstGeom>
          <a:noFill/>
        </p:spPr>
        <p:txBody>
          <a:bodyPr wrap="square" lIns="0" rIns="0" tIns="0" bIns="0" anchor="t">
            <a:spAutoFit/>
          </a:bodyPr>
          <a:lstStyle/>
          <a:p>
            <a:pPr algn="l"/>
            <a:r>
              <a:rPr sz="1400" b="1" i="0">
                <a:solidFill>
                  <a:srgbClr val="E6F1FF"/>
                </a:solidFill>
                <a:latin typeface="Segoe UI"/>
              </a:rPr>
              <a:t>Responsable RSSI</a:t>
            </a:r>
          </a:p>
        </p:txBody>
      </p:sp>
      <p:sp>
        <p:nvSpPr>
          <p:cNvPr id="35" name="TextBox 34"/>
          <p:cNvSpPr txBox="1"/>
          <p:nvPr/>
        </p:nvSpPr>
        <p:spPr>
          <a:xfrm>
            <a:off x="6675120" y="3410712"/>
            <a:ext cx="4617720" cy="365760"/>
          </a:xfrm>
          <a:prstGeom prst="rect">
            <a:avLst/>
          </a:prstGeom>
          <a:noFill/>
        </p:spPr>
        <p:txBody>
          <a:bodyPr wrap="square" lIns="0" rIns="0" tIns="0" bIns="0" anchor="t">
            <a:spAutoFit/>
          </a:bodyPr>
          <a:lstStyle/>
          <a:p>
            <a:pPr algn="l"/>
            <a:r>
              <a:rPr sz="1100" b="0" i="0">
                <a:solidFill>
                  <a:srgbClr val="CCD6F6"/>
                </a:solidFill>
                <a:latin typeface="Segoe UI"/>
              </a:rPr>
              <a:t>Suivi d'indicateurs de risque</a:t>
            </a:r>
          </a:p>
        </p:txBody>
      </p:sp>
      <p:sp>
        <p:nvSpPr>
          <p:cNvPr id="36" name="Rounded Rectangle 35"/>
          <p:cNvSpPr/>
          <p:nvPr/>
        </p:nvSpPr>
        <p:spPr>
          <a:xfrm>
            <a:off x="6400800" y="3986784"/>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986784"/>
            <a:ext cx="73152" cy="96012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0" y="4123944"/>
            <a:ext cx="4617720" cy="365760"/>
          </a:xfrm>
          <a:prstGeom prst="rect">
            <a:avLst/>
          </a:prstGeom>
          <a:noFill/>
        </p:spPr>
        <p:txBody>
          <a:bodyPr wrap="square" lIns="0" rIns="0" tIns="0" bIns="0" anchor="t">
            <a:spAutoFit/>
          </a:bodyPr>
          <a:lstStyle/>
          <a:p>
            <a:pPr algn="l"/>
            <a:r>
              <a:rPr sz="1400" b="1" i="0">
                <a:solidFill>
                  <a:srgbClr val="E6F1FF"/>
                </a:solidFill>
                <a:latin typeface="Segoe UI"/>
              </a:rPr>
              <a:t>Enseignant / Chercheur</a:t>
            </a:r>
          </a:p>
        </p:txBody>
      </p:sp>
      <p:sp>
        <p:nvSpPr>
          <p:cNvPr id="39" name="TextBox 38"/>
          <p:cNvSpPr txBox="1"/>
          <p:nvPr/>
        </p:nvSpPr>
        <p:spPr>
          <a:xfrm>
            <a:off x="6675120" y="4489704"/>
            <a:ext cx="4617720" cy="365760"/>
          </a:xfrm>
          <a:prstGeom prst="rect">
            <a:avLst/>
          </a:prstGeom>
          <a:noFill/>
        </p:spPr>
        <p:txBody>
          <a:bodyPr wrap="square" lIns="0" rIns="0" tIns="0" bIns="0" anchor="t">
            <a:spAutoFit/>
          </a:bodyPr>
          <a:lstStyle/>
          <a:p>
            <a:pPr algn="l"/>
            <a:r>
              <a:rPr sz="1100" b="0" i="0">
                <a:solidFill>
                  <a:srgbClr val="CCD6F6"/>
                </a:solidFill>
                <a:latin typeface="Segoe UI"/>
              </a:rPr>
              <a:t>Illustrer une chaîne OSINT complète</a:t>
            </a:r>
          </a:p>
        </p:txBody>
      </p:sp>
      <p:sp>
        <p:nvSpPr>
          <p:cNvPr id="40" name="Rounded Rectangle 39"/>
          <p:cNvSpPr/>
          <p:nvPr/>
        </p:nvSpPr>
        <p:spPr>
          <a:xfrm>
            <a:off x="6400800" y="5065776"/>
            <a:ext cx="516636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5065776"/>
            <a:ext cx="73152" cy="96012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0" y="5202936"/>
            <a:ext cx="4617720" cy="365760"/>
          </a:xfrm>
          <a:prstGeom prst="rect">
            <a:avLst/>
          </a:prstGeom>
          <a:noFill/>
        </p:spPr>
        <p:txBody>
          <a:bodyPr wrap="square" lIns="0" rIns="0" tIns="0" bIns="0" anchor="t">
            <a:spAutoFit/>
          </a:bodyPr>
          <a:lstStyle/>
          <a:p>
            <a:pPr algn="l"/>
            <a:r>
              <a:rPr sz="1400" b="1" i="0">
                <a:solidFill>
                  <a:srgbClr val="E6F1FF"/>
                </a:solidFill>
                <a:latin typeface="Segoe UI"/>
              </a:rPr>
              <a:t>Équipe projet</a:t>
            </a:r>
          </a:p>
        </p:txBody>
      </p:sp>
      <p:sp>
        <p:nvSpPr>
          <p:cNvPr id="43" name="TextBox 42"/>
          <p:cNvSpPr txBox="1"/>
          <p:nvPr/>
        </p:nvSpPr>
        <p:spPr>
          <a:xfrm>
            <a:off x="6675120" y="5568696"/>
            <a:ext cx="4617720" cy="365760"/>
          </a:xfrm>
          <a:prstGeom prst="rect">
            <a:avLst/>
          </a:prstGeom>
          <a:noFill/>
        </p:spPr>
        <p:txBody>
          <a:bodyPr wrap="square" lIns="0" rIns="0" tIns="0" bIns="0" anchor="t">
            <a:spAutoFit/>
          </a:bodyPr>
          <a:lstStyle/>
          <a:p>
            <a:pPr algn="l"/>
            <a:r>
              <a:rPr sz="1100" b="0" i="0">
                <a:solidFill>
                  <a:srgbClr val="CCD6F6"/>
                </a:solidFill>
                <a:latin typeface="Segoe UI"/>
              </a:rPr>
              <a:t>Architecture de veille expérimentale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05</a:t>
            </a:r>
          </a:p>
        </p:txBody>
      </p:sp>
      <p:sp>
        <p:nvSpPr>
          <p:cNvPr id="6" name="Rectangle 5"/>
          <p:cNvSpPr/>
          <p:nvPr/>
        </p:nvSpPr>
        <p:spPr>
          <a:xfrm>
            <a:off x="11094415" y="457200"/>
            <a:ext cx="640080" cy="640080"/>
          </a:xfrm>
          <a:prstGeom prst="rect">
            <a:avLst/>
          </a:prstGeom>
          <a:solidFill>
            <a:srgbClr val="0A192F"/>
          </a:solidFill>
          <a:ln w="2540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64FFDA"/>
                </a:solidFill>
                <a:latin typeface="Segoe UI Black"/>
              </a:rPr>
              <a:t>05</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ARCHITECTURE &amp; SOURCES INTÉGRÉES</a:t>
            </a:r>
          </a:p>
        </p:txBody>
      </p:sp>
      <p:cxnSp>
        <p:nvCxnSpPr>
          <p:cNvPr id="10" name="Connector 9"/>
          <p:cNvCxnSpPr/>
          <p:nvPr/>
        </p:nvCxnSpPr>
        <p:spPr>
          <a:xfrm>
            <a:off x="640080" y="1371600"/>
            <a:ext cx="2743200" cy="0"/>
          </a:xfrm>
          <a:prstGeom prst="line">
            <a:avLst/>
          </a:prstGeom>
          <a:ln w="19050">
            <a:solidFill>
              <a:srgbClr val="64FFD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6400800" cy="365760"/>
          </a:xfrm>
          <a:prstGeom prst="rect">
            <a:avLst/>
          </a:prstGeom>
          <a:noFill/>
        </p:spPr>
        <p:txBody>
          <a:bodyPr wrap="square" lIns="0" rIns="0" tIns="0" bIns="0" anchor="t">
            <a:spAutoFit/>
          </a:bodyPr>
          <a:lstStyle/>
          <a:p>
            <a:pPr algn="l"/>
            <a:r>
              <a:rPr sz="1000" b="1" i="0">
                <a:solidFill>
                  <a:srgbClr val="5E81AC"/>
                </a:solidFill>
                <a:latin typeface="Segoe UI"/>
              </a:rPr>
              <a:t>PIPELINE GLOBAL</a:t>
            </a:r>
          </a:p>
        </p:txBody>
      </p:sp>
      <p:pic>
        <p:nvPicPr>
          <p:cNvPr id="14" name="Picture 13" descr="diagramme_concep.png"/>
          <p:cNvPicPr>
            <a:picLocks noChangeAspect="1"/>
          </p:cNvPicPr>
          <p:nvPr/>
        </p:nvPicPr>
        <p:blipFill>
          <a:blip r:embed="rId2"/>
          <a:stretch>
            <a:fillRect/>
          </a:stretch>
        </p:blipFill>
        <p:spPr>
          <a:xfrm>
            <a:off x="640080" y="1828800"/>
            <a:ext cx="6858000" cy="4572000"/>
          </a:xfrm>
          <a:prstGeom prst="rect">
            <a:avLst/>
          </a:prstGeom>
        </p:spPr>
      </p:pic>
      <p:sp>
        <p:nvSpPr>
          <p:cNvPr id="15" name="TextBox 14"/>
          <p:cNvSpPr txBox="1"/>
          <p:nvPr/>
        </p:nvSpPr>
        <p:spPr>
          <a:xfrm>
            <a:off x="7772400" y="1417320"/>
            <a:ext cx="3931920" cy="365760"/>
          </a:xfrm>
          <a:prstGeom prst="rect">
            <a:avLst/>
          </a:prstGeom>
          <a:noFill/>
        </p:spPr>
        <p:txBody>
          <a:bodyPr wrap="square" lIns="0" rIns="0" tIns="0" bIns="0" anchor="t">
            <a:spAutoFit/>
          </a:bodyPr>
          <a:lstStyle/>
          <a:p>
            <a:pPr algn="l"/>
            <a:r>
              <a:rPr sz="1000" b="1" i="0">
                <a:solidFill>
                  <a:srgbClr val="5E81AC"/>
                </a:solidFill>
                <a:latin typeface="Segoe UI"/>
              </a:rPr>
              <a:t>4 SOURCES COMPLÉMENTAIRES</a:t>
            </a:r>
          </a:p>
        </p:txBody>
      </p:sp>
      <p:sp>
        <p:nvSpPr>
          <p:cNvPr id="16" name="Rounded Rectangle 15"/>
          <p:cNvSpPr/>
          <p:nvPr/>
        </p:nvSpPr>
        <p:spPr>
          <a:xfrm>
            <a:off x="7772400" y="1828800"/>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0" y="1828800"/>
            <a:ext cx="73152" cy="9144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1920240"/>
            <a:ext cx="3474720" cy="365760"/>
          </a:xfrm>
          <a:prstGeom prst="rect">
            <a:avLst/>
          </a:prstGeom>
          <a:noFill/>
        </p:spPr>
        <p:txBody>
          <a:bodyPr wrap="square" lIns="0" rIns="0" tIns="0" bIns="0" anchor="t">
            <a:spAutoFit/>
          </a:bodyPr>
          <a:lstStyle/>
          <a:p>
            <a:pPr algn="l"/>
            <a:r>
              <a:rPr sz="1400" b="1" i="0">
                <a:solidFill>
                  <a:srgbClr val="5E81AC"/>
                </a:solidFill>
                <a:latin typeface="Segoe UI"/>
              </a:rPr>
              <a:t>GitHub</a:t>
            </a:r>
          </a:p>
        </p:txBody>
      </p:sp>
      <p:sp>
        <p:nvSpPr>
          <p:cNvPr id="19" name="TextBox 18"/>
          <p:cNvSpPr txBox="1"/>
          <p:nvPr/>
        </p:nvSpPr>
        <p:spPr>
          <a:xfrm>
            <a:off x="8001000" y="2240280"/>
            <a:ext cx="3474720" cy="548640"/>
          </a:xfrm>
          <a:prstGeom prst="rect">
            <a:avLst/>
          </a:prstGeom>
          <a:noFill/>
        </p:spPr>
        <p:txBody>
          <a:bodyPr wrap="square" lIns="0" rIns="0" tIns="0" bIns="0" anchor="t">
            <a:spAutoFit/>
          </a:bodyPr>
          <a:lstStyle/>
          <a:p>
            <a:pPr algn="l"/>
            <a:r>
              <a:rPr sz="1000" b="0" i="0">
                <a:solidFill>
                  <a:srgbClr val="CCD6F6"/>
                </a:solidFill>
                <a:latin typeface="Segoe UI"/>
              </a:rPr>
              <a:t>Preuves techniques</a:t>
            </a:r>
          </a:p>
          <a:p>
            <a:pPr algn="l"/>
            <a:r>
              <a:rPr sz="1000" b="0" i="0">
                <a:solidFill>
                  <a:srgbClr val="CCD6F6"/>
                </a:solidFill>
                <a:latin typeface="Segoe UI"/>
              </a:rPr>
              <a:t>d'exposition</a:t>
            </a:r>
          </a:p>
        </p:txBody>
      </p:sp>
      <p:sp>
        <p:nvSpPr>
          <p:cNvPr id="20" name="Rounded Rectangle 19"/>
          <p:cNvSpPr/>
          <p:nvPr/>
        </p:nvSpPr>
        <p:spPr>
          <a:xfrm>
            <a:off x="7772400" y="2862071"/>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0" y="2862071"/>
            <a:ext cx="73152" cy="9144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2953511"/>
            <a:ext cx="3474720" cy="365760"/>
          </a:xfrm>
          <a:prstGeom prst="rect">
            <a:avLst/>
          </a:prstGeom>
          <a:noFill/>
        </p:spPr>
        <p:txBody>
          <a:bodyPr wrap="square" lIns="0" rIns="0" tIns="0" bIns="0" anchor="t">
            <a:spAutoFit/>
          </a:bodyPr>
          <a:lstStyle/>
          <a:p>
            <a:pPr algn="l"/>
            <a:r>
              <a:rPr sz="1400" b="1" i="0">
                <a:solidFill>
                  <a:srgbClr val="64FFDA"/>
                </a:solidFill>
                <a:latin typeface="Segoe UI"/>
              </a:rPr>
              <a:t>Telegram</a:t>
            </a:r>
          </a:p>
        </p:txBody>
      </p:sp>
      <p:sp>
        <p:nvSpPr>
          <p:cNvPr id="23" name="TextBox 22"/>
          <p:cNvSpPr txBox="1"/>
          <p:nvPr/>
        </p:nvSpPr>
        <p:spPr>
          <a:xfrm>
            <a:off x="8001000" y="3273551"/>
            <a:ext cx="3474720" cy="548640"/>
          </a:xfrm>
          <a:prstGeom prst="rect">
            <a:avLst/>
          </a:prstGeom>
          <a:noFill/>
        </p:spPr>
        <p:txBody>
          <a:bodyPr wrap="square" lIns="0" rIns="0" tIns="0" bIns="0" anchor="t">
            <a:spAutoFit/>
          </a:bodyPr>
          <a:lstStyle/>
          <a:p>
            <a:pPr algn="l"/>
            <a:r>
              <a:rPr sz="1000" b="0" i="0">
                <a:solidFill>
                  <a:srgbClr val="CCD6F6"/>
                </a:solidFill>
                <a:latin typeface="Segoe UI"/>
              </a:rPr>
              <a:t>Signaux communautaires</a:t>
            </a:r>
          </a:p>
          <a:p>
            <a:pPr algn="l"/>
            <a:r>
              <a:rPr sz="1000" b="0" i="0">
                <a:solidFill>
                  <a:srgbClr val="CCD6F6"/>
                </a:solidFill>
                <a:latin typeface="Segoe UI"/>
              </a:rPr>
              <a:t>précoces</a:t>
            </a:r>
          </a:p>
        </p:txBody>
      </p:sp>
      <p:sp>
        <p:nvSpPr>
          <p:cNvPr id="24" name="Rounded Rectangle 23"/>
          <p:cNvSpPr/>
          <p:nvPr/>
        </p:nvSpPr>
        <p:spPr>
          <a:xfrm>
            <a:off x="7772400" y="3895342"/>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0" y="3895342"/>
            <a:ext cx="73152" cy="9144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3986782"/>
            <a:ext cx="3474720" cy="365760"/>
          </a:xfrm>
          <a:prstGeom prst="rect">
            <a:avLst/>
          </a:prstGeom>
          <a:noFill/>
        </p:spPr>
        <p:txBody>
          <a:bodyPr wrap="square" lIns="0" rIns="0" tIns="0" bIns="0" anchor="t">
            <a:spAutoFit/>
          </a:bodyPr>
          <a:lstStyle/>
          <a:p>
            <a:pPr algn="l"/>
            <a:r>
              <a:rPr sz="1400" b="1" i="0">
                <a:solidFill>
                  <a:srgbClr val="EBCB8B"/>
                </a:solidFill>
                <a:latin typeface="Segoe UI"/>
              </a:rPr>
              <a:t>Google Alerts</a:t>
            </a:r>
          </a:p>
        </p:txBody>
      </p:sp>
      <p:sp>
        <p:nvSpPr>
          <p:cNvPr id="27" name="TextBox 26"/>
          <p:cNvSpPr txBox="1"/>
          <p:nvPr/>
        </p:nvSpPr>
        <p:spPr>
          <a:xfrm>
            <a:off x="8001000" y="4306822"/>
            <a:ext cx="3474720" cy="548640"/>
          </a:xfrm>
          <a:prstGeom prst="rect">
            <a:avLst/>
          </a:prstGeom>
          <a:noFill/>
        </p:spPr>
        <p:txBody>
          <a:bodyPr wrap="square" lIns="0" rIns="0" tIns="0" bIns="0" anchor="t">
            <a:spAutoFit/>
          </a:bodyPr>
          <a:lstStyle/>
          <a:p>
            <a:pPr algn="l"/>
            <a:r>
              <a:rPr sz="1000" b="0" i="0">
                <a:solidFill>
                  <a:srgbClr val="CCD6F6"/>
                </a:solidFill>
                <a:latin typeface="Segoe UI"/>
              </a:rPr>
              <a:t>Veille médiatique</a:t>
            </a:r>
          </a:p>
          <a:p>
            <a:pPr algn="l"/>
            <a:r>
              <a:rPr sz="1000" b="0" i="0">
                <a:solidFill>
                  <a:srgbClr val="CCD6F6"/>
                </a:solidFill>
                <a:latin typeface="Segoe UI"/>
              </a:rPr>
              <a:t>OSINT</a:t>
            </a:r>
          </a:p>
        </p:txBody>
      </p:sp>
      <p:sp>
        <p:nvSpPr>
          <p:cNvPr id="28" name="Rounded Rectangle 27"/>
          <p:cNvSpPr/>
          <p:nvPr/>
        </p:nvSpPr>
        <p:spPr>
          <a:xfrm>
            <a:off x="7772400" y="4928613"/>
            <a:ext cx="3931920" cy="9144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0" y="4928613"/>
            <a:ext cx="73152" cy="9144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5020053"/>
            <a:ext cx="3474720" cy="365760"/>
          </a:xfrm>
          <a:prstGeom prst="rect">
            <a:avLst/>
          </a:prstGeom>
          <a:noFill/>
        </p:spPr>
        <p:txBody>
          <a:bodyPr wrap="square" lIns="0" rIns="0" tIns="0" bIns="0" anchor="t">
            <a:spAutoFit/>
          </a:bodyPr>
          <a:lstStyle/>
          <a:p>
            <a:pPr algn="l"/>
            <a:r>
              <a:rPr sz="1400" b="1" i="0">
                <a:solidFill>
                  <a:srgbClr val="B48EAD"/>
                </a:solidFill>
                <a:latin typeface="Segoe UI"/>
              </a:rPr>
              <a:t>CVE / BI</a:t>
            </a:r>
          </a:p>
        </p:txBody>
      </p:sp>
      <p:sp>
        <p:nvSpPr>
          <p:cNvPr id="31" name="TextBox 30"/>
          <p:cNvSpPr txBox="1"/>
          <p:nvPr/>
        </p:nvSpPr>
        <p:spPr>
          <a:xfrm>
            <a:off x="8001000" y="5340093"/>
            <a:ext cx="3474720" cy="548640"/>
          </a:xfrm>
          <a:prstGeom prst="rect">
            <a:avLst/>
          </a:prstGeom>
          <a:noFill/>
        </p:spPr>
        <p:txBody>
          <a:bodyPr wrap="square" lIns="0" rIns="0" tIns="0" bIns="0" anchor="t">
            <a:spAutoFit/>
          </a:bodyPr>
          <a:lstStyle/>
          <a:p>
            <a:pPr algn="l"/>
            <a:r>
              <a:rPr sz="1000" b="0" i="0">
                <a:solidFill>
                  <a:srgbClr val="CCD6F6"/>
                </a:solidFill>
                <a:latin typeface="Segoe UI"/>
              </a:rPr>
              <a:t>Vision quantitative</a:t>
            </a:r>
          </a:p>
          <a:p>
            <a:pPr algn="l"/>
            <a:r>
              <a:rPr sz="1000" b="0" i="0">
                <a:solidFill>
                  <a:srgbClr val="CCD6F6"/>
                </a:solidFill>
                <a:latin typeface="Segoe UI"/>
              </a:rPr>
              <a:t>des vulnérabilités</a:t>
            </a:r>
          </a:p>
        </p:txBody>
      </p:sp>
      <p:sp>
        <p:nvSpPr>
          <p:cNvPr id="32" name="Rounded Rectangle 31"/>
          <p:cNvSpPr/>
          <p:nvPr/>
        </p:nvSpPr>
        <p:spPr>
          <a:xfrm>
            <a:off x="640080" y="6035040"/>
            <a:ext cx="11064240" cy="45720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2960" y="6199632"/>
            <a:ext cx="128016" cy="128016"/>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Séparation des responsabilités</a:t>
            </a:r>
          </a:p>
        </p:txBody>
      </p:sp>
      <p:sp>
        <p:nvSpPr>
          <p:cNvPr id="35" name="Oval 34"/>
          <p:cNvSpPr/>
          <p:nvPr/>
        </p:nvSpPr>
        <p:spPr>
          <a:xfrm>
            <a:off x="3589020" y="6199632"/>
            <a:ext cx="128016" cy="128016"/>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762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Config externalisée</a:t>
            </a:r>
          </a:p>
        </p:txBody>
      </p:sp>
      <p:sp>
        <p:nvSpPr>
          <p:cNvPr id="37" name="Oval 36"/>
          <p:cNvSpPr/>
          <p:nvPr/>
        </p:nvSpPr>
        <p:spPr>
          <a:xfrm>
            <a:off x="6355080" y="6199632"/>
            <a:ext cx="128016" cy="128016"/>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Filtrage explicite</a:t>
            </a:r>
          </a:p>
        </p:txBody>
      </p:sp>
      <p:sp>
        <p:nvSpPr>
          <p:cNvPr id="39" name="Oval 38"/>
          <p:cNvSpPr/>
          <p:nvPr/>
        </p:nvSpPr>
        <p:spPr>
          <a:xfrm>
            <a:off x="9121140" y="6199632"/>
            <a:ext cx="128016" cy="128016"/>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9740" y="6080760"/>
            <a:ext cx="2308860" cy="365760"/>
          </a:xfrm>
          <a:prstGeom prst="rect">
            <a:avLst/>
          </a:prstGeom>
          <a:noFill/>
        </p:spPr>
        <p:txBody>
          <a:bodyPr wrap="square" lIns="0" rIns="0" tIns="0" bIns="0" anchor="ctr">
            <a:spAutoFit/>
          </a:bodyPr>
          <a:lstStyle/>
          <a:p>
            <a:pPr algn="l"/>
            <a:r>
              <a:rPr sz="1000" b="1" i="0">
                <a:solidFill>
                  <a:srgbClr val="E6F1FF"/>
                </a:solidFill>
                <a:latin typeface="Segoe UI"/>
              </a:rPr>
              <a:t>Approche défensive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06</a:t>
            </a:r>
          </a:p>
        </p:txBody>
      </p:sp>
      <p:sp>
        <p:nvSpPr>
          <p:cNvPr id="6" name="Rectangle 5"/>
          <p:cNvSpPr/>
          <p:nvPr/>
        </p:nvSpPr>
        <p:spPr>
          <a:xfrm>
            <a:off x="11094415" y="457200"/>
            <a:ext cx="640080" cy="640080"/>
          </a:xfrm>
          <a:prstGeom prst="rect">
            <a:avLst/>
          </a:prstGeom>
          <a:solidFill>
            <a:srgbClr val="0A192F"/>
          </a:solidFill>
          <a:ln w="2540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64FFDA"/>
                </a:solidFill>
                <a:latin typeface="Segoe UI Black"/>
              </a:rPr>
              <a:t>06</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64FFDA"/>
                </a:solidFill>
                <a:latin typeface="Segoe UI Semibold"/>
              </a:rPr>
              <a:t>APERÇU EXCLUSIF</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DÉMO GLOBALE — LA PLATEFORME EN ACTION</a:t>
            </a:r>
          </a:p>
        </p:txBody>
      </p:sp>
      <p:cxnSp>
        <p:nvCxnSpPr>
          <p:cNvPr id="10" name="Connector 9"/>
          <p:cNvCxnSpPr/>
          <p:nvPr/>
        </p:nvCxnSpPr>
        <p:spPr>
          <a:xfrm>
            <a:off x="640080" y="1371600"/>
            <a:ext cx="2743200" cy="0"/>
          </a:xfrm>
          <a:prstGeom prst="line">
            <a:avLst/>
          </a:prstGeom>
          <a:ln w="19050">
            <a:solidFill>
              <a:srgbClr val="64FFD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1325880"/>
            <a:ext cx="1280160" cy="329184"/>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6F1FF"/>
                </a:solidFill>
                <a:latin typeface="Segoe UI"/>
              </a:rPr>
              <a:t>● LIVE DEMO</a:t>
            </a:r>
          </a:p>
        </p:txBody>
      </p:sp>
      <p:sp>
        <p:nvSpPr>
          <p:cNvPr id="14" name="TextBox 13"/>
          <p:cNvSpPr txBox="1"/>
          <p:nvPr/>
        </p:nvSpPr>
        <p:spPr>
          <a:xfrm>
            <a:off x="1920240" y="1325880"/>
            <a:ext cx="7315200" cy="329184"/>
          </a:xfrm>
          <a:prstGeom prst="rect">
            <a:avLst/>
          </a:prstGeom>
          <a:noFill/>
        </p:spPr>
        <p:txBody>
          <a:bodyPr wrap="square" lIns="0" rIns="0" tIns="0" bIns="0" anchor="ctr">
            <a:spAutoFit/>
          </a:bodyPr>
          <a:lstStyle/>
          <a:p>
            <a:pPr algn="l"/>
            <a:r>
              <a:rPr sz="1300" b="0" i="1">
                <a:solidFill>
                  <a:srgbClr val="CCD6F6"/>
                </a:solidFill>
                <a:latin typeface="Segoe UI"/>
              </a:rPr>
              <a:t>Environnement unifié pour l'analyste cyber</a:t>
            </a:r>
          </a:p>
        </p:txBody>
      </p:sp>
      <p:sp>
        <p:nvSpPr>
          <p:cNvPr id="15" name="Rounded Rectangle 14"/>
          <p:cNvSpPr/>
          <p:nvPr/>
        </p:nvSpPr>
        <p:spPr>
          <a:xfrm>
            <a:off x="365760" y="1783080"/>
            <a:ext cx="7269480" cy="4206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overview.png"/>
          <p:cNvPicPr>
            <a:picLocks noChangeAspect="1"/>
          </p:cNvPicPr>
          <p:nvPr/>
        </p:nvPicPr>
        <p:blipFill>
          <a:blip r:embed="rId2"/>
          <a:stretch>
            <a:fillRect/>
          </a:stretch>
        </p:blipFill>
        <p:spPr>
          <a:xfrm>
            <a:off x="502920" y="1920240"/>
            <a:ext cx="6995160" cy="3929988"/>
          </a:xfrm>
          <a:prstGeom prst="rect">
            <a:avLst/>
          </a:prstGeom>
        </p:spPr>
      </p:pic>
      <p:sp>
        <p:nvSpPr>
          <p:cNvPr id="17" name="TextBox 16"/>
          <p:cNvSpPr txBox="1"/>
          <p:nvPr/>
        </p:nvSpPr>
        <p:spPr>
          <a:xfrm>
            <a:off x="365760" y="6035040"/>
            <a:ext cx="7269480" cy="274320"/>
          </a:xfrm>
          <a:prstGeom prst="rect">
            <a:avLst/>
          </a:prstGeom>
          <a:noFill/>
        </p:spPr>
        <p:txBody>
          <a:bodyPr wrap="square" lIns="0" rIns="0" tIns="0" bIns="0" anchor="t">
            <a:spAutoFit/>
          </a:bodyPr>
          <a:lstStyle/>
          <a:p>
            <a:pPr algn="ctr"/>
            <a:r>
              <a:rPr sz="900" b="0" i="1">
                <a:solidFill>
                  <a:srgbClr val="8892B0"/>
                </a:solidFill>
                <a:latin typeface="Segoe UI"/>
              </a:rPr>
              <a:t>Vue d'ensemble — supervision unifiée des sources</a:t>
            </a:r>
          </a:p>
        </p:txBody>
      </p:sp>
      <p:sp>
        <p:nvSpPr>
          <p:cNvPr id="18" name="TextBox 17"/>
          <p:cNvSpPr txBox="1"/>
          <p:nvPr/>
        </p:nvSpPr>
        <p:spPr>
          <a:xfrm>
            <a:off x="7818120" y="1783080"/>
            <a:ext cx="4023360" cy="365760"/>
          </a:xfrm>
          <a:prstGeom prst="rect">
            <a:avLst/>
          </a:prstGeom>
          <a:noFill/>
        </p:spPr>
        <p:txBody>
          <a:bodyPr wrap="square" lIns="0" rIns="0" tIns="0" bIns="0" anchor="t">
            <a:spAutoFit/>
          </a:bodyPr>
          <a:lstStyle/>
          <a:p>
            <a:pPr algn="l"/>
            <a:r>
              <a:rPr sz="1000" b="1" i="0">
                <a:solidFill>
                  <a:srgbClr val="5E81AC"/>
                </a:solidFill>
                <a:latin typeface="Segoe UI"/>
              </a:rPr>
              <a:t>L'ANALYSTE PEUT :</a:t>
            </a:r>
          </a:p>
        </p:txBody>
      </p:sp>
      <p:sp>
        <p:nvSpPr>
          <p:cNvPr id="19" name="Rounded Rectangle 18"/>
          <p:cNvSpPr/>
          <p:nvPr/>
        </p:nvSpPr>
        <p:spPr>
          <a:xfrm>
            <a:off x="7818120" y="2194560"/>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18120" y="2194560"/>
            <a:ext cx="73152" cy="7315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0" y="2395728"/>
            <a:ext cx="365760" cy="365760"/>
          </a:xfrm>
          <a:prstGeom prst="roundRect">
            <a:avLst>
              <a:gd name="adj" fmla="val 25000"/>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2286000"/>
            <a:ext cx="3154680" cy="320040"/>
          </a:xfrm>
          <a:prstGeom prst="rect">
            <a:avLst/>
          </a:prstGeom>
          <a:noFill/>
        </p:spPr>
        <p:txBody>
          <a:bodyPr wrap="square" lIns="0" rIns="0" tIns="0" bIns="0" anchor="t">
            <a:spAutoFit/>
          </a:bodyPr>
          <a:lstStyle/>
          <a:p>
            <a:pPr algn="l"/>
            <a:r>
              <a:rPr sz="1100" b="1" i="0">
                <a:solidFill>
                  <a:srgbClr val="E6F1FF"/>
                </a:solidFill>
                <a:latin typeface="Segoe UI"/>
              </a:rPr>
              <a:t>Scanner les fuites de secrets</a:t>
            </a:r>
          </a:p>
        </p:txBody>
      </p:sp>
      <p:sp>
        <p:nvSpPr>
          <p:cNvPr id="23" name="TextBox 22"/>
          <p:cNvSpPr txBox="1"/>
          <p:nvPr/>
        </p:nvSpPr>
        <p:spPr>
          <a:xfrm>
            <a:off x="8549640" y="2578608"/>
            <a:ext cx="3154680" cy="292608"/>
          </a:xfrm>
          <a:prstGeom prst="rect">
            <a:avLst/>
          </a:prstGeom>
          <a:noFill/>
        </p:spPr>
        <p:txBody>
          <a:bodyPr wrap="square" lIns="0" rIns="0" tIns="0" bIns="0" anchor="t">
            <a:spAutoFit/>
          </a:bodyPr>
          <a:lstStyle/>
          <a:p>
            <a:pPr algn="l"/>
            <a:r>
              <a:rPr sz="900" b="0" i="0">
                <a:solidFill>
                  <a:srgbClr val="CCD6F6"/>
                </a:solidFill>
                <a:latin typeface="Segoe UI"/>
              </a:rPr>
              <a:t>.env, tokens, clés API sur GitHub</a:t>
            </a:r>
          </a:p>
        </p:txBody>
      </p:sp>
      <p:sp>
        <p:nvSpPr>
          <p:cNvPr id="24" name="Rounded Rectangle 23"/>
          <p:cNvSpPr/>
          <p:nvPr/>
        </p:nvSpPr>
        <p:spPr>
          <a:xfrm>
            <a:off x="7818120" y="2980944"/>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18120" y="2980944"/>
            <a:ext cx="73152" cy="7315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0" y="3182112"/>
            <a:ext cx="365760" cy="365760"/>
          </a:xfrm>
          <a:prstGeom prst="roundRect">
            <a:avLst>
              <a:gd name="adj" fmla="val 25000"/>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3072384"/>
            <a:ext cx="3154680" cy="320040"/>
          </a:xfrm>
          <a:prstGeom prst="rect">
            <a:avLst/>
          </a:prstGeom>
          <a:noFill/>
        </p:spPr>
        <p:txBody>
          <a:bodyPr wrap="square" lIns="0" rIns="0" tIns="0" bIns="0" anchor="t">
            <a:spAutoFit/>
          </a:bodyPr>
          <a:lstStyle/>
          <a:p>
            <a:pPr algn="l"/>
            <a:r>
              <a:rPr sz="1100" b="1" i="0">
                <a:solidFill>
                  <a:srgbClr val="E6F1FF"/>
                </a:solidFill>
                <a:latin typeface="Segoe UI"/>
              </a:rPr>
              <a:t>Surveiller les canaux Telegram</a:t>
            </a:r>
          </a:p>
        </p:txBody>
      </p:sp>
      <p:sp>
        <p:nvSpPr>
          <p:cNvPr id="28" name="TextBox 27"/>
          <p:cNvSpPr txBox="1"/>
          <p:nvPr/>
        </p:nvSpPr>
        <p:spPr>
          <a:xfrm>
            <a:off x="8549640" y="3364992"/>
            <a:ext cx="3154680" cy="292608"/>
          </a:xfrm>
          <a:prstGeom prst="rect">
            <a:avLst/>
          </a:prstGeom>
          <a:noFill/>
        </p:spPr>
        <p:txBody>
          <a:bodyPr wrap="square" lIns="0" rIns="0" tIns="0" bIns="0" anchor="t">
            <a:spAutoFit/>
          </a:bodyPr>
          <a:lstStyle/>
          <a:p>
            <a:pPr algn="l"/>
            <a:r>
              <a:rPr sz="900" b="0" i="0">
                <a:solidFill>
                  <a:srgbClr val="CCD6F6"/>
                </a:solidFill>
                <a:latin typeface="Segoe UI"/>
              </a:rPr>
              <a:t>CVE &amp; annonces de fuites publiques</a:t>
            </a:r>
          </a:p>
        </p:txBody>
      </p:sp>
      <p:sp>
        <p:nvSpPr>
          <p:cNvPr id="29" name="Rounded Rectangle 28"/>
          <p:cNvSpPr/>
          <p:nvPr/>
        </p:nvSpPr>
        <p:spPr>
          <a:xfrm>
            <a:off x="7818120" y="3767328"/>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18120" y="3767328"/>
            <a:ext cx="73152" cy="73152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0" y="3968496"/>
            <a:ext cx="365760" cy="365760"/>
          </a:xfrm>
          <a:prstGeom prst="roundRect">
            <a:avLst>
              <a:gd name="adj" fmla="val 25000"/>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9640" y="3858768"/>
            <a:ext cx="3154680" cy="320040"/>
          </a:xfrm>
          <a:prstGeom prst="rect">
            <a:avLst/>
          </a:prstGeom>
          <a:noFill/>
        </p:spPr>
        <p:txBody>
          <a:bodyPr wrap="square" lIns="0" rIns="0" tIns="0" bIns="0" anchor="t">
            <a:spAutoFit/>
          </a:bodyPr>
          <a:lstStyle/>
          <a:p>
            <a:pPr algn="l"/>
            <a:r>
              <a:rPr sz="1100" b="1" i="0">
                <a:solidFill>
                  <a:srgbClr val="E6F1FF"/>
                </a:solidFill>
                <a:latin typeface="Segoe UI"/>
              </a:rPr>
              <a:t>Visualiser les actualités cyber</a:t>
            </a:r>
          </a:p>
        </p:txBody>
      </p:sp>
      <p:sp>
        <p:nvSpPr>
          <p:cNvPr id="33" name="TextBox 32"/>
          <p:cNvSpPr txBox="1"/>
          <p:nvPr/>
        </p:nvSpPr>
        <p:spPr>
          <a:xfrm>
            <a:off x="8549640" y="4151376"/>
            <a:ext cx="3154680" cy="292608"/>
          </a:xfrm>
          <a:prstGeom prst="rect">
            <a:avLst/>
          </a:prstGeom>
          <a:noFill/>
        </p:spPr>
        <p:txBody>
          <a:bodyPr wrap="square" lIns="0" rIns="0" tIns="0" bIns="0" anchor="t">
            <a:spAutoFit/>
          </a:bodyPr>
          <a:lstStyle/>
          <a:p>
            <a:pPr algn="l"/>
            <a:r>
              <a:rPr sz="900" b="0" i="0">
                <a:solidFill>
                  <a:srgbClr val="CCD6F6"/>
                </a:solidFill>
                <a:latin typeface="Segoe UI"/>
              </a:rPr>
              <a:t>16 alertes Google catégorisées</a:t>
            </a:r>
          </a:p>
        </p:txBody>
      </p:sp>
      <p:sp>
        <p:nvSpPr>
          <p:cNvPr id="34" name="Rounded Rectangle 33"/>
          <p:cNvSpPr/>
          <p:nvPr/>
        </p:nvSpPr>
        <p:spPr>
          <a:xfrm>
            <a:off x="7818120" y="4553712"/>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18120" y="4553712"/>
            <a:ext cx="73152" cy="73152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046720" y="4754880"/>
            <a:ext cx="365760" cy="365760"/>
          </a:xfrm>
          <a:prstGeom prst="roundRect">
            <a:avLst>
              <a:gd name="adj" fmla="val 25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9640" y="4645152"/>
            <a:ext cx="3154680" cy="320040"/>
          </a:xfrm>
          <a:prstGeom prst="rect">
            <a:avLst/>
          </a:prstGeom>
          <a:noFill/>
        </p:spPr>
        <p:txBody>
          <a:bodyPr wrap="square" lIns="0" rIns="0" tIns="0" bIns="0" anchor="t">
            <a:spAutoFit/>
          </a:bodyPr>
          <a:lstStyle/>
          <a:p>
            <a:pPr algn="l"/>
            <a:r>
              <a:rPr sz="1100" b="1" i="0">
                <a:solidFill>
                  <a:srgbClr val="E6F1FF"/>
                </a:solidFill>
                <a:latin typeface="Segoe UI"/>
              </a:rPr>
              <a:t>Explorer les CVE en BI</a:t>
            </a:r>
          </a:p>
        </p:txBody>
      </p:sp>
      <p:sp>
        <p:nvSpPr>
          <p:cNvPr id="38" name="TextBox 37"/>
          <p:cNvSpPr txBox="1"/>
          <p:nvPr/>
        </p:nvSpPr>
        <p:spPr>
          <a:xfrm>
            <a:off x="8549640" y="4937760"/>
            <a:ext cx="3154680" cy="292608"/>
          </a:xfrm>
          <a:prstGeom prst="rect">
            <a:avLst/>
          </a:prstGeom>
          <a:noFill/>
        </p:spPr>
        <p:txBody>
          <a:bodyPr wrap="square" lIns="0" rIns="0" tIns="0" bIns="0" anchor="t">
            <a:spAutoFit/>
          </a:bodyPr>
          <a:lstStyle/>
          <a:p>
            <a:pPr algn="l"/>
            <a:r>
              <a:rPr sz="900" b="0" i="0">
                <a:solidFill>
                  <a:srgbClr val="CCD6F6"/>
                </a:solidFill>
                <a:latin typeface="Segoe UI"/>
              </a:rPr>
              <a:t>3 dashboards Power BI interactifs</a:t>
            </a:r>
          </a:p>
        </p:txBody>
      </p:sp>
      <p:sp>
        <p:nvSpPr>
          <p:cNvPr id="39" name="Rounded Rectangle 38"/>
          <p:cNvSpPr/>
          <p:nvPr/>
        </p:nvSpPr>
        <p:spPr>
          <a:xfrm>
            <a:off x="7818120" y="5340096"/>
            <a:ext cx="4023360" cy="7315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818120" y="5340096"/>
            <a:ext cx="73152" cy="73152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46720" y="5541264"/>
            <a:ext cx="365760" cy="365760"/>
          </a:xfrm>
          <a:prstGeom prst="roundRect">
            <a:avLst>
              <a:gd name="adj" fmla="val 25000"/>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49640" y="5431536"/>
            <a:ext cx="3154680" cy="320040"/>
          </a:xfrm>
          <a:prstGeom prst="rect">
            <a:avLst/>
          </a:prstGeom>
          <a:noFill/>
        </p:spPr>
        <p:txBody>
          <a:bodyPr wrap="square" lIns="0" rIns="0" tIns="0" bIns="0" anchor="t">
            <a:spAutoFit/>
          </a:bodyPr>
          <a:lstStyle/>
          <a:p>
            <a:pPr algn="l"/>
            <a:r>
              <a:rPr sz="1100" b="1" i="0">
                <a:solidFill>
                  <a:srgbClr val="E6F1FF"/>
                </a:solidFill>
                <a:latin typeface="Segoe UI"/>
              </a:rPr>
              <a:t>Superviser l'état des sources</a:t>
            </a:r>
          </a:p>
        </p:txBody>
      </p:sp>
      <p:sp>
        <p:nvSpPr>
          <p:cNvPr id="43" name="TextBox 42"/>
          <p:cNvSpPr txBox="1"/>
          <p:nvPr/>
        </p:nvSpPr>
        <p:spPr>
          <a:xfrm>
            <a:off x="8549640" y="5724144"/>
            <a:ext cx="3154680" cy="292608"/>
          </a:xfrm>
          <a:prstGeom prst="rect">
            <a:avLst/>
          </a:prstGeom>
          <a:noFill/>
        </p:spPr>
        <p:txBody>
          <a:bodyPr wrap="square" lIns="0" rIns="0" tIns="0" bIns="0" anchor="t">
            <a:spAutoFit/>
          </a:bodyPr>
          <a:lstStyle/>
          <a:p>
            <a:pPr algn="l"/>
            <a:r>
              <a:rPr sz="900" b="0" i="0">
                <a:solidFill>
                  <a:srgbClr val="CCD6F6"/>
                </a:solidFill>
                <a:latin typeface="Segoe UI"/>
              </a:rPr>
              <a:t>Scans, erreurs, dédup,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07</a:t>
            </a:r>
          </a:p>
        </p:txBody>
      </p:sp>
      <p:sp>
        <p:nvSpPr>
          <p:cNvPr id="6" name="Rectangle 5"/>
          <p:cNvSpPr/>
          <p:nvPr/>
        </p:nvSpPr>
        <p:spPr>
          <a:xfrm>
            <a:off x="11094415" y="457200"/>
            <a:ext cx="640080" cy="640080"/>
          </a:xfrm>
          <a:prstGeom prst="rect">
            <a:avLst/>
          </a:prstGeom>
          <a:solidFill>
            <a:srgbClr val="0A192F"/>
          </a:solidFill>
          <a:ln w="2540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5E81AC"/>
                </a:solidFill>
                <a:latin typeface="Segoe UI Black"/>
              </a:rPr>
              <a:t>07</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GITHUB MONITORING — RÔLE DE LA SOURCE</a:t>
            </a:r>
          </a:p>
        </p:txBody>
      </p:sp>
      <p:cxnSp>
        <p:nvCxnSpPr>
          <p:cNvPr id="10" name="Connector 9"/>
          <p:cNvCxnSpPr/>
          <p:nvPr/>
        </p:nvCxnSpPr>
        <p:spPr>
          <a:xfrm>
            <a:off x="640080" y="1371600"/>
            <a:ext cx="2743200" cy="0"/>
          </a:xfrm>
          <a:prstGeom prst="line">
            <a:avLst/>
          </a:prstGeom>
          <a:ln w="19050">
            <a:solidFill>
              <a:srgbClr val="5E81A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10972800" cy="548640"/>
          </a:xfrm>
          <a:prstGeom prst="rect">
            <a:avLst/>
          </a:prstGeom>
          <a:noFill/>
        </p:spPr>
        <p:txBody>
          <a:bodyPr wrap="square" lIns="0" rIns="0" tIns="0" bIns="0" anchor="t">
            <a:spAutoFit/>
          </a:bodyPr>
          <a:lstStyle/>
          <a:p>
            <a:pPr algn="l"/>
            <a:r>
              <a:rPr sz="1800" b="1" i="0">
                <a:solidFill>
                  <a:srgbClr val="E6F1FF"/>
                </a:solidFill>
                <a:latin typeface="Segoe UI"/>
              </a:rPr>
              <a:t>Source #1 : preuves techniques d'exposition publiques</a:t>
            </a:r>
          </a:p>
        </p:txBody>
      </p:sp>
      <p:sp>
        <p:nvSpPr>
          <p:cNvPr id="14" name="Rounded Rectangle 13"/>
          <p:cNvSpPr/>
          <p:nvPr/>
        </p:nvSpPr>
        <p:spPr>
          <a:xfrm>
            <a:off x="640080" y="2194560"/>
            <a:ext cx="5943600" cy="40233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77440"/>
            <a:ext cx="5394960" cy="365760"/>
          </a:xfrm>
          <a:prstGeom prst="rect">
            <a:avLst/>
          </a:prstGeom>
          <a:noFill/>
        </p:spPr>
        <p:txBody>
          <a:bodyPr wrap="square" lIns="0" rIns="0" tIns="0" bIns="0" anchor="t">
            <a:spAutoFit/>
          </a:bodyPr>
          <a:lstStyle/>
          <a:p>
            <a:pPr algn="l"/>
            <a:r>
              <a:rPr sz="1100" b="1" i="0">
                <a:solidFill>
                  <a:srgbClr val="64FFDA"/>
                </a:solidFill>
                <a:latin typeface="Segoe UI"/>
              </a:rPr>
              <a:t>POURQUOI GITHUB ?</a:t>
            </a:r>
          </a:p>
        </p:txBody>
      </p:sp>
      <p:sp>
        <p:nvSpPr>
          <p:cNvPr id="16" name="TextBox 15"/>
          <p:cNvSpPr txBox="1"/>
          <p:nvPr/>
        </p:nvSpPr>
        <p:spPr>
          <a:xfrm>
            <a:off x="914400" y="2788920"/>
            <a:ext cx="5394960" cy="3200400"/>
          </a:xfrm>
          <a:prstGeom prst="rect">
            <a:avLst/>
          </a:prstGeom>
          <a:noFill/>
        </p:spPr>
        <p:txBody>
          <a:bodyPr wrap="square" lIns="0" rIns="0" tIns="0" bIns="0" anchor="t">
            <a:spAutoFit/>
          </a:bodyPr>
          <a:lstStyle/>
          <a:p>
            <a:pPr algn="l">
              <a:lnSpc>
                <a:spcPct val="135000"/>
              </a:lnSpc>
            </a:pPr>
            <a:r>
              <a:rPr sz="1300" b="0" i="0">
                <a:solidFill>
                  <a:srgbClr val="CCD6F6"/>
                </a:solidFill>
                <a:latin typeface="Segoe UI"/>
              </a:rPr>
              <a:t>GitHub permet d'identifier des preuves techniques d'exposition directement présentes dans des dépôts publics.</a:t>
            </a:r>
          </a:p>
          <a:p>
            <a:pPr algn="l">
              <a:lnSpc>
                <a:spcPct val="135000"/>
              </a:lnSpc>
            </a:pPr>
            <a:r>
              <a:rPr sz="1300" b="0" i="0">
                <a:solidFill>
                  <a:srgbClr val="CCD6F6"/>
                </a:solidFill>
                <a:latin typeface="Segoe UI"/>
              </a:rPr>
              <a:t/>
            </a:r>
          </a:p>
          <a:p>
            <a:pPr algn="l">
              <a:lnSpc>
                <a:spcPct val="135000"/>
              </a:lnSpc>
            </a:pPr>
            <a:r>
              <a:rPr sz="1300" b="0" i="0">
                <a:solidFill>
                  <a:srgbClr val="CCD6F6"/>
                </a:solidFill>
                <a:latin typeface="Segoe UI"/>
              </a:rPr>
              <a:t>De nombreux développeurs publient — souvent par erreur — des secrets applicatifs : tokens, clés API, fichiers de configuration, chaînes de connexion.</a:t>
            </a:r>
          </a:p>
          <a:p>
            <a:pPr algn="l">
              <a:lnSpc>
                <a:spcPct val="135000"/>
              </a:lnSpc>
            </a:pPr>
            <a:r>
              <a:rPr sz="1300" b="0" i="0">
                <a:solidFill>
                  <a:srgbClr val="CCD6F6"/>
                </a:solidFill>
                <a:latin typeface="Segoe UI"/>
              </a:rPr>
              <a:t/>
            </a:r>
          </a:p>
          <a:p>
            <a:pPr algn="l">
              <a:lnSpc>
                <a:spcPct val="135000"/>
              </a:lnSpc>
            </a:pPr>
            <a:r>
              <a:rPr sz="1300" b="0" i="0">
                <a:solidFill>
                  <a:srgbClr val="CCD6F6"/>
                </a:solidFill>
                <a:latin typeface="Segoe UI"/>
              </a:rPr>
              <a:t>Contrairement aux autres sources qui fournissent des indications déclaratives, GitHub fournit des preuves directement exploitables.</a:t>
            </a:r>
          </a:p>
        </p:txBody>
      </p:sp>
      <p:sp>
        <p:nvSpPr>
          <p:cNvPr id="17" name="TextBox 16"/>
          <p:cNvSpPr txBox="1"/>
          <p:nvPr/>
        </p:nvSpPr>
        <p:spPr>
          <a:xfrm>
            <a:off x="6858000" y="2194560"/>
            <a:ext cx="4846320" cy="365760"/>
          </a:xfrm>
          <a:prstGeom prst="rect">
            <a:avLst/>
          </a:prstGeom>
          <a:noFill/>
        </p:spPr>
        <p:txBody>
          <a:bodyPr wrap="square" lIns="0" rIns="0" tIns="0" bIns="0" anchor="t">
            <a:spAutoFit/>
          </a:bodyPr>
          <a:lstStyle/>
          <a:p>
            <a:pPr algn="l"/>
            <a:r>
              <a:rPr sz="1100" b="1" i="0">
                <a:solidFill>
                  <a:srgbClr val="64FFDA"/>
                </a:solidFill>
                <a:latin typeface="Segoe UI"/>
              </a:rPr>
              <a:t>TYPES DE SECRETS DÉTECTÉS</a:t>
            </a:r>
          </a:p>
        </p:txBody>
      </p:sp>
      <p:sp>
        <p:nvSpPr>
          <p:cNvPr id="18" name="Rounded Rectangle 17"/>
          <p:cNvSpPr/>
          <p:nvPr/>
        </p:nvSpPr>
        <p:spPr>
          <a:xfrm>
            <a:off x="6858000" y="2697480"/>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0" y="2880360"/>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2788920"/>
            <a:ext cx="4297680" cy="365760"/>
          </a:xfrm>
          <a:prstGeom prst="rect">
            <a:avLst/>
          </a:prstGeom>
          <a:noFill/>
        </p:spPr>
        <p:txBody>
          <a:bodyPr wrap="square" lIns="0" rIns="0" tIns="0" bIns="0" anchor="ctr">
            <a:spAutoFit/>
          </a:bodyPr>
          <a:lstStyle/>
          <a:p>
            <a:pPr algn="l"/>
            <a:r>
              <a:rPr sz="1200" b="0" i="0">
                <a:solidFill>
                  <a:srgbClr val="E6F1FF"/>
                </a:solidFill>
                <a:latin typeface="Segoe UI"/>
              </a:rPr>
              <a:t>Fichiers .env et variables d'environnement</a:t>
            </a:r>
          </a:p>
        </p:txBody>
      </p:sp>
      <p:sp>
        <p:nvSpPr>
          <p:cNvPr id="21" name="Rounded Rectangle 20"/>
          <p:cNvSpPr/>
          <p:nvPr/>
        </p:nvSpPr>
        <p:spPr>
          <a:xfrm>
            <a:off x="6858000" y="3264408"/>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040880" y="3447288"/>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3355848"/>
            <a:ext cx="4297680" cy="365760"/>
          </a:xfrm>
          <a:prstGeom prst="rect">
            <a:avLst/>
          </a:prstGeom>
          <a:noFill/>
        </p:spPr>
        <p:txBody>
          <a:bodyPr wrap="square" lIns="0" rIns="0" tIns="0" bIns="0" anchor="ctr">
            <a:spAutoFit/>
          </a:bodyPr>
          <a:lstStyle/>
          <a:p>
            <a:pPr algn="l"/>
            <a:r>
              <a:rPr sz="1200" b="0" i="0">
                <a:solidFill>
                  <a:srgbClr val="E6F1FF"/>
                </a:solidFill>
                <a:latin typeface="Segoe UI"/>
              </a:rPr>
              <a:t>Identifiants PostgreSQL / MySQL / MongoDB</a:t>
            </a:r>
          </a:p>
        </p:txBody>
      </p:sp>
      <p:sp>
        <p:nvSpPr>
          <p:cNvPr id="24" name="Rounded Rectangle 23"/>
          <p:cNvSpPr/>
          <p:nvPr/>
        </p:nvSpPr>
        <p:spPr>
          <a:xfrm>
            <a:off x="6858000" y="3831336"/>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040880" y="4014216"/>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3922776"/>
            <a:ext cx="4297680" cy="365760"/>
          </a:xfrm>
          <a:prstGeom prst="rect">
            <a:avLst/>
          </a:prstGeom>
          <a:noFill/>
        </p:spPr>
        <p:txBody>
          <a:bodyPr wrap="square" lIns="0" rIns="0" tIns="0" bIns="0" anchor="ctr">
            <a:spAutoFit/>
          </a:bodyPr>
          <a:lstStyle/>
          <a:p>
            <a:pPr algn="l"/>
            <a:r>
              <a:rPr sz="1200" b="0" i="0">
                <a:solidFill>
                  <a:srgbClr val="E6F1FF"/>
                </a:solidFill>
                <a:latin typeface="Segoe UI"/>
              </a:rPr>
              <a:t>Clés d'API et tokens applicatifs</a:t>
            </a:r>
          </a:p>
        </p:txBody>
      </p:sp>
      <p:sp>
        <p:nvSpPr>
          <p:cNvPr id="27" name="Rounded Rectangle 26"/>
          <p:cNvSpPr/>
          <p:nvPr/>
        </p:nvSpPr>
        <p:spPr>
          <a:xfrm>
            <a:off x="6858000" y="4398264"/>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040880" y="4581144"/>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4489704"/>
            <a:ext cx="4297680" cy="365760"/>
          </a:xfrm>
          <a:prstGeom prst="rect">
            <a:avLst/>
          </a:prstGeom>
          <a:noFill/>
        </p:spPr>
        <p:txBody>
          <a:bodyPr wrap="square" lIns="0" rIns="0" tIns="0" bIns="0" anchor="ctr">
            <a:spAutoFit/>
          </a:bodyPr>
          <a:lstStyle/>
          <a:p>
            <a:pPr algn="l"/>
            <a:r>
              <a:rPr sz="1200" b="0" i="0">
                <a:solidFill>
                  <a:srgbClr val="E6F1FF"/>
                </a:solidFill>
                <a:latin typeface="Segoe UI"/>
              </a:rPr>
              <a:t>Secrets cloud AWS / Azure / GCP</a:t>
            </a:r>
          </a:p>
        </p:txBody>
      </p:sp>
      <p:sp>
        <p:nvSpPr>
          <p:cNvPr id="30" name="Rounded Rectangle 29"/>
          <p:cNvSpPr/>
          <p:nvPr/>
        </p:nvSpPr>
        <p:spPr>
          <a:xfrm>
            <a:off x="6858000" y="4965192"/>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40880" y="5148072"/>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0" y="5056632"/>
            <a:ext cx="4297680" cy="365760"/>
          </a:xfrm>
          <a:prstGeom prst="rect">
            <a:avLst/>
          </a:prstGeom>
          <a:noFill/>
        </p:spPr>
        <p:txBody>
          <a:bodyPr wrap="square" lIns="0" rIns="0" tIns="0" bIns="0" anchor="ctr">
            <a:spAutoFit/>
          </a:bodyPr>
          <a:lstStyle/>
          <a:p>
            <a:pPr algn="l"/>
            <a:r>
              <a:rPr sz="1200" b="0" i="0">
                <a:solidFill>
                  <a:srgbClr val="E6F1FF"/>
                </a:solidFill>
                <a:latin typeface="Segoe UI"/>
              </a:rPr>
              <a:t>Tokens JWT et clés privées</a:t>
            </a:r>
          </a:p>
        </p:txBody>
      </p:sp>
      <p:sp>
        <p:nvSpPr>
          <p:cNvPr id="33" name="Rounded Rectangle 32"/>
          <p:cNvSpPr/>
          <p:nvPr/>
        </p:nvSpPr>
        <p:spPr>
          <a:xfrm>
            <a:off x="6858000" y="5532120"/>
            <a:ext cx="4846320" cy="5029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40880" y="5715000"/>
            <a:ext cx="137160" cy="137160"/>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5623560"/>
            <a:ext cx="4297680" cy="365760"/>
          </a:xfrm>
          <a:prstGeom prst="rect">
            <a:avLst/>
          </a:prstGeom>
          <a:noFill/>
        </p:spPr>
        <p:txBody>
          <a:bodyPr wrap="square" lIns="0" rIns="0" tIns="0" bIns="0" anchor="ctr">
            <a:spAutoFit/>
          </a:bodyPr>
          <a:lstStyle/>
          <a:p>
            <a:pPr algn="l"/>
            <a:r>
              <a:rPr sz="1200" b="0" i="0">
                <a:solidFill>
                  <a:srgbClr val="E6F1FF"/>
                </a:solidFill>
                <a:latin typeface="Segoe UI"/>
              </a:rPr>
              <a:t>Fichiers Docker / Kubernetes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08</a:t>
            </a:r>
          </a:p>
        </p:txBody>
      </p:sp>
      <p:sp>
        <p:nvSpPr>
          <p:cNvPr id="6" name="Rectangle 5"/>
          <p:cNvSpPr/>
          <p:nvPr/>
        </p:nvSpPr>
        <p:spPr>
          <a:xfrm>
            <a:off x="11094415" y="457200"/>
            <a:ext cx="640080" cy="640080"/>
          </a:xfrm>
          <a:prstGeom prst="rect">
            <a:avLst/>
          </a:prstGeom>
          <a:solidFill>
            <a:srgbClr val="0A192F"/>
          </a:solidFill>
          <a:ln w="2540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5E81AC"/>
                </a:solidFill>
                <a:latin typeface="Segoe UI Black"/>
              </a:rPr>
              <a:t>08</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MÉCANISME D'ACCÈS &amp; ORGANISATION DES REQUÊTES</a:t>
            </a:r>
          </a:p>
        </p:txBody>
      </p:sp>
      <p:cxnSp>
        <p:nvCxnSpPr>
          <p:cNvPr id="10" name="Connector 9"/>
          <p:cNvCxnSpPr/>
          <p:nvPr/>
        </p:nvCxnSpPr>
        <p:spPr>
          <a:xfrm>
            <a:off x="640080" y="1371600"/>
            <a:ext cx="2743200" cy="0"/>
          </a:xfrm>
          <a:prstGeom prst="line">
            <a:avLst/>
          </a:prstGeom>
          <a:ln w="19050">
            <a:solidFill>
              <a:srgbClr val="5E81A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64FFDA"/>
                </a:solidFill>
                <a:latin typeface="Segoe UI"/>
              </a:rPr>
              <a:t>FLUX DE COLLECTE</a:t>
            </a:r>
          </a:p>
        </p:txBody>
      </p:sp>
      <p:sp>
        <p:nvSpPr>
          <p:cNvPr id="14" name="Rounded Rectangle 13"/>
          <p:cNvSpPr/>
          <p:nvPr/>
        </p:nvSpPr>
        <p:spPr>
          <a:xfrm>
            <a:off x="640080" y="1828800"/>
            <a:ext cx="3383280" cy="1005840"/>
          </a:xfrm>
          <a:prstGeom prst="roundRect">
            <a:avLst>
              <a:gd name="adj" fmla="val 5000"/>
            </a:avLst>
          </a:prstGeom>
          <a:solidFill>
            <a:srgbClr val="112240">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965960"/>
            <a:ext cx="3383280" cy="457200"/>
          </a:xfrm>
          <a:prstGeom prst="rect">
            <a:avLst/>
          </a:prstGeom>
          <a:noFill/>
        </p:spPr>
        <p:txBody>
          <a:bodyPr wrap="square" lIns="0" rIns="0" tIns="0" bIns="0" anchor="t">
            <a:spAutoFit/>
          </a:bodyPr>
          <a:lstStyle/>
          <a:p>
            <a:pPr algn="ctr"/>
            <a:r>
              <a:rPr sz="1400" b="1" i="0">
                <a:solidFill>
                  <a:srgbClr val="5E81AC"/>
                </a:solidFill>
                <a:latin typeface="Segoe UI"/>
              </a:rPr>
              <a:t>Token GitHub</a:t>
            </a:r>
          </a:p>
        </p:txBody>
      </p:sp>
      <p:sp>
        <p:nvSpPr>
          <p:cNvPr id="16" name="TextBox 15"/>
          <p:cNvSpPr txBox="1"/>
          <p:nvPr/>
        </p:nvSpPr>
        <p:spPr>
          <a:xfrm>
            <a:off x="64008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Auth + quota élevé</a:t>
            </a:r>
          </a:p>
        </p:txBody>
      </p:sp>
      <p:cxnSp>
        <p:nvCxnSpPr>
          <p:cNvPr id="17" name="Connector 16"/>
          <p:cNvCxnSpPr/>
          <p:nvPr/>
        </p:nvCxnSpPr>
        <p:spPr>
          <a:xfrm>
            <a:off x="4069080" y="2331720.0"/>
            <a:ext cx="320040" cy="0.0"/>
          </a:xfrm>
          <a:prstGeom prst="line">
            <a:avLst/>
          </a:prstGeom>
          <a:ln w="31750">
            <a:solidFill>
              <a:srgbClr val="64FF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34840" y="1828800"/>
            <a:ext cx="3383280" cy="1005840"/>
          </a:xfrm>
          <a:prstGeom prst="roundRect">
            <a:avLst>
              <a:gd name="adj" fmla="val 5000"/>
            </a:avLst>
          </a:prstGeom>
          <a:solidFill>
            <a:srgbClr val="112240">
              <a:alpha val="60000"/>
            </a:srgbClr>
          </a:solidFill>
          <a:ln w="1905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1965960"/>
            <a:ext cx="3383280" cy="457200"/>
          </a:xfrm>
          <a:prstGeom prst="rect">
            <a:avLst/>
          </a:prstGeom>
          <a:noFill/>
        </p:spPr>
        <p:txBody>
          <a:bodyPr wrap="square" lIns="0" rIns="0" tIns="0" bIns="0" anchor="t">
            <a:spAutoFit/>
          </a:bodyPr>
          <a:lstStyle/>
          <a:p>
            <a:pPr algn="ctr"/>
            <a:r>
              <a:rPr sz="1400" b="1" i="0">
                <a:solidFill>
                  <a:srgbClr val="64FFDA"/>
                </a:solidFill>
                <a:latin typeface="Segoe UI"/>
              </a:rPr>
              <a:t>GitHub Code Search</a:t>
            </a:r>
          </a:p>
        </p:txBody>
      </p:sp>
      <p:sp>
        <p:nvSpPr>
          <p:cNvPr id="20" name="TextBox 19"/>
          <p:cNvSpPr txBox="1"/>
          <p:nvPr/>
        </p:nvSpPr>
        <p:spPr>
          <a:xfrm>
            <a:off x="443484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API officielle</a:t>
            </a:r>
          </a:p>
        </p:txBody>
      </p:sp>
      <p:cxnSp>
        <p:nvCxnSpPr>
          <p:cNvPr id="21" name="Connector 20"/>
          <p:cNvCxnSpPr/>
          <p:nvPr/>
        </p:nvCxnSpPr>
        <p:spPr>
          <a:xfrm>
            <a:off x="7863840" y="2331720.0"/>
            <a:ext cx="320040" cy="0.0"/>
          </a:xfrm>
          <a:prstGeom prst="line">
            <a:avLst/>
          </a:prstGeom>
          <a:ln w="31750">
            <a:solidFill>
              <a:srgbClr val="64FF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29600" y="1828800"/>
            <a:ext cx="3383280" cy="1005840"/>
          </a:xfrm>
          <a:prstGeom prst="roundRect">
            <a:avLst>
              <a:gd name="adj" fmla="val 5000"/>
            </a:avLst>
          </a:prstGeom>
          <a:solidFill>
            <a:srgbClr val="112240">
              <a:alpha val="60000"/>
            </a:srgbClr>
          </a:solidFill>
          <a:ln w="1905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1965960"/>
            <a:ext cx="3383280" cy="457200"/>
          </a:xfrm>
          <a:prstGeom prst="rect">
            <a:avLst/>
          </a:prstGeom>
          <a:noFill/>
        </p:spPr>
        <p:txBody>
          <a:bodyPr wrap="square" lIns="0" rIns="0" tIns="0" bIns="0" anchor="t">
            <a:spAutoFit/>
          </a:bodyPr>
          <a:lstStyle/>
          <a:p>
            <a:pPr algn="ctr"/>
            <a:r>
              <a:rPr sz="1400" b="1" i="0">
                <a:solidFill>
                  <a:srgbClr val="EBCB8B"/>
                </a:solidFill>
                <a:latin typeface="Segoe UI"/>
              </a:rPr>
              <a:t>global_risks.yml</a:t>
            </a:r>
          </a:p>
        </p:txBody>
      </p:sp>
      <p:sp>
        <p:nvSpPr>
          <p:cNvPr id="24" name="TextBox 23"/>
          <p:cNvSpPr txBox="1"/>
          <p:nvPr/>
        </p:nvSpPr>
        <p:spPr>
          <a:xfrm>
            <a:off x="8229600" y="2377440"/>
            <a:ext cx="3383280" cy="365760"/>
          </a:xfrm>
          <a:prstGeom prst="rect">
            <a:avLst/>
          </a:prstGeom>
          <a:noFill/>
        </p:spPr>
        <p:txBody>
          <a:bodyPr wrap="square" lIns="0" rIns="0" tIns="0" bIns="0" anchor="t">
            <a:spAutoFit/>
          </a:bodyPr>
          <a:lstStyle/>
          <a:p>
            <a:pPr algn="ctr"/>
            <a:r>
              <a:rPr sz="1100" b="0" i="0">
                <a:solidFill>
                  <a:srgbClr val="CCD6F6"/>
                </a:solidFill>
                <a:latin typeface="Segoe UI"/>
              </a:rPr>
              <a:t>Requêtes catégorisées</a:t>
            </a:r>
          </a:p>
        </p:txBody>
      </p:sp>
      <p:sp>
        <p:nvSpPr>
          <p:cNvPr id="25" name="TextBox 24"/>
          <p:cNvSpPr txBox="1"/>
          <p:nvPr/>
        </p:nvSpPr>
        <p:spPr>
          <a:xfrm>
            <a:off x="502920" y="3200400"/>
            <a:ext cx="6400800" cy="365760"/>
          </a:xfrm>
          <a:prstGeom prst="rect">
            <a:avLst/>
          </a:prstGeom>
          <a:noFill/>
        </p:spPr>
        <p:txBody>
          <a:bodyPr wrap="square" lIns="0" rIns="0" tIns="0" bIns="0" anchor="t">
            <a:spAutoFit/>
          </a:bodyPr>
          <a:lstStyle/>
          <a:p>
            <a:pPr algn="l"/>
            <a:r>
              <a:rPr sz="900" b="1" i="0">
                <a:solidFill>
                  <a:srgbClr val="64FFDA"/>
                </a:solidFill>
                <a:latin typeface="Segoe UI"/>
              </a:rPr>
              <a:t>CATÉGORIES DE RISQUES CONFIGURÉES</a:t>
            </a:r>
          </a:p>
        </p:txBody>
      </p:sp>
      <p:sp>
        <p:nvSpPr>
          <p:cNvPr id="26" name="Rounded Rectangle 25"/>
          <p:cNvSpPr/>
          <p:nvPr/>
        </p:nvSpPr>
        <p:spPr>
          <a:xfrm>
            <a:off x="502920" y="361188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361188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749040"/>
            <a:ext cx="2788920" cy="365760"/>
          </a:xfrm>
          <a:prstGeom prst="rect">
            <a:avLst/>
          </a:prstGeom>
          <a:noFill/>
        </p:spPr>
        <p:txBody>
          <a:bodyPr wrap="square" lIns="0" rIns="0" tIns="0" bIns="0" anchor="t">
            <a:spAutoFit/>
          </a:bodyPr>
          <a:lstStyle/>
          <a:p>
            <a:pPr algn="l"/>
            <a:r>
              <a:rPr sz="1200" b="1" i="0">
                <a:solidFill>
                  <a:srgbClr val="E6F1FF"/>
                </a:solidFill>
                <a:latin typeface="Segoe UI"/>
              </a:rPr>
              <a:t>Environment Files</a:t>
            </a:r>
          </a:p>
        </p:txBody>
      </p:sp>
      <p:sp>
        <p:nvSpPr>
          <p:cNvPr id="29" name="TextBox 28"/>
          <p:cNvSpPr txBox="1"/>
          <p:nvPr/>
        </p:nvSpPr>
        <p:spPr>
          <a:xfrm>
            <a:off x="731520" y="4114800"/>
            <a:ext cx="2788920" cy="365760"/>
          </a:xfrm>
          <a:prstGeom prst="rect">
            <a:avLst/>
          </a:prstGeom>
          <a:noFill/>
        </p:spPr>
        <p:txBody>
          <a:bodyPr wrap="square" lIns="0" rIns="0" tIns="0" bIns="0" anchor="t">
            <a:spAutoFit/>
          </a:bodyPr>
          <a:lstStyle/>
          <a:p>
            <a:pPr algn="l"/>
            <a:r>
              <a:rPr sz="1000" b="0" i="1">
                <a:solidFill>
                  <a:srgbClr val="CCD6F6"/>
                </a:solidFill>
                <a:latin typeface="Segoe UI"/>
              </a:rPr>
              <a:t>.env, DATABASE_URL</a:t>
            </a:r>
          </a:p>
        </p:txBody>
      </p:sp>
      <p:sp>
        <p:nvSpPr>
          <p:cNvPr id="30" name="Rounded Rectangle 29"/>
          <p:cNvSpPr/>
          <p:nvPr/>
        </p:nvSpPr>
        <p:spPr>
          <a:xfrm>
            <a:off x="3749040" y="361188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49040" y="361188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7640" y="3749040"/>
            <a:ext cx="2788920" cy="365760"/>
          </a:xfrm>
          <a:prstGeom prst="rect">
            <a:avLst/>
          </a:prstGeom>
          <a:noFill/>
        </p:spPr>
        <p:txBody>
          <a:bodyPr wrap="square" lIns="0" rIns="0" tIns="0" bIns="0" anchor="t">
            <a:spAutoFit/>
          </a:bodyPr>
          <a:lstStyle/>
          <a:p>
            <a:pPr algn="l"/>
            <a:r>
              <a:rPr sz="1200" b="1" i="0">
                <a:solidFill>
                  <a:srgbClr val="E6F1FF"/>
                </a:solidFill>
                <a:latin typeface="Segoe UI"/>
              </a:rPr>
              <a:t>Database Credentials</a:t>
            </a:r>
          </a:p>
        </p:txBody>
      </p:sp>
      <p:sp>
        <p:nvSpPr>
          <p:cNvPr id="33" name="TextBox 32"/>
          <p:cNvSpPr txBox="1"/>
          <p:nvPr/>
        </p:nvSpPr>
        <p:spPr>
          <a:xfrm>
            <a:off x="3977640" y="4114800"/>
            <a:ext cx="2788920" cy="365760"/>
          </a:xfrm>
          <a:prstGeom prst="rect">
            <a:avLst/>
          </a:prstGeom>
          <a:noFill/>
        </p:spPr>
        <p:txBody>
          <a:bodyPr wrap="square" lIns="0" rIns="0" tIns="0" bIns="0" anchor="t">
            <a:spAutoFit/>
          </a:bodyPr>
          <a:lstStyle/>
          <a:p>
            <a:pPr algn="l"/>
            <a:r>
              <a:rPr sz="1000" b="0" i="1">
                <a:solidFill>
                  <a:srgbClr val="CCD6F6"/>
                </a:solidFill>
                <a:latin typeface="Segoe UI"/>
              </a:rPr>
              <a:t>PG, MySQL, Mongo, Supabase</a:t>
            </a:r>
          </a:p>
        </p:txBody>
      </p:sp>
      <p:sp>
        <p:nvSpPr>
          <p:cNvPr id="34" name="Rounded Rectangle 33"/>
          <p:cNvSpPr/>
          <p:nvPr/>
        </p:nvSpPr>
        <p:spPr>
          <a:xfrm>
            <a:off x="502920" y="466344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466344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800600"/>
            <a:ext cx="2788920" cy="365760"/>
          </a:xfrm>
          <a:prstGeom prst="rect">
            <a:avLst/>
          </a:prstGeom>
          <a:noFill/>
        </p:spPr>
        <p:txBody>
          <a:bodyPr wrap="square" lIns="0" rIns="0" tIns="0" bIns="0" anchor="t">
            <a:spAutoFit/>
          </a:bodyPr>
          <a:lstStyle/>
          <a:p>
            <a:pPr algn="l"/>
            <a:r>
              <a:rPr sz="1200" b="1" i="0">
                <a:solidFill>
                  <a:srgbClr val="E6F1FF"/>
                </a:solidFill>
                <a:latin typeface="Segoe UI"/>
              </a:rPr>
              <a:t>API Keys &amp; Tokens</a:t>
            </a:r>
          </a:p>
        </p:txBody>
      </p:sp>
      <p:sp>
        <p:nvSpPr>
          <p:cNvPr id="37" name="TextBox 36"/>
          <p:cNvSpPr txBox="1"/>
          <p:nvPr/>
        </p:nvSpPr>
        <p:spPr>
          <a:xfrm>
            <a:off x="731520" y="5166360"/>
            <a:ext cx="2788920" cy="365760"/>
          </a:xfrm>
          <a:prstGeom prst="rect">
            <a:avLst/>
          </a:prstGeom>
          <a:noFill/>
        </p:spPr>
        <p:txBody>
          <a:bodyPr wrap="square" lIns="0" rIns="0" tIns="0" bIns="0" anchor="t">
            <a:spAutoFit/>
          </a:bodyPr>
          <a:lstStyle/>
          <a:p>
            <a:pPr algn="l"/>
            <a:r>
              <a:rPr sz="1000" b="0" i="1">
                <a:solidFill>
                  <a:srgbClr val="CCD6F6"/>
                </a:solidFill>
                <a:latin typeface="Segoe UI"/>
              </a:rPr>
              <a:t>Service tokens applicatifs</a:t>
            </a:r>
          </a:p>
        </p:txBody>
      </p:sp>
      <p:sp>
        <p:nvSpPr>
          <p:cNvPr id="38" name="Rounded Rectangle 37"/>
          <p:cNvSpPr/>
          <p:nvPr/>
        </p:nvSpPr>
        <p:spPr>
          <a:xfrm>
            <a:off x="3749040" y="466344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749040" y="466344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77640" y="4800600"/>
            <a:ext cx="2788920" cy="365760"/>
          </a:xfrm>
          <a:prstGeom prst="rect">
            <a:avLst/>
          </a:prstGeom>
          <a:noFill/>
        </p:spPr>
        <p:txBody>
          <a:bodyPr wrap="square" lIns="0" rIns="0" tIns="0" bIns="0" anchor="t">
            <a:spAutoFit/>
          </a:bodyPr>
          <a:lstStyle/>
          <a:p>
            <a:pPr algn="l"/>
            <a:r>
              <a:rPr sz="1200" b="1" i="0">
                <a:solidFill>
                  <a:srgbClr val="E6F1FF"/>
                </a:solidFill>
                <a:latin typeface="Segoe UI"/>
              </a:rPr>
              <a:t>Cloud Secrets</a:t>
            </a:r>
          </a:p>
        </p:txBody>
      </p:sp>
      <p:sp>
        <p:nvSpPr>
          <p:cNvPr id="41" name="TextBox 40"/>
          <p:cNvSpPr txBox="1"/>
          <p:nvPr/>
        </p:nvSpPr>
        <p:spPr>
          <a:xfrm>
            <a:off x="3977640" y="5166360"/>
            <a:ext cx="2788920" cy="365760"/>
          </a:xfrm>
          <a:prstGeom prst="rect">
            <a:avLst/>
          </a:prstGeom>
          <a:noFill/>
        </p:spPr>
        <p:txBody>
          <a:bodyPr wrap="square" lIns="0" rIns="0" tIns="0" bIns="0" anchor="t">
            <a:spAutoFit/>
          </a:bodyPr>
          <a:lstStyle/>
          <a:p>
            <a:pPr algn="l"/>
            <a:r>
              <a:rPr sz="1000" b="0" i="1">
                <a:solidFill>
                  <a:srgbClr val="CCD6F6"/>
                </a:solidFill>
                <a:latin typeface="Segoe UI"/>
              </a:rPr>
              <a:t>AWS, Azure, GCP</a:t>
            </a:r>
          </a:p>
        </p:txBody>
      </p:sp>
      <p:sp>
        <p:nvSpPr>
          <p:cNvPr id="42" name="Rounded Rectangle 41"/>
          <p:cNvSpPr/>
          <p:nvPr/>
        </p:nvSpPr>
        <p:spPr>
          <a:xfrm>
            <a:off x="502920" y="571500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71500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852160"/>
            <a:ext cx="2788920" cy="365760"/>
          </a:xfrm>
          <a:prstGeom prst="rect">
            <a:avLst/>
          </a:prstGeom>
          <a:noFill/>
        </p:spPr>
        <p:txBody>
          <a:bodyPr wrap="square" lIns="0" rIns="0" tIns="0" bIns="0" anchor="t">
            <a:spAutoFit/>
          </a:bodyPr>
          <a:lstStyle/>
          <a:p>
            <a:pPr algn="l"/>
            <a:r>
              <a:rPr sz="1200" b="1" i="0">
                <a:solidFill>
                  <a:srgbClr val="E6F1FF"/>
                </a:solidFill>
                <a:latin typeface="Segoe UI"/>
              </a:rPr>
              <a:t>JWT &amp; Private Keys</a:t>
            </a:r>
          </a:p>
        </p:txBody>
      </p:sp>
      <p:sp>
        <p:nvSpPr>
          <p:cNvPr id="45" name="TextBox 44"/>
          <p:cNvSpPr txBox="1"/>
          <p:nvPr/>
        </p:nvSpPr>
        <p:spPr>
          <a:xfrm>
            <a:off x="731520" y="6217920"/>
            <a:ext cx="2788920" cy="365760"/>
          </a:xfrm>
          <a:prstGeom prst="rect">
            <a:avLst/>
          </a:prstGeom>
          <a:noFill/>
        </p:spPr>
        <p:txBody>
          <a:bodyPr wrap="square" lIns="0" rIns="0" tIns="0" bIns="0" anchor="t">
            <a:spAutoFit/>
          </a:bodyPr>
          <a:lstStyle/>
          <a:p>
            <a:pPr algn="l"/>
            <a:r>
              <a:rPr sz="1000" b="0" i="1">
                <a:solidFill>
                  <a:srgbClr val="CCD6F6"/>
                </a:solidFill>
                <a:latin typeface="Segoe UI"/>
              </a:rPr>
              <a:t>Signing keys, PEM files</a:t>
            </a:r>
          </a:p>
        </p:txBody>
      </p:sp>
      <p:sp>
        <p:nvSpPr>
          <p:cNvPr id="46" name="Rounded Rectangle 45"/>
          <p:cNvSpPr/>
          <p:nvPr/>
        </p:nvSpPr>
        <p:spPr>
          <a:xfrm>
            <a:off x="3749040" y="5715000"/>
            <a:ext cx="3154680" cy="9601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49040" y="5715000"/>
            <a:ext cx="73152" cy="9601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77640" y="5852160"/>
            <a:ext cx="2788920" cy="365760"/>
          </a:xfrm>
          <a:prstGeom prst="rect">
            <a:avLst/>
          </a:prstGeom>
          <a:noFill/>
        </p:spPr>
        <p:txBody>
          <a:bodyPr wrap="square" lIns="0" rIns="0" tIns="0" bIns="0" anchor="t">
            <a:spAutoFit/>
          </a:bodyPr>
          <a:lstStyle/>
          <a:p>
            <a:pPr algn="l"/>
            <a:r>
              <a:rPr sz="1200" b="1" i="0">
                <a:solidFill>
                  <a:srgbClr val="E6F1FF"/>
                </a:solidFill>
                <a:latin typeface="Segoe UI"/>
              </a:rPr>
              <a:t>Docker / K8s Configs</a:t>
            </a:r>
          </a:p>
        </p:txBody>
      </p:sp>
      <p:sp>
        <p:nvSpPr>
          <p:cNvPr id="49" name="TextBox 48"/>
          <p:cNvSpPr txBox="1"/>
          <p:nvPr/>
        </p:nvSpPr>
        <p:spPr>
          <a:xfrm>
            <a:off x="3977640" y="6217920"/>
            <a:ext cx="2788920" cy="365760"/>
          </a:xfrm>
          <a:prstGeom prst="rect">
            <a:avLst/>
          </a:prstGeom>
          <a:noFill/>
        </p:spPr>
        <p:txBody>
          <a:bodyPr wrap="square" lIns="0" rIns="0" tIns="0" bIns="0" anchor="t">
            <a:spAutoFit/>
          </a:bodyPr>
          <a:lstStyle/>
          <a:p>
            <a:pPr algn="l"/>
            <a:r>
              <a:rPr sz="1000" b="0" i="1">
                <a:solidFill>
                  <a:srgbClr val="CCD6F6"/>
                </a:solidFill>
                <a:latin typeface="Segoe UI"/>
              </a:rPr>
              <a:t>Compose, secrets, manifests</a:t>
            </a:r>
          </a:p>
        </p:txBody>
      </p:sp>
      <p:sp>
        <p:nvSpPr>
          <p:cNvPr id="50" name="TextBox 49"/>
          <p:cNvSpPr txBox="1"/>
          <p:nvPr/>
        </p:nvSpPr>
        <p:spPr>
          <a:xfrm>
            <a:off x="7178040" y="3200400"/>
            <a:ext cx="4572000" cy="365760"/>
          </a:xfrm>
          <a:prstGeom prst="rect">
            <a:avLst/>
          </a:prstGeom>
          <a:noFill/>
        </p:spPr>
        <p:txBody>
          <a:bodyPr wrap="square" lIns="0" rIns="0" tIns="0" bIns="0" anchor="t">
            <a:spAutoFit/>
          </a:bodyPr>
          <a:lstStyle/>
          <a:p>
            <a:pPr algn="l"/>
            <a:r>
              <a:rPr sz="900" b="1" i="0">
                <a:solidFill>
                  <a:srgbClr val="64FFDA"/>
                </a:solidFill>
                <a:latin typeface="Segoe UI"/>
              </a:rPr>
              <a:t>INTERFACE GITHUB INTELLIGENCE</a:t>
            </a:r>
          </a:p>
        </p:txBody>
      </p:sp>
      <p:sp>
        <p:nvSpPr>
          <p:cNvPr id="51" name="Rounded Rectangle 50"/>
          <p:cNvSpPr/>
          <p:nvPr/>
        </p:nvSpPr>
        <p:spPr>
          <a:xfrm>
            <a:off x="7040880" y="3566160"/>
            <a:ext cx="4800600" cy="27432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github_1.png"/>
          <p:cNvPicPr>
            <a:picLocks noChangeAspect="1"/>
          </p:cNvPicPr>
          <p:nvPr/>
        </p:nvPicPr>
        <p:blipFill>
          <a:blip r:embed="rId2"/>
          <a:stretch>
            <a:fillRect/>
          </a:stretch>
        </p:blipFill>
        <p:spPr>
          <a:xfrm>
            <a:off x="7178040" y="3703320"/>
            <a:ext cx="4526280" cy="25429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09</a:t>
            </a:r>
          </a:p>
        </p:txBody>
      </p:sp>
      <p:sp>
        <p:nvSpPr>
          <p:cNvPr id="6" name="Rectangle 5"/>
          <p:cNvSpPr/>
          <p:nvPr/>
        </p:nvSpPr>
        <p:spPr>
          <a:xfrm>
            <a:off x="11094415" y="457200"/>
            <a:ext cx="640080" cy="640080"/>
          </a:xfrm>
          <a:prstGeom prst="rect">
            <a:avLst/>
          </a:prstGeom>
          <a:solidFill>
            <a:srgbClr val="0A192F"/>
          </a:solidFill>
          <a:ln w="2540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5E81AC"/>
                </a:solidFill>
                <a:latin typeface="Segoe UI Black"/>
              </a:rPr>
              <a:t>09</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5E81AC"/>
                </a:solidFill>
                <a:latin typeface="Segoe UI Semibold"/>
              </a:rPr>
              <a:t>GITHUB MONITORING — CAS DÉTECTÉ</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EXEMPLE RÉEL D'EXPOSITION CRITIQUE</a:t>
            </a:r>
          </a:p>
        </p:txBody>
      </p:sp>
      <p:cxnSp>
        <p:nvCxnSpPr>
          <p:cNvPr id="10" name="Connector 9"/>
          <p:cNvCxnSpPr/>
          <p:nvPr/>
        </p:nvCxnSpPr>
        <p:spPr>
          <a:xfrm>
            <a:off x="640080" y="1371600"/>
            <a:ext cx="2743200" cy="0"/>
          </a:xfrm>
          <a:prstGeom prst="line">
            <a:avLst/>
          </a:prstGeom>
          <a:ln w="19050">
            <a:solidFill>
              <a:srgbClr val="5E81A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5E8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1371600"/>
            <a:ext cx="914400" cy="329184"/>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E6F1FF"/>
                </a:solidFill>
                <a:latin typeface="Segoe UI"/>
              </a:rPr>
              <a:t>HIGH</a:t>
            </a:r>
          </a:p>
        </p:txBody>
      </p:sp>
      <p:sp>
        <p:nvSpPr>
          <p:cNvPr id="14" name="Rounded Rectangle 13"/>
          <p:cNvSpPr/>
          <p:nvPr/>
        </p:nvSpPr>
        <p:spPr>
          <a:xfrm>
            <a:off x="1508760" y="1371600"/>
            <a:ext cx="1554480" cy="329184"/>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SECRET EXPOSURE</a:t>
            </a:r>
          </a:p>
        </p:txBody>
      </p:sp>
      <p:sp>
        <p:nvSpPr>
          <p:cNvPr id="15" name="TextBox 14"/>
          <p:cNvSpPr txBox="1"/>
          <p:nvPr/>
        </p:nvSpPr>
        <p:spPr>
          <a:xfrm>
            <a:off x="3200400" y="1371600"/>
            <a:ext cx="8229600" cy="329184"/>
          </a:xfrm>
          <a:prstGeom prst="rect">
            <a:avLst/>
          </a:prstGeom>
          <a:noFill/>
        </p:spPr>
        <p:txBody>
          <a:bodyPr wrap="square" lIns="0" rIns="0" tIns="0" bIns="0" anchor="ctr">
            <a:spAutoFit/>
          </a:bodyPr>
          <a:lstStyle/>
          <a:p>
            <a:pPr algn="l"/>
            <a:r>
              <a:rPr sz="1200" b="0" i="1">
                <a:solidFill>
                  <a:srgbClr val="CCD6F6"/>
                </a:solidFill>
                <a:latin typeface="Segoe UI"/>
              </a:rPr>
              <a:t>Fichier de configuration applicatif exposé publiquement</a:t>
            </a:r>
          </a:p>
        </p:txBody>
      </p:sp>
      <p:sp>
        <p:nvSpPr>
          <p:cNvPr id="16" name="TextBox 15"/>
          <p:cNvSpPr txBox="1"/>
          <p:nvPr/>
        </p:nvSpPr>
        <p:spPr>
          <a:xfrm>
            <a:off x="502920" y="1828800"/>
            <a:ext cx="6675120" cy="365760"/>
          </a:xfrm>
          <a:prstGeom prst="rect">
            <a:avLst/>
          </a:prstGeom>
          <a:noFill/>
        </p:spPr>
        <p:txBody>
          <a:bodyPr wrap="square" lIns="0" rIns="0" tIns="0" bIns="0" anchor="t">
            <a:spAutoFit/>
          </a:bodyPr>
          <a:lstStyle/>
          <a:p>
            <a:pPr algn="l"/>
            <a:r>
              <a:rPr sz="900" b="1" i="0">
                <a:solidFill>
                  <a:srgbClr val="BF616A"/>
                </a:solidFill>
                <a:latin typeface="Segoe UI"/>
              </a:rPr>
              <a:t>CONTENU DÉTECTÉ DANS LE DÉPÔT</a:t>
            </a:r>
          </a:p>
        </p:txBody>
      </p:sp>
      <p:sp>
        <p:nvSpPr>
          <p:cNvPr id="17" name="Rounded Rectangle 16"/>
          <p:cNvSpPr/>
          <p:nvPr/>
        </p:nvSpPr>
        <p:spPr>
          <a:xfrm>
            <a:off x="365760" y="2194560"/>
            <a:ext cx="694944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hubexposure.png"/>
          <p:cNvPicPr>
            <a:picLocks noChangeAspect="1"/>
          </p:cNvPicPr>
          <p:nvPr/>
        </p:nvPicPr>
        <p:blipFill>
          <a:blip r:embed="rId2"/>
          <a:stretch>
            <a:fillRect/>
          </a:stretch>
        </p:blipFill>
        <p:spPr>
          <a:xfrm>
            <a:off x="502920" y="2331720"/>
            <a:ext cx="6675120" cy="8766863"/>
          </a:xfrm>
          <a:prstGeom prst="rect">
            <a:avLst/>
          </a:prstGeom>
        </p:spPr>
      </p:pic>
      <p:sp>
        <p:nvSpPr>
          <p:cNvPr id="19" name="TextBox 18"/>
          <p:cNvSpPr txBox="1"/>
          <p:nvPr/>
        </p:nvSpPr>
        <p:spPr>
          <a:xfrm>
            <a:off x="7543800" y="1828800"/>
            <a:ext cx="4297680" cy="365760"/>
          </a:xfrm>
          <a:prstGeom prst="rect">
            <a:avLst/>
          </a:prstGeom>
          <a:noFill/>
        </p:spPr>
        <p:txBody>
          <a:bodyPr wrap="square" lIns="0" rIns="0" tIns="0" bIns="0" anchor="t">
            <a:spAutoFit/>
          </a:bodyPr>
          <a:lstStyle/>
          <a:p>
            <a:pPr algn="l"/>
            <a:r>
              <a:rPr sz="900" b="1" i="0">
                <a:solidFill>
                  <a:srgbClr val="64FFDA"/>
                </a:solidFill>
                <a:latin typeface="Segoe UI"/>
              </a:rPr>
              <a:t>ANALYSE DE L'INCIDENT</a:t>
            </a:r>
          </a:p>
        </p:txBody>
      </p:sp>
      <p:sp>
        <p:nvSpPr>
          <p:cNvPr id="20" name="Rounded Rectangle 19"/>
          <p:cNvSpPr/>
          <p:nvPr/>
        </p:nvSpPr>
        <p:spPr>
          <a:xfrm>
            <a:off x="7543800" y="2194560"/>
            <a:ext cx="4297680" cy="4114800"/>
          </a:xfrm>
          <a:prstGeom prst="roundRect">
            <a:avLst>
              <a:gd name="adj" fmla="val 5000"/>
            </a:avLst>
          </a:prstGeom>
          <a:solidFill>
            <a:srgbClr val="112240">
              <a:alpha val="60000"/>
            </a:srgbClr>
          </a:solidFill>
          <a:ln w="1524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2331720"/>
            <a:ext cx="3840480" cy="365760"/>
          </a:xfrm>
          <a:prstGeom prst="rect">
            <a:avLst/>
          </a:prstGeom>
          <a:noFill/>
        </p:spPr>
        <p:txBody>
          <a:bodyPr wrap="square" lIns="0" rIns="0" tIns="0" bIns="0" anchor="t">
            <a:spAutoFit/>
          </a:bodyPr>
          <a:lstStyle/>
          <a:p>
            <a:pPr algn="l"/>
            <a:r>
              <a:rPr sz="1100" b="1" i="0">
                <a:solidFill>
                  <a:srgbClr val="E6F1FF"/>
                </a:solidFill>
                <a:latin typeface="Segoe UI"/>
              </a:rPr>
              <a:t>Informations sensibles détectées :</a:t>
            </a:r>
          </a:p>
        </p:txBody>
      </p:sp>
      <p:sp>
        <p:nvSpPr>
          <p:cNvPr id="22" name="Rounded Rectangle 21"/>
          <p:cNvSpPr/>
          <p:nvPr/>
        </p:nvSpPr>
        <p:spPr>
          <a:xfrm>
            <a:off x="7726680" y="2743200"/>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836408" y="2880360"/>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SMTP</a:t>
            </a:r>
          </a:p>
        </p:txBody>
      </p:sp>
      <p:sp>
        <p:nvSpPr>
          <p:cNvPr id="24" name="TextBox 23"/>
          <p:cNvSpPr txBox="1"/>
          <p:nvPr/>
        </p:nvSpPr>
        <p:spPr>
          <a:xfrm>
            <a:off x="8778240" y="2834640"/>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Identifiants Gmail (envoi d'emails)</a:t>
            </a:r>
          </a:p>
        </p:txBody>
      </p:sp>
      <p:sp>
        <p:nvSpPr>
          <p:cNvPr id="25" name="Rounded Rectangle 24"/>
          <p:cNvSpPr/>
          <p:nvPr/>
        </p:nvSpPr>
        <p:spPr>
          <a:xfrm>
            <a:off x="7726680" y="3529584"/>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836408" y="3666744"/>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DB URLs</a:t>
            </a:r>
          </a:p>
        </p:txBody>
      </p:sp>
      <p:sp>
        <p:nvSpPr>
          <p:cNvPr id="27" name="TextBox 26"/>
          <p:cNvSpPr txBox="1"/>
          <p:nvPr/>
        </p:nvSpPr>
        <p:spPr>
          <a:xfrm>
            <a:off x="8778240" y="3621024"/>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PostgreSQL / Supabase / Render</a:t>
            </a:r>
          </a:p>
          <a:p>
            <a:pPr algn="l">
              <a:lnSpc>
                <a:spcPct val="125000"/>
              </a:lnSpc>
            </a:pPr>
            <a:r>
              <a:rPr sz="1000" b="0" i="0">
                <a:solidFill>
                  <a:srgbClr val="E6F1FF"/>
                </a:solidFill>
                <a:latin typeface="Segoe UI"/>
              </a:rPr>
              <a:t>(user + password)</a:t>
            </a:r>
          </a:p>
        </p:txBody>
      </p:sp>
      <p:sp>
        <p:nvSpPr>
          <p:cNvPr id="28" name="Rounded Rectangle 27"/>
          <p:cNvSpPr/>
          <p:nvPr/>
        </p:nvSpPr>
        <p:spPr>
          <a:xfrm>
            <a:off x="7726680" y="4315968"/>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836408" y="4453128"/>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OAuth</a:t>
            </a:r>
          </a:p>
        </p:txBody>
      </p:sp>
      <p:sp>
        <p:nvSpPr>
          <p:cNvPr id="30" name="TextBox 29"/>
          <p:cNvSpPr txBox="1"/>
          <p:nvPr/>
        </p:nvSpPr>
        <p:spPr>
          <a:xfrm>
            <a:off x="8778240" y="4407408"/>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Secret Google OAuth</a:t>
            </a:r>
          </a:p>
        </p:txBody>
      </p:sp>
      <p:sp>
        <p:nvSpPr>
          <p:cNvPr id="31" name="Rounded Rectangle 30"/>
          <p:cNvSpPr/>
          <p:nvPr/>
        </p:nvSpPr>
        <p:spPr>
          <a:xfrm>
            <a:off x="7726680" y="5102352"/>
            <a:ext cx="3931920" cy="713232"/>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836408" y="5239512"/>
            <a:ext cx="822960" cy="310896"/>
          </a:xfrm>
          <a:prstGeom prst="roundRect">
            <a:avLst>
              <a:gd name="adj" fmla="val 50000"/>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E6F1FF"/>
                </a:solidFill>
                <a:latin typeface="Segoe UI"/>
              </a:rPr>
              <a:t>ENV</a:t>
            </a:r>
          </a:p>
        </p:txBody>
      </p:sp>
      <p:sp>
        <p:nvSpPr>
          <p:cNvPr id="33" name="TextBox 32"/>
          <p:cNvSpPr txBox="1"/>
          <p:nvPr/>
        </p:nvSpPr>
        <p:spPr>
          <a:xfrm>
            <a:off x="8778240" y="5193792"/>
            <a:ext cx="2880360" cy="594360"/>
          </a:xfrm>
          <a:prstGeom prst="rect">
            <a:avLst/>
          </a:prstGeom>
          <a:noFill/>
        </p:spPr>
        <p:txBody>
          <a:bodyPr wrap="square" lIns="0" rIns="0" tIns="0" bIns="0" anchor="t">
            <a:spAutoFit/>
          </a:bodyPr>
          <a:lstStyle/>
          <a:p>
            <a:pPr algn="l">
              <a:lnSpc>
                <a:spcPct val="125000"/>
              </a:lnSpc>
            </a:pPr>
            <a:r>
              <a:rPr sz="1000" b="0" i="0">
                <a:solidFill>
                  <a:srgbClr val="E6F1FF"/>
                </a:solidFill>
                <a:latin typeface="Segoe UI"/>
              </a:rPr>
              <a:t>HOST / PORT / USER / PASSWORD</a:t>
            </a:r>
          </a:p>
        </p:txBody>
      </p:sp>
      <p:sp>
        <p:nvSpPr>
          <p:cNvPr id="34" name="Rectangle 33"/>
          <p:cNvSpPr/>
          <p:nvPr/>
        </p:nvSpPr>
        <p:spPr>
          <a:xfrm>
            <a:off x="502920" y="6400800"/>
            <a:ext cx="11185855" cy="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355080"/>
            <a:ext cx="11247120" cy="320040"/>
          </a:xfrm>
          <a:prstGeom prst="rect">
            <a:avLst/>
          </a:prstGeom>
          <a:noFill/>
        </p:spPr>
        <p:txBody>
          <a:bodyPr wrap="square" lIns="0" rIns="0" tIns="0" bIns="0" anchor="t">
            <a:spAutoFit/>
          </a:bodyPr>
          <a:lstStyle/>
          <a:p>
            <a:pPr algn="l"/>
            <a:r>
              <a:rPr sz="1000" b="1" i="1">
                <a:solidFill>
                  <a:srgbClr val="EBCB8B"/>
                </a:solidFill>
                <a:latin typeface="Segoe UI"/>
              </a:rPr>
              <a:t>IMPACT  →  accès aux services backend, à la base de données et aux services tiers liés à l'application.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10</a:t>
            </a:r>
          </a:p>
        </p:txBody>
      </p:sp>
      <p:sp>
        <p:nvSpPr>
          <p:cNvPr id="6" name="Rectangle 5"/>
          <p:cNvSpPr/>
          <p:nvPr/>
        </p:nvSpPr>
        <p:spPr>
          <a:xfrm>
            <a:off x="11094415" y="457200"/>
            <a:ext cx="640080" cy="640080"/>
          </a:xfrm>
          <a:prstGeom prst="rect">
            <a:avLst/>
          </a:prstGeom>
          <a:solidFill>
            <a:srgbClr val="0A192F"/>
          </a:solidFill>
          <a:ln w="2540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EBCB8B"/>
                </a:solidFill>
                <a:latin typeface="Segoe UI Black"/>
              </a:rPr>
              <a:t>10</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SOURCE #2 — VEILLE COMMUNAUTAIRE &amp; OSINT</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TELEGRAM MONITORING — RÔLE &amp; CANAUX</a:t>
            </a:r>
          </a:p>
        </p:txBody>
      </p:sp>
      <p:cxnSp>
        <p:nvCxnSpPr>
          <p:cNvPr id="10" name="Connector 9"/>
          <p:cNvCxnSpPr/>
          <p:nvPr/>
        </p:nvCxnSpPr>
        <p:spPr>
          <a:xfrm>
            <a:off x="640080" y="1371600"/>
            <a:ext cx="2743200" cy="0"/>
          </a:xfrm>
          <a:prstGeom prst="line">
            <a:avLst/>
          </a:prstGeom>
          <a:ln w="19050">
            <a:solidFill>
              <a:srgbClr val="EBCB8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514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5147" y="1417320"/>
            <a:ext cx="73152" cy="77724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747" y="1490472"/>
            <a:ext cx="2331720" cy="365760"/>
          </a:xfrm>
          <a:prstGeom prst="rect">
            <a:avLst/>
          </a:prstGeom>
          <a:noFill/>
        </p:spPr>
        <p:txBody>
          <a:bodyPr wrap="square" lIns="0" rIns="0" tIns="0" bIns="0" anchor="t">
            <a:spAutoFit/>
          </a:bodyPr>
          <a:lstStyle/>
          <a:p>
            <a:pPr algn="l"/>
            <a:r>
              <a:rPr sz="2000" b="1" i="0">
                <a:solidFill>
                  <a:srgbClr val="EBCB8B"/>
                </a:solidFill>
                <a:latin typeface="Segoe UI"/>
              </a:rPr>
              <a:t>2</a:t>
            </a:r>
          </a:p>
        </p:txBody>
      </p:sp>
      <p:sp>
        <p:nvSpPr>
          <p:cNvPr id="16" name="TextBox 15"/>
          <p:cNvSpPr txBox="1"/>
          <p:nvPr/>
        </p:nvSpPr>
        <p:spPr>
          <a:xfrm>
            <a:off x="72374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canaux publics suivis</a:t>
            </a:r>
          </a:p>
        </p:txBody>
      </p:sp>
      <p:sp>
        <p:nvSpPr>
          <p:cNvPr id="17" name="Rounded Rectangle 16"/>
          <p:cNvSpPr/>
          <p:nvPr/>
        </p:nvSpPr>
        <p:spPr>
          <a:xfrm>
            <a:off x="332978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29787" y="1417320"/>
            <a:ext cx="73152" cy="7772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8387" y="1490472"/>
            <a:ext cx="2331720" cy="365760"/>
          </a:xfrm>
          <a:prstGeom prst="rect">
            <a:avLst/>
          </a:prstGeom>
          <a:noFill/>
        </p:spPr>
        <p:txBody>
          <a:bodyPr wrap="square" lIns="0" rIns="0" tIns="0" bIns="0" anchor="t">
            <a:spAutoFit/>
          </a:bodyPr>
          <a:lstStyle/>
          <a:p>
            <a:pPr algn="l"/>
            <a:r>
              <a:rPr sz="2000" b="1" i="0">
                <a:solidFill>
                  <a:srgbClr val="5E81AC"/>
                </a:solidFill>
                <a:latin typeface="Segoe UI"/>
              </a:rPr>
              <a:t>OSINT</a:t>
            </a:r>
          </a:p>
        </p:txBody>
      </p:sp>
      <p:sp>
        <p:nvSpPr>
          <p:cNvPr id="20" name="TextBox 19"/>
          <p:cNvSpPr txBox="1"/>
          <p:nvPr/>
        </p:nvSpPr>
        <p:spPr>
          <a:xfrm>
            <a:off x="355838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indications déclaratives</a:t>
            </a:r>
          </a:p>
        </p:txBody>
      </p:sp>
      <p:sp>
        <p:nvSpPr>
          <p:cNvPr id="21" name="Rounded Rectangle 20"/>
          <p:cNvSpPr/>
          <p:nvPr/>
        </p:nvSpPr>
        <p:spPr>
          <a:xfrm>
            <a:off x="616442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4427" y="1417320"/>
            <a:ext cx="73152" cy="77724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3027" y="1490472"/>
            <a:ext cx="2331720" cy="365760"/>
          </a:xfrm>
          <a:prstGeom prst="rect">
            <a:avLst/>
          </a:prstGeom>
          <a:noFill/>
        </p:spPr>
        <p:txBody>
          <a:bodyPr wrap="square" lIns="0" rIns="0" tIns="0" bIns="0" anchor="t">
            <a:spAutoFit/>
          </a:bodyPr>
          <a:lstStyle/>
          <a:p>
            <a:pPr algn="l"/>
            <a:r>
              <a:rPr sz="2000" b="1" i="0">
                <a:solidFill>
                  <a:srgbClr val="64FFDA"/>
                </a:solidFill>
                <a:latin typeface="Segoe UI"/>
              </a:rPr>
              <a:t>CVE</a:t>
            </a:r>
          </a:p>
        </p:txBody>
      </p:sp>
      <p:sp>
        <p:nvSpPr>
          <p:cNvPr id="24" name="TextBox 23"/>
          <p:cNvSpPr txBox="1"/>
          <p:nvPr/>
        </p:nvSpPr>
        <p:spPr>
          <a:xfrm>
            <a:off x="639302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vulnérabilités techniques</a:t>
            </a:r>
          </a:p>
        </p:txBody>
      </p:sp>
      <p:sp>
        <p:nvSpPr>
          <p:cNvPr id="25" name="Rounded Rectangle 24"/>
          <p:cNvSpPr/>
          <p:nvPr/>
        </p:nvSpPr>
        <p:spPr>
          <a:xfrm>
            <a:off x="8999067" y="141732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067" y="1417320"/>
            <a:ext cx="73152" cy="777240"/>
          </a:xfrm>
          <a:prstGeom prst="rect">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7667" y="1490472"/>
            <a:ext cx="2331720" cy="365760"/>
          </a:xfrm>
          <a:prstGeom prst="rect">
            <a:avLst/>
          </a:prstGeom>
          <a:noFill/>
        </p:spPr>
        <p:txBody>
          <a:bodyPr wrap="square" lIns="0" rIns="0" tIns="0" bIns="0" anchor="t">
            <a:spAutoFit/>
          </a:bodyPr>
          <a:lstStyle/>
          <a:p>
            <a:pPr algn="l"/>
            <a:r>
              <a:rPr sz="2000" b="1" i="0">
                <a:solidFill>
                  <a:srgbClr val="BF616A"/>
                </a:solidFill>
                <a:latin typeface="Segoe UI"/>
              </a:rPr>
              <a:t>Breaches</a:t>
            </a:r>
          </a:p>
        </p:txBody>
      </p:sp>
      <p:sp>
        <p:nvSpPr>
          <p:cNvPr id="28" name="TextBox 27"/>
          <p:cNvSpPr txBox="1"/>
          <p:nvPr/>
        </p:nvSpPr>
        <p:spPr>
          <a:xfrm>
            <a:off x="9227667" y="1874520"/>
            <a:ext cx="2331720" cy="274320"/>
          </a:xfrm>
          <a:prstGeom prst="rect">
            <a:avLst/>
          </a:prstGeom>
          <a:noFill/>
        </p:spPr>
        <p:txBody>
          <a:bodyPr wrap="square" lIns="0" rIns="0" tIns="0" bIns="0" anchor="t">
            <a:spAutoFit/>
          </a:bodyPr>
          <a:lstStyle/>
          <a:p>
            <a:pPr algn="l"/>
            <a:r>
              <a:rPr sz="1000" b="0" i="0">
                <a:solidFill>
                  <a:srgbClr val="CCD6F6"/>
                </a:solidFill>
                <a:latin typeface="Segoe UI"/>
              </a:rPr>
              <a:t>annonces de fuites</a:t>
            </a:r>
          </a:p>
        </p:txBody>
      </p:sp>
      <p:sp>
        <p:nvSpPr>
          <p:cNvPr id="29" name="TextBox 28"/>
          <p:cNvSpPr txBox="1"/>
          <p:nvPr/>
        </p:nvSpPr>
        <p:spPr>
          <a:xfrm>
            <a:off x="502920" y="2423160"/>
            <a:ext cx="6858000" cy="365760"/>
          </a:xfrm>
          <a:prstGeom prst="rect">
            <a:avLst/>
          </a:prstGeom>
          <a:noFill/>
        </p:spPr>
        <p:txBody>
          <a:bodyPr wrap="square" lIns="0" rIns="0" tIns="0" bIns="0" anchor="t">
            <a:spAutoFit/>
          </a:bodyPr>
          <a:lstStyle/>
          <a:p>
            <a:pPr algn="l"/>
            <a:r>
              <a:rPr sz="900" b="1" i="0">
                <a:solidFill>
                  <a:srgbClr val="EBCB8B"/>
                </a:solidFill>
                <a:latin typeface="Segoe UI"/>
              </a:rPr>
              <a:t>INTERFACE TELEGRAM MONITORING</a:t>
            </a:r>
          </a:p>
        </p:txBody>
      </p:sp>
      <p:sp>
        <p:nvSpPr>
          <p:cNvPr id="30" name="Rounded Rectangle 29"/>
          <p:cNvSpPr/>
          <p:nvPr/>
        </p:nvSpPr>
        <p:spPr>
          <a:xfrm>
            <a:off x="365760" y="2788920"/>
            <a:ext cx="7040880" cy="35204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tg_dash.png"/>
          <p:cNvPicPr>
            <a:picLocks noChangeAspect="1"/>
          </p:cNvPicPr>
          <p:nvPr/>
        </p:nvPicPr>
        <p:blipFill>
          <a:blip r:embed="rId2"/>
          <a:stretch>
            <a:fillRect/>
          </a:stretch>
        </p:blipFill>
        <p:spPr>
          <a:xfrm>
            <a:off x="502920" y="2926080"/>
            <a:ext cx="6766560" cy="3801557"/>
          </a:xfrm>
          <a:prstGeom prst="rect">
            <a:avLst/>
          </a:prstGeom>
        </p:spPr>
      </p:pic>
      <p:sp>
        <p:nvSpPr>
          <p:cNvPr id="32" name="TextBox 31"/>
          <p:cNvSpPr txBox="1"/>
          <p:nvPr/>
        </p:nvSpPr>
        <p:spPr>
          <a:xfrm>
            <a:off x="7589520" y="2423160"/>
            <a:ext cx="4251960" cy="365760"/>
          </a:xfrm>
          <a:prstGeom prst="rect">
            <a:avLst/>
          </a:prstGeom>
          <a:noFill/>
        </p:spPr>
        <p:txBody>
          <a:bodyPr wrap="square" lIns="0" rIns="0" tIns="0" bIns="0" anchor="t">
            <a:spAutoFit/>
          </a:bodyPr>
          <a:lstStyle/>
          <a:p>
            <a:pPr algn="l"/>
            <a:r>
              <a:rPr sz="900" b="1" i="0">
                <a:solidFill>
                  <a:srgbClr val="EBCB8B"/>
                </a:solidFill>
                <a:latin typeface="Segoe UI"/>
              </a:rPr>
              <a:t>CANAUX PUBLICS SUIVIS</a:t>
            </a:r>
          </a:p>
        </p:txBody>
      </p:sp>
      <p:sp>
        <p:nvSpPr>
          <p:cNvPr id="33" name="Rounded Rectangle 32"/>
          <p:cNvSpPr/>
          <p:nvPr/>
        </p:nvSpPr>
        <p:spPr>
          <a:xfrm>
            <a:off x="7589520" y="2834640"/>
            <a:ext cx="4251960" cy="16916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89520" y="2834640"/>
            <a:ext cx="73152" cy="16916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18120" y="2971800"/>
            <a:ext cx="3794760" cy="365760"/>
          </a:xfrm>
          <a:prstGeom prst="rect">
            <a:avLst/>
          </a:prstGeom>
          <a:noFill/>
        </p:spPr>
        <p:txBody>
          <a:bodyPr wrap="square" lIns="0" rIns="0" tIns="0" bIns="0" anchor="t">
            <a:spAutoFit/>
          </a:bodyPr>
          <a:lstStyle/>
          <a:p>
            <a:pPr algn="l"/>
            <a:r>
              <a:rPr sz="1500" b="1" i="0">
                <a:solidFill>
                  <a:srgbClr val="5E81AC"/>
                </a:solidFill>
                <a:latin typeface="Segoe UI"/>
              </a:rPr>
              <a:t>CVEDetector</a:t>
            </a:r>
          </a:p>
        </p:txBody>
      </p:sp>
      <p:sp>
        <p:nvSpPr>
          <p:cNvPr id="36" name="Rounded Rectangle 35"/>
          <p:cNvSpPr/>
          <p:nvPr/>
        </p:nvSpPr>
        <p:spPr>
          <a:xfrm>
            <a:off x="7818120" y="3429000"/>
            <a:ext cx="1645920" cy="27432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CCD6F6"/>
                </a:solidFill>
                <a:latin typeface="Segoe UI"/>
              </a:rPr>
              <a:t>cve_intelligence</a:t>
            </a:r>
          </a:p>
        </p:txBody>
      </p:sp>
      <p:sp>
        <p:nvSpPr>
          <p:cNvPr id="37" name="TextBox 36"/>
          <p:cNvSpPr txBox="1"/>
          <p:nvPr/>
        </p:nvSpPr>
        <p:spPr>
          <a:xfrm>
            <a:off x="7818120" y="3794760"/>
            <a:ext cx="3794760" cy="640080"/>
          </a:xfrm>
          <a:prstGeom prst="rect">
            <a:avLst/>
          </a:prstGeom>
          <a:noFill/>
        </p:spPr>
        <p:txBody>
          <a:bodyPr wrap="square" lIns="0" rIns="0" tIns="0" bIns="0" anchor="t">
            <a:spAutoFit/>
          </a:bodyPr>
          <a:lstStyle/>
          <a:p>
            <a:pPr algn="l">
              <a:lnSpc>
                <a:spcPct val="130000"/>
              </a:lnSpc>
            </a:pPr>
            <a:r>
              <a:rPr sz="1000" b="0" i="0">
                <a:solidFill>
                  <a:srgbClr val="CCD6F6"/>
                </a:solidFill>
                <a:latin typeface="Segoe UI"/>
              </a:rPr>
              <a:t>Veille sur les CVE,</a:t>
            </a:r>
          </a:p>
          <a:p>
            <a:pPr algn="l">
              <a:lnSpc>
                <a:spcPct val="130000"/>
              </a:lnSpc>
            </a:pPr>
            <a:r>
              <a:rPr sz="1000" b="0" i="0">
                <a:solidFill>
                  <a:srgbClr val="CCD6F6"/>
                </a:solidFill>
                <a:latin typeface="Segoe UI"/>
              </a:rPr>
              <a:t>vulnérabilités &amp; alertes techniques.</a:t>
            </a:r>
          </a:p>
        </p:txBody>
      </p:sp>
      <p:sp>
        <p:nvSpPr>
          <p:cNvPr id="38" name="Rounded Rectangle 37"/>
          <p:cNvSpPr/>
          <p:nvPr/>
        </p:nvSpPr>
        <p:spPr>
          <a:xfrm>
            <a:off x="7589520" y="4617720"/>
            <a:ext cx="4251960" cy="16916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589520" y="4617720"/>
            <a:ext cx="73152" cy="1691640"/>
          </a:xfrm>
          <a:prstGeom prst="rect">
            <a:avLst/>
          </a:prstGeom>
          <a:solidFill>
            <a:srgbClr val="BF6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20" y="4754880"/>
            <a:ext cx="3794760" cy="365760"/>
          </a:xfrm>
          <a:prstGeom prst="rect">
            <a:avLst/>
          </a:prstGeom>
          <a:noFill/>
        </p:spPr>
        <p:txBody>
          <a:bodyPr wrap="square" lIns="0" rIns="0" tIns="0" bIns="0" anchor="t">
            <a:spAutoFit/>
          </a:bodyPr>
          <a:lstStyle/>
          <a:p>
            <a:pPr algn="l"/>
            <a:r>
              <a:rPr sz="1500" b="1" i="0">
                <a:solidFill>
                  <a:srgbClr val="BF616A"/>
                </a:solidFill>
                <a:latin typeface="Segoe UI"/>
              </a:rPr>
              <a:t>breachforums_cdn</a:t>
            </a:r>
          </a:p>
        </p:txBody>
      </p:sp>
      <p:sp>
        <p:nvSpPr>
          <p:cNvPr id="41" name="Rounded Rectangle 40"/>
          <p:cNvSpPr/>
          <p:nvPr/>
        </p:nvSpPr>
        <p:spPr>
          <a:xfrm>
            <a:off x="7818120" y="5212080"/>
            <a:ext cx="1645920" cy="27432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CCD6F6"/>
                </a:solidFill>
                <a:latin typeface="Segoe UI"/>
              </a:rPr>
              <a:t>data_breaches</a:t>
            </a:r>
          </a:p>
        </p:txBody>
      </p:sp>
      <p:sp>
        <p:nvSpPr>
          <p:cNvPr id="42" name="TextBox 41"/>
          <p:cNvSpPr txBox="1"/>
          <p:nvPr/>
        </p:nvSpPr>
        <p:spPr>
          <a:xfrm>
            <a:off x="7818120" y="5577840"/>
            <a:ext cx="3794760" cy="640080"/>
          </a:xfrm>
          <a:prstGeom prst="rect">
            <a:avLst/>
          </a:prstGeom>
          <a:noFill/>
        </p:spPr>
        <p:txBody>
          <a:bodyPr wrap="square" lIns="0" rIns="0" tIns="0" bIns="0" anchor="t">
            <a:spAutoFit/>
          </a:bodyPr>
          <a:lstStyle/>
          <a:p>
            <a:pPr algn="l">
              <a:lnSpc>
                <a:spcPct val="130000"/>
              </a:lnSpc>
            </a:pPr>
            <a:r>
              <a:rPr sz="1000" b="0" i="0">
                <a:solidFill>
                  <a:srgbClr val="CCD6F6"/>
                </a:solidFill>
                <a:latin typeface="Segoe UI"/>
              </a:rPr>
              <a:t>Annonces publiques</a:t>
            </a:r>
          </a:p>
          <a:p>
            <a:pPr algn="l">
              <a:lnSpc>
                <a:spcPct val="130000"/>
              </a:lnSpc>
            </a:pPr>
            <a:r>
              <a:rPr sz="1000" b="0" i="0">
                <a:solidFill>
                  <a:srgbClr val="CCD6F6"/>
                </a:solidFill>
                <a:latin typeface="Segoe UI"/>
              </a:rPr>
              <a:t>liées aux fuites de données.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11</a:t>
            </a:r>
          </a:p>
        </p:txBody>
      </p:sp>
      <p:sp>
        <p:nvSpPr>
          <p:cNvPr id="6" name="Rectangle 5"/>
          <p:cNvSpPr/>
          <p:nvPr/>
        </p:nvSpPr>
        <p:spPr>
          <a:xfrm>
            <a:off x="11094415" y="457200"/>
            <a:ext cx="640080" cy="640080"/>
          </a:xfrm>
          <a:prstGeom prst="rect">
            <a:avLst/>
          </a:prstGeom>
          <a:solidFill>
            <a:srgbClr val="0A192F"/>
          </a:solidFill>
          <a:ln w="2540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EBCB8B"/>
                </a:solidFill>
                <a:latin typeface="Segoe UI Black"/>
              </a:rPr>
              <a:t>11</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TELEGRAM — PIPELINE &amp; CAS RÉEL</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LOGIQUE DE TRAITEMENT &amp; EXEMPLE TELEGRAM</a:t>
            </a:r>
          </a:p>
        </p:txBody>
      </p:sp>
      <p:cxnSp>
        <p:nvCxnSpPr>
          <p:cNvPr id="10" name="Connector 9"/>
          <p:cNvCxnSpPr/>
          <p:nvPr/>
        </p:nvCxnSpPr>
        <p:spPr>
          <a:xfrm>
            <a:off x="640080" y="1371600"/>
            <a:ext cx="2743200" cy="0"/>
          </a:xfrm>
          <a:prstGeom prst="line">
            <a:avLst/>
          </a:prstGeom>
          <a:ln w="19050">
            <a:solidFill>
              <a:srgbClr val="EBCB8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71600"/>
            <a:ext cx="6400800" cy="365760"/>
          </a:xfrm>
          <a:prstGeom prst="rect">
            <a:avLst/>
          </a:prstGeom>
          <a:noFill/>
        </p:spPr>
        <p:txBody>
          <a:bodyPr wrap="square" lIns="0" rIns="0" tIns="0" bIns="0" anchor="t">
            <a:spAutoFit/>
          </a:bodyPr>
          <a:lstStyle/>
          <a:p>
            <a:pPr algn="l"/>
            <a:r>
              <a:rPr sz="900" b="1" i="0">
                <a:solidFill>
                  <a:srgbClr val="EBCB8B"/>
                </a:solidFill>
                <a:latin typeface="Segoe UI"/>
              </a:rPr>
              <a:t>5 ÉTAPES DE TRAITEMENT D'UN MESSAGE</a:t>
            </a:r>
          </a:p>
        </p:txBody>
      </p:sp>
      <p:sp>
        <p:nvSpPr>
          <p:cNvPr id="14" name="Rounded Rectangle 13"/>
          <p:cNvSpPr/>
          <p:nvPr/>
        </p:nvSpPr>
        <p:spPr>
          <a:xfrm>
            <a:off x="502920" y="1783080"/>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1947672"/>
            <a:ext cx="420624" cy="420624"/>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1</a:t>
            </a:r>
          </a:p>
        </p:txBody>
      </p:sp>
      <p:sp>
        <p:nvSpPr>
          <p:cNvPr id="16" name="TextBox 15"/>
          <p:cNvSpPr txBox="1"/>
          <p:nvPr/>
        </p:nvSpPr>
        <p:spPr>
          <a:xfrm>
            <a:off x="1280160" y="1874520"/>
            <a:ext cx="5029200" cy="365760"/>
          </a:xfrm>
          <a:prstGeom prst="rect">
            <a:avLst/>
          </a:prstGeom>
          <a:noFill/>
        </p:spPr>
        <p:txBody>
          <a:bodyPr wrap="square" lIns="0" rIns="0" tIns="0" bIns="0" anchor="t">
            <a:spAutoFit/>
          </a:bodyPr>
          <a:lstStyle/>
          <a:p>
            <a:pPr algn="l"/>
            <a:r>
              <a:rPr sz="1400" b="1" i="0">
                <a:solidFill>
                  <a:srgbClr val="E6F1FF"/>
                </a:solidFill>
                <a:latin typeface="Segoe UI"/>
              </a:rPr>
              <a:t>Extraction</a:t>
            </a:r>
          </a:p>
        </p:txBody>
      </p:sp>
      <p:sp>
        <p:nvSpPr>
          <p:cNvPr id="17" name="TextBox 16"/>
          <p:cNvSpPr txBox="1"/>
          <p:nvPr/>
        </p:nvSpPr>
        <p:spPr>
          <a:xfrm>
            <a:off x="1280160" y="2167128"/>
            <a:ext cx="5029200" cy="365760"/>
          </a:xfrm>
          <a:prstGeom prst="rect">
            <a:avLst/>
          </a:prstGeom>
          <a:noFill/>
        </p:spPr>
        <p:txBody>
          <a:bodyPr wrap="square" lIns="0" rIns="0" tIns="0" bIns="0" anchor="t">
            <a:spAutoFit/>
          </a:bodyPr>
          <a:lstStyle/>
          <a:p>
            <a:pPr algn="l"/>
            <a:r>
              <a:rPr sz="1000" b="0" i="0">
                <a:solidFill>
                  <a:srgbClr val="CCD6F6"/>
                </a:solidFill>
                <a:latin typeface="Segoe UI"/>
              </a:rPr>
              <a:t>titre, URLs, dates, CVE</a:t>
            </a:r>
          </a:p>
        </p:txBody>
      </p:sp>
      <p:sp>
        <p:nvSpPr>
          <p:cNvPr id="18" name="Rounded Rectangle 17"/>
          <p:cNvSpPr/>
          <p:nvPr/>
        </p:nvSpPr>
        <p:spPr>
          <a:xfrm>
            <a:off x="502920" y="2578608"/>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 y="2743200"/>
            <a:ext cx="420624" cy="420624"/>
          </a:xfrm>
          <a:prstGeom prst="ellipse">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2</a:t>
            </a:r>
          </a:p>
        </p:txBody>
      </p:sp>
      <p:sp>
        <p:nvSpPr>
          <p:cNvPr id="20" name="TextBox 19"/>
          <p:cNvSpPr txBox="1"/>
          <p:nvPr/>
        </p:nvSpPr>
        <p:spPr>
          <a:xfrm>
            <a:off x="1280160" y="2670048"/>
            <a:ext cx="5029200" cy="365760"/>
          </a:xfrm>
          <a:prstGeom prst="rect">
            <a:avLst/>
          </a:prstGeom>
          <a:noFill/>
        </p:spPr>
        <p:txBody>
          <a:bodyPr wrap="square" lIns="0" rIns="0" tIns="0" bIns="0" anchor="t">
            <a:spAutoFit/>
          </a:bodyPr>
          <a:lstStyle/>
          <a:p>
            <a:pPr algn="l"/>
            <a:r>
              <a:rPr sz="1400" b="1" i="0">
                <a:solidFill>
                  <a:srgbClr val="E6F1FF"/>
                </a:solidFill>
                <a:latin typeface="Segoe UI"/>
              </a:rPr>
              <a:t>Détection</a:t>
            </a:r>
          </a:p>
        </p:txBody>
      </p:sp>
      <p:sp>
        <p:nvSpPr>
          <p:cNvPr id="21" name="TextBox 20"/>
          <p:cNvSpPr txBox="1"/>
          <p:nvPr/>
        </p:nvSpPr>
        <p:spPr>
          <a:xfrm>
            <a:off x="1280160" y="2962656"/>
            <a:ext cx="5029200" cy="365760"/>
          </a:xfrm>
          <a:prstGeom prst="rect">
            <a:avLst/>
          </a:prstGeom>
          <a:noFill/>
        </p:spPr>
        <p:txBody>
          <a:bodyPr wrap="square" lIns="0" rIns="0" tIns="0" bIns="0" anchor="t">
            <a:spAutoFit/>
          </a:bodyPr>
          <a:lstStyle/>
          <a:p>
            <a:pPr algn="l"/>
            <a:r>
              <a:rPr sz="1000" b="0" i="0">
                <a:solidFill>
                  <a:srgbClr val="CCD6F6"/>
                </a:solidFill>
                <a:latin typeface="Segoe UI"/>
              </a:rPr>
              <a:t>thématiques (fuite, vuln...)</a:t>
            </a:r>
          </a:p>
        </p:txBody>
      </p:sp>
      <p:sp>
        <p:nvSpPr>
          <p:cNvPr id="22" name="Rounded Rectangle 21"/>
          <p:cNvSpPr/>
          <p:nvPr/>
        </p:nvSpPr>
        <p:spPr>
          <a:xfrm>
            <a:off x="502920" y="3374136"/>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5800" y="3538728"/>
            <a:ext cx="420624" cy="420624"/>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3</a:t>
            </a:r>
          </a:p>
        </p:txBody>
      </p:sp>
      <p:sp>
        <p:nvSpPr>
          <p:cNvPr id="24" name="TextBox 23"/>
          <p:cNvSpPr txBox="1"/>
          <p:nvPr/>
        </p:nvSpPr>
        <p:spPr>
          <a:xfrm>
            <a:off x="1280160" y="3465576"/>
            <a:ext cx="5029200" cy="365760"/>
          </a:xfrm>
          <a:prstGeom prst="rect">
            <a:avLst/>
          </a:prstGeom>
          <a:noFill/>
        </p:spPr>
        <p:txBody>
          <a:bodyPr wrap="square" lIns="0" rIns="0" tIns="0" bIns="0" anchor="t">
            <a:spAutoFit/>
          </a:bodyPr>
          <a:lstStyle/>
          <a:p>
            <a:pPr algn="l"/>
            <a:r>
              <a:rPr sz="1400" b="1" i="0">
                <a:solidFill>
                  <a:srgbClr val="E6F1FF"/>
                </a:solidFill>
                <a:latin typeface="Segoe UI"/>
              </a:rPr>
              <a:t>Classification</a:t>
            </a:r>
          </a:p>
        </p:txBody>
      </p:sp>
      <p:sp>
        <p:nvSpPr>
          <p:cNvPr id="25" name="TextBox 24"/>
          <p:cNvSpPr txBox="1"/>
          <p:nvPr/>
        </p:nvSpPr>
        <p:spPr>
          <a:xfrm>
            <a:off x="1280160" y="3758184"/>
            <a:ext cx="5029200" cy="365760"/>
          </a:xfrm>
          <a:prstGeom prst="rect">
            <a:avLst/>
          </a:prstGeom>
          <a:noFill/>
        </p:spPr>
        <p:txBody>
          <a:bodyPr wrap="square" lIns="0" rIns="0" tIns="0" bIns="0" anchor="t">
            <a:spAutoFit/>
          </a:bodyPr>
          <a:lstStyle/>
          <a:p>
            <a:pPr algn="l"/>
            <a:r>
              <a:rPr sz="1000" b="0" i="0">
                <a:solidFill>
                  <a:srgbClr val="CCD6F6"/>
                </a:solidFill>
                <a:latin typeface="Segoe UI"/>
              </a:rPr>
              <a:t>selon la catégorie du canal</a:t>
            </a:r>
          </a:p>
        </p:txBody>
      </p:sp>
      <p:sp>
        <p:nvSpPr>
          <p:cNvPr id="26" name="Rounded Rectangle 25"/>
          <p:cNvSpPr/>
          <p:nvPr/>
        </p:nvSpPr>
        <p:spPr>
          <a:xfrm>
            <a:off x="502920" y="4169664"/>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5800" y="4334256"/>
            <a:ext cx="420624" cy="420624"/>
          </a:xfrm>
          <a:prstGeom prst="ellipse">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4</a:t>
            </a:r>
          </a:p>
        </p:txBody>
      </p:sp>
      <p:sp>
        <p:nvSpPr>
          <p:cNvPr id="28" name="TextBox 27"/>
          <p:cNvSpPr txBox="1"/>
          <p:nvPr/>
        </p:nvSpPr>
        <p:spPr>
          <a:xfrm>
            <a:off x="1280160" y="4261104"/>
            <a:ext cx="5029200" cy="365760"/>
          </a:xfrm>
          <a:prstGeom prst="rect">
            <a:avLst/>
          </a:prstGeom>
          <a:noFill/>
        </p:spPr>
        <p:txBody>
          <a:bodyPr wrap="square" lIns="0" rIns="0" tIns="0" bIns="0" anchor="t">
            <a:spAutoFit/>
          </a:bodyPr>
          <a:lstStyle/>
          <a:p>
            <a:pPr algn="l"/>
            <a:r>
              <a:rPr sz="1400" b="1" i="0">
                <a:solidFill>
                  <a:srgbClr val="E6F1FF"/>
                </a:solidFill>
                <a:latin typeface="Segoe UI"/>
              </a:rPr>
              <a:t>Normalisation</a:t>
            </a:r>
          </a:p>
        </p:txBody>
      </p:sp>
      <p:sp>
        <p:nvSpPr>
          <p:cNvPr id="29" name="TextBox 28"/>
          <p:cNvSpPr txBox="1"/>
          <p:nvPr/>
        </p:nvSpPr>
        <p:spPr>
          <a:xfrm>
            <a:off x="1280160" y="4553712"/>
            <a:ext cx="5029200" cy="365760"/>
          </a:xfrm>
          <a:prstGeom prst="rect">
            <a:avLst/>
          </a:prstGeom>
          <a:noFill/>
        </p:spPr>
        <p:txBody>
          <a:bodyPr wrap="square" lIns="0" rIns="0" tIns="0" bIns="0" anchor="t">
            <a:spAutoFit/>
          </a:bodyPr>
          <a:lstStyle/>
          <a:p>
            <a:pPr algn="l"/>
            <a:r>
              <a:rPr sz="1000" b="0" i="0">
                <a:solidFill>
                  <a:srgbClr val="CCD6F6"/>
                </a:solidFill>
                <a:latin typeface="Segoe UI"/>
              </a:rPr>
              <a:t>signal unifié pour la plateforme</a:t>
            </a:r>
          </a:p>
        </p:txBody>
      </p:sp>
      <p:sp>
        <p:nvSpPr>
          <p:cNvPr id="30" name="Rounded Rectangle 29"/>
          <p:cNvSpPr/>
          <p:nvPr/>
        </p:nvSpPr>
        <p:spPr>
          <a:xfrm>
            <a:off x="502920" y="4965192"/>
            <a:ext cx="6583680" cy="749808"/>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5129784"/>
            <a:ext cx="420624" cy="420624"/>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E6F1FF"/>
                </a:solidFill>
              </a:rPr>
              <a:t>5</a:t>
            </a:r>
          </a:p>
        </p:txBody>
      </p:sp>
      <p:sp>
        <p:nvSpPr>
          <p:cNvPr id="32" name="TextBox 31"/>
          <p:cNvSpPr txBox="1"/>
          <p:nvPr/>
        </p:nvSpPr>
        <p:spPr>
          <a:xfrm>
            <a:off x="1280160" y="5056632"/>
            <a:ext cx="5029200" cy="365760"/>
          </a:xfrm>
          <a:prstGeom prst="rect">
            <a:avLst/>
          </a:prstGeom>
          <a:noFill/>
        </p:spPr>
        <p:txBody>
          <a:bodyPr wrap="square" lIns="0" rIns="0" tIns="0" bIns="0" anchor="t">
            <a:spAutoFit/>
          </a:bodyPr>
          <a:lstStyle/>
          <a:p>
            <a:pPr algn="l"/>
            <a:r>
              <a:rPr sz="1400" b="1" i="0">
                <a:solidFill>
                  <a:srgbClr val="E6F1FF"/>
                </a:solidFill>
                <a:latin typeface="Segoe UI"/>
              </a:rPr>
              <a:t>Masquage</a:t>
            </a:r>
          </a:p>
        </p:txBody>
      </p:sp>
      <p:sp>
        <p:nvSpPr>
          <p:cNvPr id="33" name="TextBox 32"/>
          <p:cNvSpPr txBox="1"/>
          <p:nvPr/>
        </p:nvSpPr>
        <p:spPr>
          <a:xfrm>
            <a:off x="1280160" y="5349240"/>
            <a:ext cx="5029200" cy="365760"/>
          </a:xfrm>
          <a:prstGeom prst="rect">
            <a:avLst/>
          </a:prstGeom>
          <a:noFill/>
        </p:spPr>
        <p:txBody>
          <a:bodyPr wrap="square" lIns="0" rIns="0" tIns="0" bIns="0" anchor="t">
            <a:spAutoFit/>
          </a:bodyPr>
          <a:lstStyle/>
          <a:p>
            <a:pPr algn="l"/>
            <a:r>
              <a:rPr sz="1000" b="0" i="0">
                <a:solidFill>
                  <a:srgbClr val="CCD6F6"/>
                </a:solidFill>
                <a:latin typeface="Segoe UI"/>
              </a:rPr>
              <a:t>redaction du contenu sensible</a:t>
            </a:r>
          </a:p>
        </p:txBody>
      </p:sp>
      <p:sp>
        <p:nvSpPr>
          <p:cNvPr id="34" name="Rounded Rectangle 33"/>
          <p:cNvSpPr/>
          <p:nvPr/>
        </p:nvSpPr>
        <p:spPr>
          <a:xfrm>
            <a:off x="502920" y="5760720"/>
            <a:ext cx="6583680" cy="54864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852160"/>
            <a:ext cx="6035040" cy="365760"/>
          </a:xfrm>
          <a:prstGeom prst="rect">
            <a:avLst/>
          </a:prstGeom>
          <a:noFill/>
        </p:spPr>
        <p:txBody>
          <a:bodyPr wrap="square" lIns="0" rIns="0" tIns="0" bIns="0" anchor="ctr">
            <a:spAutoFit/>
          </a:bodyPr>
          <a:lstStyle/>
          <a:p>
            <a:pPr algn="l"/>
            <a:r>
              <a:rPr sz="1000" b="0" i="1">
                <a:solidFill>
                  <a:srgbClr val="EBCB8B"/>
                </a:solidFill>
                <a:latin typeface="Segoe UI"/>
              </a:rPr>
              <a:t>Signal OSINT  →  à corroborer avec d'autres sources.</a:t>
            </a:r>
          </a:p>
        </p:txBody>
      </p:sp>
      <p:sp>
        <p:nvSpPr>
          <p:cNvPr id="36" name="TextBox 35"/>
          <p:cNvSpPr txBox="1"/>
          <p:nvPr/>
        </p:nvSpPr>
        <p:spPr>
          <a:xfrm>
            <a:off x="7315200" y="1371600"/>
            <a:ext cx="4526280" cy="365760"/>
          </a:xfrm>
          <a:prstGeom prst="rect">
            <a:avLst/>
          </a:prstGeom>
          <a:noFill/>
        </p:spPr>
        <p:txBody>
          <a:bodyPr wrap="square" lIns="0" rIns="0" tIns="0" bIns="0" anchor="t">
            <a:spAutoFit/>
          </a:bodyPr>
          <a:lstStyle/>
          <a:p>
            <a:pPr algn="l"/>
            <a:r>
              <a:rPr sz="900" b="1" i="0">
                <a:solidFill>
                  <a:srgbClr val="BF616A"/>
                </a:solidFill>
                <a:latin typeface="Segoe UI"/>
              </a:rPr>
              <a:t>EXEMPLE CONCRET — AVITO.MA</a:t>
            </a:r>
          </a:p>
        </p:txBody>
      </p:sp>
      <p:sp>
        <p:nvSpPr>
          <p:cNvPr id="37" name="Rounded Rectangle 36"/>
          <p:cNvSpPr/>
          <p:nvPr/>
        </p:nvSpPr>
        <p:spPr>
          <a:xfrm>
            <a:off x="7315200" y="1783080"/>
            <a:ext cx="4526280" cy="4526280"/>
          </a:xfrm>
          <a:prstGeom prst="roundRect">
            <a:avLst>
              <a:gd name="adj" fmla="val 5000"/>
            </a:avLst>
          </a:prstGeom>
          <a:solidFill>
            <a:srgbClr val="112240">
              <a:alpha val="60000"/>
            </a:srgbClr>
          </a:solidFill>
          <a:ln w="1524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g_exposure.png"/>
          <p:cNvPicPr>
            <a:picLocks noChangeAspect="1"/>
          </p:cNvPicPr>
          <p:nvPr/>
        </p:nvPicPr>
        <p:blipFill>
          <a:blip r:embed="rId2"/>
          <a:stretch>
            <a:fillRect/>
          </a:stretch>
        </p:blipFill>
        <p:spPr>
          <a:xfrm>
            <a:off x="7498080" y="1920240"/>
            <a:ext cx="4160520" cy="4001964"/>
          </a:xfrm>
          <a:prstGeom prst="rect">
            <a:avLst/>
          </a:prstGeom>
        </p:spPr>
      </p:pic>
      <p:cxnSp>
        <p:nvCxnSpPr>
          <p:cNvPr id="39" name="Connector 38"/>
          <p:cNvCxnSpPr/>
          <p:nvPr/>
        </p:nvCxnSpPr>
        <p:spPr>
          <a:xfrm>
            <a:off x="7543800" y="4572000"/>
            <a:ext cx="4069080" cy="0"/>
          </a:xfrm>
          <a:prstGeom prst="line">
            <a:avLst/>
          </a:prstGeom>
          <a:ln w="12700">
            <a:solidFill>
              <a:srgbClr val="2E446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543800" y="4709160"/>
            <a:ext cx="1371600" cy="320040"/>
          </a:xfrm>
          <a:prstGeom prst="rect">
            <a:avLst/>
          </a:prstGeom>
          <a:noFill/>
        </p:spPr>
        <p:txBody>
          <a:bodyPr wrap="square" lIns="0" rIns="0" tIns="0" bIns="0" anchor="ctr">
            <a:spAutoFit/>
          </a:bodyPr>
          <a:lstStyle/>
          <a:p>
            <a:pPr algn="l"/>
            <a:r>
              <a:rPr sz="800" b="1" i="0">
                <a:solidFill>
                  <a:srgbClr val="8892B0"/>
                </a:solidFill>
                <a:latin typeface="Segoe UI"/>
              </a:rPr>
              <a:t>SOURCE</a:t>
            </a:r>
          </a:p>
        </p:txBody>
      </p:sp>
      <p:sp>
        <p:nvSpPr>
          <p:cNvPr id="41" name="TextBox 40"/>
          <p:cNvSpPr txBox="1"/>
          <p:nvPr/>
        </p:nvSpPr>
        <p:spPr>
          <a:xfrm>
            <a:off x="8823960" y="4709160"/>
            <a:ext cx="2788920" cy="320040"/>
          </a:xfrm>
          <a:prstGeom prst="rect">
            <a:avLst/>
          </a:prstGeom>
          <a:noFill/>
        </p:spPr>
        <p:txBody>
          <a:bodyPr wrap="square" lIns="0" rIns="0" tIns="0" bIns="0" anchor="ctr">
            <a:spAutoFit/>
          </a:bodyPr>
          <a:lstStyle/>
          <a:p>
            <a:pPr algn="l"/>
            <a:r>
              <a:rPr sz="1000" b="1" i="0">
                <a:solidFill>
                  <a:srgbClr val="E6F1FF"/>
                </a:solidFill>
                <a:latin typeface="Segoe UI"/>
              </a:rPr>
              <a:t>breachforums_cdn</a:t>
            </a:r>
          </a:p>
        </p:txBody>
      </p:sp>
      <p:sp>
        <p:nvSpPr>
          <p:cNvPr id="42" name="TextBox 41"/>
          <p:cNvSpPr txBox="1"/>
          <p:nvPr/>
        </p:nvSpPr>
        <p:spPr>
          <a:xfrm>
            <a:off x="7543800" y="5093208"/>
            <a:ext cx="1371600" cy="320040"/>
          </a:xfrm>
          <a:prstGeom prst="rect">
            <a:avLst/>
          </a:prstGeom>
          <a:noFill/>
        </p:spPr>
        <p:txBody>
          <a:bodyPr wrap="square" lIns="0" rIns="0" tIns="0" bIns="0" anchor="ctr">
            <a:spAutoFit/>
          </a:bodyPr>
          <a:lstStyle/>
          <a:p>
            <a:pPr algn="l"/>
            <a:r>
              <a:rPr sz="800" b="1" i="0">
                <a:solidFill>
                  <a:srgbClr val="8892B0"/>
                </a:solidFill>
                <a:latin typeface="Segoe UI"/>
              </a:rPr>
              <a:t>ORGANISATION</a:t>
            </a:r>
          </a:p>
        </p:txBody>
      </p:sp>
      <p:sp>
        <p:nvSpPr>
          <p:cNvPr id="43" name="TextBox 42"/>
          <p:cNvSpPr txBox="1"/>
          <p:nvPr/>
        </p:nvSpPr>
        <p:spPr>
          <a:xfrm>
            <a:off x="8823960" y="5093208"/>
            <a:ext cx="2788920" cy="320040"/>
          </a:xfrm>
          <a:prstGeom prst="rect">
            <a:avLst/>
          </a:prstGeom>
          <a:noFill/>
        </p:spPr>
        <p:txBody>
          <a:bodyPr wrap="square" lIns="0" rIns="0" tIns="0" bIns="0" anchor="ctr">
            <a:spAutoFit/>
          </a:bodyPr>
          <a:lstStyle/>
          <a:p>
            <a:pPr algn="l"/>
            <a:r>
              <a:rPr sz="1000" b="1" i="0">
                <a:solidFill>
                  <a:srgbClr val="E6F1FF"/>
                </a:solidFill>
                <a:latin typeface="Segoe UI"/>
              </a:rPr>
              <a:t>Avito.ma</a:t>
            </a:r>
          </a:p>
        </p:txBody>
      </p:sp>
      <p:sp>
        <p:nvSpPr>
          <p:cNvPr id="44" name="TextBox 43"/>
          <p:cNvSpPr txBox="1"/>
          <p:nvPr/>
        </p:nvSpPr>
        <p:spPr>
          <a:xfrm>
            <a:off x="7543800" y="5477256"/>
            <a:ext cx="1371600" cy="320040"/>
          </a:xfrm>
          <a:prstGeom prst="rect">
            <a:avLst/>
          </a:prstGeom>
          <a:noFill/>
        </p:spPr>
        <p:txBody>
          <a:bodyPr wrap="square" lIns="0" rIns="0" tIns="0" bIns="0" anchor="ctr">
            <a:spAutoFit/>
          </a:bodyPr>
          <a:lstStyle/>
          <a:p>
            <a:pPr algn="l"/>
            <a:r>
              <a:rPr sz="800" b="1" i="0">
                <a:solidFill>
                  <a:srgbClr val="8892B0"/>
                </a:solidFill>
                <a:latin typeface="Segoe UI"/>
              </a:rPr>
              <a:t>VOLUME</a:t>
            </a:r>
          </a:p>
        </p:txBody>
      </p:sp>
      <p:sp>
        <p:nvSpPr>
          <p:cNvPr id="45" name="TextBox 44"/>
          <p:cNvSpPr txBox="1"/>
          <p:nvPr/>
        </p:nvSpPr>
        <p:spPr>
          <a:xfrm>
            <a:off x="8823960" y="5477256"/>
            <a:ext cx="2788920" cy="320040"/>
          </a:xfrm>
          <a:prstGeom prst="rect">
            <a:avLst/>
          </a:prstGeom>
          <a:noFill/>
        </p:spPr>
        <p:txBody>
          <a:bodyPr wrap="square" lIns="0" rIns="0" tIns="0" bIns="0" anchor="ctr">
            <a:spAutoFit/>
          </a:bodyPr>
          <a:lstStyle/>
          <a:p>
            <a:pPr algn="l"/>
            <a:r>
              <a:rPr sz="1000" b="1" i="0">
                <a:solidFill>
                  <a:srgbClr val="E6F1FF"/>
                </a:solidFill>
                <a:latin typeface="Segoe UI"/>
              </a:rPr>
              <a:t>~ 2 728 091 enregistrements</a:t>
            </a:r>
          </a:p>
        </p:txBody>
      </p:sp>
      <p:sp>
        <p:nvSpPr>
          <p:cNvPr id="46" name="TextBox 45"/>
          <p:cNvSpPr txBox="1"/>
          <p:nvPr/>
        </p:nvSpPr>
        <p:spPr>
          <a:xfrm>
            <a:off x="7543800" y="5861304"/>
            <a:ext cx="1371600" cy="320040"/>
          </a:xfrm>
          <a:prstGeom prst="rect">
            <a:avLst/>
          </a:prstGeom>
          <a:noFill/>
        </p:spPr>
        <p:txBody>
          <a:bodyPr wrap="square" lIns="0" rIns="0" tIns="0" bIns="0" anchor="ctr">
            <a:spAutoFit/>
          </a:bodyPr>
          <a:lstStyle/>
          <a:p>
            <a:pPr algn="l"/>
            <a:r>
              <a:rPr sz="800" b="1" i="0">
                <a:solidFill>
                  <a:srgbClr val="8892B0"/>
                </a:solidFill>
                <a:latin typeface="Segoe UI"/>
              </a:rPr>
              <a:t>STATUT</a:t>
            </a:r>
          </a:p>
        </p:txBody>
      </p:sp>
      <p:sp>
        <p:nvSpPr>
          <p:cNvPr id="47" name="TextBox 46"/>
          <p:cNvSpPr txBox="1"/>
          <p:nvPr/>
        </p:nvSpPr>
        <p:spPr>
          <a:xfrm>
            <a:off x="8823960" y="5861304"/>
            <a:ext cx="2788920" cy="320040"/>
          </a:xfrm>
          <a:prstGeom prst="rect">
            <a:avLst/>
          </a:prstGeom>
          <a:noFill/>
        </p:spPr>
        <p:txBody>
          <a:bodyPr wrap="square" lIns="0" rIns="0" tIns="0" bIns="0" anchor="ctr">
            <a:spAutoFit/>
          </a:bodyPr>
          <a:lstStyle/>
          <a:p>
            <a:pPr algn="l"/>
            <a:r>
              <a:rPr sz="1000" b="1" i="0">
                <a:solidFill>
                  <a:srgbClr val="E6F1FF"/>
                </a:solidFill>
                <a:latin typeface="Segoe UI"/>
              </a:rPr>
              <a:t>À valider par corrélation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12</a:t>
            </a:r>
          </a:p>
        </p:txBody>
      </p:sp>
      <p:sp>
        <p:nvSpPr>
          <p:cNvPr id="6" name="Rectangle 5"/>
          <p:cNvSpPr/>
          <p:nvPr/>
        </p:nvSpPr>
        <p:spPr>
          <a:xfrm>
            <a:off x="11094415" y="457200"/>
            <a:ext cx="640080" cy="640080"/>
          </a:xfrm>
          <a:prstGeom prst="rect">
            <a:avLst/>
          </a:prstGeom>
          <a:solidFill>
            <a:srgbClr val="0A192F"/>
          </a:solidFill>
          <a:ln w="2540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EBCB8B"/>
                </a:solidFill>
                <a:latin typeface="Segoe UI Black"/>
              </a:rPr>
              <a:t>12</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SOURCE #3 — VEILLE MÉDIATIQUE &amp; NEWS</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GOOGLE ALERTS — CONFIGURATION DES ALERTES</a:t>
            </a:r>
          </a:p>
        </p:txBody>
      </p:sp>
      <p:cxnSp>
        <p:nvCxnSpPr>
          <p:cNvPr id="10" name="Connector 9"/>
          <p:cNvCxnSpPr/>
          <p:nvPr/>
        </p:nvCxnSpPr>
        <p:spPr>
          <a:xfrm>
            <a:off x="640080" y="1371600"/>
            <a:ext cx="2743200" cy="0"/>
          </a:xfrm>
          <a:prstGeom prst="line">
            <a:avLst/>
          </a:prstGeom>
          <a:ln w="19050">
            <a:solidFill>
              <a:srgbClr val="EBCB8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514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5147" y="1371600"/>
            <a:ext cx="73152" cy="77724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747" y="1444752"/>
            <a:ext cx="2331720" cy="365760"/>
          </a:xfrm>
          <a:prstGeom prst="rect">
            <a:avLst/>
          </a:prstGeom>
          <a:noFill/>
        </p:spPr>
        <p:txBody>
          <a:bodyPr wrap="square" lIns="0" rIns="0" tIns="0" bIns="0" anchor="t">
            <a:spAutoFit/>
          </a:bodyPr>
          <a:lstStyle/>
          <a:p>
            <a:pPr algn="l"/>
            <a:r>
              <a:rPr sz="2000" b="1" i="0">
                <a:solidFill>
                  <a:srgbClr val="EBCB8B"/>
                </a:solidFill>
                <a:latin typeface="Segoe UI"/>
              </a:rPr>
              <a:t>16</a:t>
            </a:r>
          </a:p>
        </p:txBody>
      </p:sp>
      <p:sp>
        <p:nvSpPr>
          <p:cNvPr id="16" name="TextBox 15"/>
          <p:cNvSpPr txBox="1"/>
          <p:nvPr/>
        </p:nvSpPr>
        <p:spPr>
          <a:xfrm>
            <a:off x="72374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Alertes configurées</a:t>
            </a:r>
          </a:p>
        </p:txBody>
      </p:sp>
      <p:sp>
        <p:nvSpPr>
          <p:cNvPr id="17" name="Rounded Rectangle 16"/>
          <p:cNvSpPr/>
          <p:nvPr/>
        </p:nvSpPr>
        <p:spPr>
          <a:xfrm>
            <a:off x="332978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29787" y="1371600"/>
            <a:ext cx="73152" cy="77724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8387" y="1444752"/>
            <a:ext cx="2331720" cy="365760"/>
          </a:xfrm>
          <a:prstGeom prst="rect">
            <a:avLst/>
          </a:prstGeom>
          <a:noFill/>
        </p:spPr>
        <p:txBody>
          <a:bodyPr wrap="square" lIns="0" rIns="0" tIns="0" bIns="0" anchor="t">
            <a:spAutoFit/>
          </a:bodyPr>
          <a:lstStyle/>
          <a:p>
            <a:pPr algn="l"/>
            <a:r>
              <a:rPr sz="2000" b="1" i="0">
                <a:solidFill>
                  <a:srgbClr val="5E81AC"/>
                </a:solidFill>
                <a:latin typeface="Segoe UI"/>
              </a:rPr>
              <a:t>FR/EN</a:t>
            </a:r>
          </a:p>
        </p:txBody>
      </p:sp>
      <p:sp>
        <p:nvSpPr>
          <p:cNvPr id="20" name="TextBox 19"/>
          <p:cNvSpPr txBox="1"/>
          <p:nvPr/>
        </p:nvSpPr>
        <p:spPr>
          <a:xfrm>
            <a:off x="355838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Requêtes bilingues</a:t>
            </a:r>
          </a:p>
        </p:txBody>
      </p:sp>
      <p:sp>
        <p:nvSpPr>
          <p:cNvPr id="21" name="Rounded Rectangle 20"/>
          <p:cNvSpPr/>
          <p:nvPr/>
        </p:nvSpPr>
        <p:spPr>
          <a:xfrm>
            <a:off x="616442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4427" y="1371600"/>
            <a:ext cx="73152" cy="77724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3027" y="1444752"/>
            <a:ext cx="2331720" cy="365760"/>
          </a:xfrm>
          <a:prstGeom prst="rect">
            <a:avLst/>
          </a:prstGeom>
          <a:noFill/>
        </p:spPr>
        <p:txBody>
          <a:bodyPr wrap="square" lIns="0" rIns="0" tIns="0" bIns="0" anchor="t">
            <a:spAutoFit/>
          </a:bodyPr>
          <a:lstStyle/>
          <a:p>
            <a:pPr algn="l"/>
            <a:r>
              <a:rPr sz="2000" b="1" i="0">
                <a:solidFill>
                  <a:srgbClr val="64FFDA"/>
                </a:solidFill>
                <a:latin typeface="Segoe UI"/>
              </a:rPr>
              <a:t>8+</a:t>
            </a:r>
          </a:p>
        </p:txBody>
      </p:sp>
      <p:sp>
        <p:nvSpPr>
          <p:cNvPr id="24" name="TextBox 23"/>
          <p:cNvSpPr txBox="1"/>
          <p:nvPr/>
        </p:nvSpPr>
        <p:spPr>
          <a:xfrm>
            <a:off x="639302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Catégories suivies</a:t>
            </a:r>
          </a:p>
        </p:txBody>
      </p:sp>
      <p:sp>
        <p:nvSpPr>
          <p:cNvPr id="25" name="Rounded Rectangle 24"/>
          <p:cNvSpPr/>
          <p:nvPr/>
        </p:nvSpPr>
        <p:spPr>
          <a:xfrm>
            <a:off x="8999067" y="1371600"/>
            <a:ext cx="2697480" cy="77724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9067" y="1371600"/>
            <a:ext cx="73152" cy="77724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7667" y="1444752"/>
            <a:ext cx="2331720" cy="365760"/>
          </a:xfrm>
          <a:prstGeom prst="rect">
            <a:avLst/>
          </a:prstGeom>
          <a:noFill/>
        </p:spPr>
        <p:txBody>
          <a:bodyPr wrap="square" lIns="0" rIns="0" tIns="0" bIns="0" anchor="t">
            <a:spAutoFit/>
          </a:bodyPr>
          <a:lstStyle/>
          <a:p>
            <a:pPr algn="l"/>
            <a:r>
              <a:rPr sz="2000" b="1" i="0">
                <a:solidFill>
                  <a:srgbClr val="B48EAD"/>
                </a:solidFill>
                <a:latin typeface="Segoe UI"/>
              </a:rPr>
              <a:t>RSS</a:t>
            </a:r>
          </a:p>
        </p:txBody>
      </p:sp>
      <p:sp>
        <p:nvSpPr>
          <p:cNvPr id="28" name="TextBox 27"/>
          <p:cNvSpPr txBox="1"/>
          <p:nvPr/>
        </p:nvSpPr>
        <p:spPr>
          <a:xfrm>
            <a:off x="9227667" y="1828800"/>
            <a:ext cx="2331720" cy="274320"/>
          </a:xfrm>
          <a:prstGeom prst="rect">
            <a:avLst/>
          </a:prstGeom>
          <a:noFill/>
        </p:spPr>
        <p:txBody>
          <a:bodyPr wrap="square" lIns="0" rIns="0" tIns="0" bIns="0" anchor="t">
            <a:spAutoFit/>
          </a:bodyPr>
          <a:lstStyle/>
          <a:p>
            <a:pPr algn="l"/>
            <a:r>
              <a:rPr sz="1000" b="0" i="0">
                <a:solidFill>
                  <a:srgbClr val="CCD6F6"/>
                </a:solidFill>
                <a:latin typeface="Segoe UI"/>
              </a:rPr>
              <a:t>Format temps réel</a:t>
            </a:r>
          </a:p>
        </p:txBody>
      </p:sp>
      <p:sp>
        <p:nvSpPr>
          <p:cNvPr id="29" name="TextBox 28"/>
          <p:cNvSpPr txBox="1"/>
          <p:nvPr/>
        </p:nvSpPr>
        <p:spPr>
          <a:xfrm>
            <a:off x="502920" y="2331720"/>
            <a:ext cx="5486400" cy="365760"/>
          </a:xfrm>
          <a:prstGeom prst="rect">
            <a:avLst/>
          </a:prstGeom>
          <a:noFill/>
        </p:spPr>
        <p:txBody>
          <a:bodyPr wrap="square" lIns="0" rIns="0" tIns="0" bIns="0" anchor="t">
            <a:spAutoFit/>
          </a:bodyPr>
          <a:lstStyle/>
          <a:p>
            <a:pPr algn="l"/>
            <a:r>
              <a:rPr sz="900" b="1" i="0">
                <a:solidFill>
                  <a:srgbClr val="EBCB8B"/>
                </a:solidFill>
                <a:latin typeface="Segoe UI"/>
              </a:rPr>
              <a:t>INTERFACE GOOGLE ALERTS</a:t>
            </a:r>
          </a:p>
        </p:txBody>
      </p:sp>
      <p:sp>
        <p:nvSpPr>
          <p:cNvPr id="30" name="Rounded Rectangle 29"/>
          <p:cNvSpPr/>
          <p:nvPr/>
        </p:nvSpPr>
        <p:spPr>
          <a:xfrm>
            <a:off x="365760" y="2697480"/>
            <a:ext cx="5440680" cy="36118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aw.png"/>
          <p:cNvPicPr>
            <a:picLocks noChangeAspect="1"/>
          </p:cNvPicPr>
          <p:nvPr/>
        </p:nvPicPr>
        <p:blipFill>
          <a:blip r:embed="rId2"/>
          <a:stretch>
            <a:fillRect/>
          </a:stretch>
        </p:blipFill>
        <p:spPr>
          <a:xfrm>
            <a:off x="502920" y="2834640"/>
            <a:ext cx="5166360" cy="5622775"/>
          </a:xfrm>
          <a:prstGeom prst="rect">
            <a:avLst/>
          </a:prstGeom>
        </p:spPr>
      </p:pic>
      <p:sp>
        <p:nvSpPr>
          <p:cNvPr id="32" name="TextBox 31"/>
          <p:cNvSpPr txBox="1"/>
          <p:nvPr/>
        </p:nvSpPr>
        <p:spPr>
          <a:xfrm>
            <a:off x="6126480" y="2331720"/>
            <a:ext cx="5715000" cy="365760"/>
          </a:xfrm>
          <a:prstGeom prst="rect">
            <a:avLst/>
          </a:prstGeom>
          <a:noFill/>
        </p:spPr>
        <p:txBody>
          <a:bodyPr wrap="square" lIns="0" rIns="0" tIns="0" bIns="0" anchor="t">
            <a:spAutoFit/>
          </a:bodyPr>
          <a:lstStyle/>
          <a:p>
            <a:pPr algn="l"/>
            <a:r>
              <a:rPr sz="900" b="1" i="0">
                <a:solidFill>
                  <a:srgbClr val="EBCB8B"/>
                </a:solidFill>
                <a:latin typeface="Segoe UI"/>
              </a:rPr>
              <a:t>CATÉGORIES D'ALERTES CONFIGURÉES</a:t>
            </a:r>
          </a:p>
        </p:txBody>
      </p:sp>
      <p:sp>
        <p:nvSpPr>
          <p:cNvPr id="33" name="Rounded Rectangle 32"/>
          <p:cNvSpPr/>
          <p:nvPr/>
        </p:nvSpPr>
        <p:spPr>
          <a:xfrm>
            <a:off x="6126480" y="274320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0" y="274320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2852928"/>
            <a:ext cx="2514600" cy="320040"/>
          </a:xfrm>
          <a:prstGeom prst="rect">
            <a:avLst/>
          </a:prstGeom>
          <a:noFill/>
        </p:spPr>
        <p:txBody>
          <a:bodyPr wrap="square" lIns="0" rIns="0" tIns="0" bIns="0" anchor="t">
            <a:spAutoFit/>
          </a:bodyPr>
          <a:lstStyle/>
          <a:p>
            <a:pPr algn="l"/>
            <a:r>
              <a:rPr sz="1000" b="1" i="0">
                <a:solidFill>
                  <a:srgbClr val="EBCB8B"/>
                </a:solidFill>
                <a:latin typeface="Consolas"/>
              </a:rPr>
              <a:t>global_cyber_incidents</a:t>
            </a:r>
          </a:p>
        </p:txBody>
      </p:sp>
      <p:sp>
        <p:nvSpPr>
          <p:cNvPr id="36" name="TextBox 35"/>
          <p:cNvSpPr txBox="1"/>
          <p:nvPr/>
        </p:nvSpPr>
        <p:spPr>
          <a:xfrm>
            <a:off x="6309360" y="3200400"/>
            <a:ext cx="2514600" cy="320040"/>
          </a:xfrm>
          <a:prstGeom prst="rect">
            <a:avLst/>
          </a:prstGeom>
          <a:noFill/>
        </p:spPr>
        <p:txBody>
          <a:bodyPr wrap="square" lIns="0" rIns="0" tIns="0" bIns="0" anchor="t">
            <a:spAutoFit/>
          </a:bodyPr>
          <a:lstStyle/>
          <a:p>
            <a:pPr algn="l"/>
            <a:r>
              <a:rPr sz="1000" b="0" i="0">
                <a:solidFill>
                  <a:srgbClr val="CCD6F6"/>
                </a:solidFill>
                <a:latin typeface="Segoe UI"/>
              </a:rPr>
              <a:t>Cyberattaques globales</a:t>
            </a:r>
          </a:p>
        </p:txBody>
      </p:sp>
      <p:sp>
        <p:nvSpPr>
          <p:cNvPr id="37" name="Rounded Rectangle 36"/>
          <p:cNvSpPr/>
          <p:nvPr/>
        </p:nvSpPr>
        <p:spPr>
          <a:xfrm>
            <a:off x="9006840" y="274320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006840" y="274320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9720" y="2852928"/>
            <a:ext cx="2514600" cy="320040"/>
          </a:xfrm>
          <a:prstGeom prst="rect">
            <a:avLst/>
          </a:prstGeom>
          <a:noFill/>
        </p:spPr>
        <p:txBody>
          <a:bodyPr wrap="square" lIns="0" rIns="0" tIns="0" bIns="0" anchor="t">
            <a:spAutoFit/>
          </a:bodyPr>
          <a:lstStyle/>
          <a:p>
            <a:pPr algn="l"/>
            <a:r>
              <a:rPr sz="1000" b="1" i="0">
                <a:solidFill>
                  <a:srgbClr val="EBCB8B"/>
                </a:solidFill>
                <a:latin typeface="Consolas"/>
              </a:rPr>
              <a:t>ransomware_monitoring</a:t>
            </a:r>
          </a:p>
        </p:txBody>
      </p:sp>
      <p:sp>
        <p:nvSpPr>
          <p:cNvPr id="40" name="TextBox 39"/>
          <p:cNvSpPr txBox="1"/>
          <p:nvPr/>
        </p:nvSpPr>
        <p:spPr>
          <a:xfrm>
            <a:off x="9189720" y="3200400"/>
            <a:ext cx="2514600" cy="320040"/>
          </a:xfrm>
          <a:prstGeom prst="rect">
            <a:avLst/>
          </a:prstGeom>
          <a:noFill/>
        </p:spPr>
        <p:txBody>
          <a:bodyPr wrap="square" lIns="0" rIns="0" tIns="0" bIns="0" anchor="t">
            <a:spAutoFit/>
          </a:bodyPr>
          <a:lstStyle/>
          <a:p>
            <a:pPr algn="l"/>
            <a:r>
              <a:rPr sz="1000" b="0" i="0">
                <a:solidFill>
                  <a:srgbClr val="CCD6F6"/>
                </a:solidFill>
                <a:latin typeface="Segoe UI"/>
              </a:rPr>
              <a:t>Incidents ransomware</a:t>
            </a:r>
          </a:p>
        </p:txBody>
      </p:sp>
      <p:sp>
        <p:nvSpPr>
          <p:cNvPr id="41" name="Rounded Rectangle 40"/>
          <p:cNvSpPr/>
          <p:nvPr/>
        </p:nvSpPr>
        <p:spPr>
          <a:xfrm>
            <a:off x="6126480" y="370332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0" y="370332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3813048"/>
            <a:ext cx="2514600" cy="320040"/>
          </a:xfrm>
          <a:prstGeom prst="rect">
            <a:avLst/>
          </a:prstGeom>
          <a:noFill/>
        </p:spPr>
        <p:txBody>
          <a:bodyPr wrap="square" lIns="0" rIns="0" tIns="0" bIns="0" anchor="t">
            <a:spAutoFit/>
          </a:bodyPr>
          <a:lstStyle/>
          <a:p>
            <a:pPr algn="l"/>
            <a:r>
              <a:rPr sz="1000" b="1" i="0">
                <a:solidFill>
                  <a:srgbClr val="EBCB8B"/>
                </a:solidFill>
                <a:latin typeface="Consolas"/>
              </a:rPr>
              <a:t>healthcare_breaches</a:t>
            </a:r>
          </a:p>
        </p:txBody>
      </p:sp>
      <p:sp>
        <p:nvSpPr>
          <p:cNvPr id="44" name="TextBox 43"/>
          <p:cNvSpPr txBox="1"/>
          <p:nvPr/>
        </p:nvSpPr>
        <p:spPr>
          <a:xfrm>
            <a:off x="6309360" y="4160520"/>
            <a:ext cx="2514600" cy="320040"/>
          </a:xfrm>
          <a:prstGeom prst="rect">
            <a:avLst/>
          </a:prstGeom>
          <a:noFill/>
        </p:spPr>
        <p:txBody>
          <a:bodyPr wrap="square" lIns="0" rIns="0" tIns="0" bIns="0" anchor="t">
            <a:spAutoFit/>
          </a:bodyPr>
          <a:lstStyle/>
          <a:p>
            <a:pPr algn="l"/>
            <a:r>
              <a:rPr sz="1000" b="0" i="0">
                <a:solidFill>
                  <a:srgbClr val="CCD6F6"/>
                </a:solidFill>
                <a:latin typeface="Segoe UI"/>
              </a:rPr>
              <a:t>Données médicales</a:t>
            </a:r>
          </a:p>
        </p:txBody>
      </p:sp>
      <p:sp>
        <p:nvSpPr>
          <p:cNvPr id="45" name="Rounded Rectangle 44"/>
          <p:cNvSpPr/>
          <p:nvPr/>
        </p:nvSpPr>
        <p:spPr>
          <a:xfrm>
            <a:off x="9006840" y="370332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06840" y="370332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89720" y="3813048"/>
            <a:ext cx="2514600" cy="320040"/>
          </a:xfrm>
          <a:prstGeom prst="rect">
            <a:avLst/>
          </a:prstGeom>
          <a:noFill/>
        </p:spPr>
        <p:txBody>
          <a:bodyPr wrap="square" lIns="0" rIns="0" tIns="0" bIns="0" anchor="t">
            <a:spAutoFit/>
          </a:bodyPr>
          <a:lstStyle/>
          <a:p>
            <a:pPr algn="l"/>
            <a:r>
              <a:rPr sz="1000" b="1" i="0">
                <a:solidFill>
                  <a:srgbClr val="EBCB8B"/>
                </a:solidFill>
                <a:latin typeface="Consolas"/>
              </a:rPr>
              <a:t>financial_incidents</a:t>
            </a:r>
          </a:p>
        </p:txBody>
      </p:sp>
      <p:sp>
        <p:nvSpPr>
          <p:cNvPr id="48" name="TextBox 47"/>
          <p:cNvSpPr txBox="1"/>
          <p:nvPr/>
        </p:nvSpPr>
        <p:spPr>
          <a:xfrm>
            <a:off x="9189720" y="4160520"/>
            <a:ext cx="2514600" cy="320040"/>
          </a:xfrm>
          <a:prstGeom prst="rect">
            <a:avLst/>
          </a:prstGeom>
          <a:noFill/>
        </p:spPr>
        <p:txBody>
          <a:bodyPr wrap="square" lIns="0" rIns="0" tIns="0" bIns="0" anchor="t">
            <a:spAutoFit/>
          </a:bodyPr>
          <a:lstStyle/>
          <a:p>
            <a:pPr algn="l"/>
            <a:r>
              <a:rPr sz="1000" b="0" i="0">
                <a:solidFill>
                  <a:srgbClr val="CCD6F6"/>
                </a:solidFill>
                <a:latin typeface="Segoe UI"/>
              </a:rPr>
              <a:t>Banques, fintech, fraudes</a:t>
            </a:r>
          </a:p>
        </p:txBody>
      </p:sp>
      <p:sp>
        <p:nvSpPr>
          <p:cNvPr id="49" name="Rounded Rectangle 48"/>
          <p:cNvSpPr/>
          <p:nvPr/>
        </p:nvSpPr>
        <p:spPr>
          <a:xfrm>
            <a:off x="6126480" y="466344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26480" y="466344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4773168"/>
            <a:ext cx="2514600" cy="320040"/>
          </a:xfrm>
          <a:prstGeom prst="rect">
            <a:avLst/>
          </a:prstGeom>
          <a:noFill/>
        </p:spPr>
        <p:txBody>
          <a:bodyPr wrap="square" lIns="0" rIns="0" tIns="0" bIns="0" anchor="t">
            <a:spAutoFit/>
          </a:bodyPr>
          <a:lstStyle/>
          <a:p>
            <a:pPr algn="l"/>
            <a:r>
              <a:rPr sz="1000" b="1" i="0">
                <a:solidFill>
                  <a:srgbClr val="EBCB8B"/>
                </a:solidFill>
                <a:latin typeface="Consolas"/>
              </a:rPr>
              <a:t>government_incidents</a:t>
            </a:r>
          </a:p>
        </p:txBody>
      </p:sp>
      <p:sp>
        <p:nvSpPr>
          <p:cNvPr id="52" name="TextBox 51"/>
          <p:cNvSpPr txBox="1"/>
          <p:nvPr/>
        </p:nvSpPr>
        <p:spPr>
          <a:xfrm>
            <a:off x="6309360" y="5120640"/>
            <a:ext cx="2514600" cy="320040"/>
          </a:xfrm>
          <a:prstGeom prst="rect">
            <a:avLst/>
          </a:prstGeom>
          <a:noFill/>
        </p:spPr>
        <p:txBody>
          <a:bodyPr wrap="square" lIns="0" rIns="0" tIns="0" bIns="0" anchor="t">
            <a:spAutoFit/>
          </a:bodyPr>
          <a:lstStyle/>
          <a:p>
            <a:pPr algn="l"/>
            <a:r>
              <a:rPr sz="1000" b="0" i="0">
                <a:solidFill>
                  <a:srgbClr val="CCD6F6"/>
                </a:solidFill>
                <a:latin typeface="Segoe UI"/>
              </a:rPr>
              <a:t>Secteur public &amp; défense</a:t>
            </a:r>
          </a:p>
        </p:txBody>
      </p:sp>
      <p:sp>
        <p:nvSpPr>
          <p:cNvPr id="53" name="Rounded Rectangle 52"/>
          <p:cNvSpPr/>
          <p:nvPr/>
        </p:nvSpPr>
        <p:spPr>
          <a:xfrm>
            <a:off x="9006840" y="466344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06840" y="466344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89720" y="4773168"/>
            <a:ext cx="2514600" cy="320040"/>
          </a:xfrm>
          <a:prstGeom prst="rect">
            <a:avLst/>
          </a:prstGeom>
          <a:noFill/>
        </p:spPr>
        <p:txBody>
          <a:bodyPr wrap="square" lIns="0" rIns="0" tIns="0" bIns="0" anchor="t">
            <a:spAutoFit/>
          </a:bodyPr>
          <a:lstStyle/>
          <a:p>
            <a:pPr algn="l"/>
            <a:r>
              <a:rPr sz="1000" b="1" i="0">
                <a:solidFill>
                  <a:srgbClr val="EBCB8B"/>
                </a:solidFill>
                <a:latin typeface="Consolas"/>
              </a:rPr>
              <a:t>zero_day_vulnerabilities</a:t>
            </a:r>
          </a:p>
        </p:txBody>
      </p:sp>
      <p:sp>
        <p:nvSpPr>
          <p:cNvPr id="56" name="TextBox 55"/>
          <p:cNvSpPr txBox="1"/>
          <p:nvPr/>
        </p:nvSpPr>
        <p:spPr>
          <a:xfrm>
            <a:off x="9189720" y="5120640"/>
            <a:ext cx="2514600" cy="320040"/>
          </a:xfrm>
          <a:prstGeom prst="rect">
            <a:avLst/>
          </a:prstGeom>
          <a:noFill/>
        </p:spPr>
        <p:txBody>
          <a:bodyPr wrap="square" lIns="0" rIns="0" tIns="0" bIns="0" anchor="t">
            <a:spAutoFit/>
          </a:bodyPr>
          <a:lstStyle/>
          <a:p>
            <a:pPr algn="l"/>
            <a:r>
              <a:rPr sz="1000" b="0" i="0">
                <a:solidFill>
                  <a:srgbClr val="CCD6F6"/>
                </a:solidFill>
                <a:latin typeface="Segoe UI"/>
              </a:rPr>
              <a:t>0-day &amp; CVE exploités</a:t>
            </a:r>
          </a:p>
        </p:txBody>
      </p:sp>
      <p:sp>
        <p:nvSpPr>
          <p:cNvPr id="57" name="Rounded Rectangle 56"/>
          <p:cNvSpPr/>
          <p:nvPr/>
        </p:nvSpPr>
        <p:spPr>
          <a:xfrm>
            <a:off x="6126480" y="562356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26480" y="562356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0" y="5733288"/>
            <a:ext cx="2514600" cy="320040"/>
          </a:xfrm>
          <a:prstGeom prst="rect">
            <a:avLst/>
          </a:prstGeom>
          <a:noFill/>
        </p:spPr>
        <p:txBody>
          <a:bodyPr wrap="square" lIns="0" rIns="0" tIns="0" bIns="0" anchor="t">
            <a:spAutoFit/>
          </a:bodyPr>
          <a:lstStyle/>
          <a:p>
            <a:pPr algn="l"/>
            <a:r>
              <a:rPr sz="1000" b="1" i="0">
                <a:solidFill>
                  <a:srgbClr val="EBCB8B"/>
                </a:solidFill>
                <a:latin typeface="Consolas"/>
              </a:rPr>
              <a:t>dark_web_activity</a:t>
            </a:r>
          </a:p>
        </p:txBody>
      </p:sp>
      <p:sp>
        <p:nvSpPr>
          <p:cNvPr id="60" name="TextBox 59"/>
          <p:cNvSpPr txBox="1"/>
          <p:nvPr/>
        </p:nvSpPr>
        <p:spPr>
          <a:xfrm>
            <a:off x="6309360" y="6080760"/>
            <a:ext cx="2514600" cy="320040"/>
          </a:xfrm>
          <a:prstGeom prst="rect">
            <a:avLst/>
          </a:prstGeom>
          <a:noFill/>
        </p:spPr>
        <p:txBody>
          <a:bodyPr wrap="square" lIns="0" rIns="0" tIns="0" bIns="0" anchor="t">
            <a:spAutoFit/>
          </a:bodyPr>
          <a:lstStyle/>
          <a:p>
            <a:pPr algn="l"/>
            <a:r>
              <a:rPr sz="1000" b="0" i="0">
                <a:solidFill>
                  <a:srgbClr val="CCD6F6"/>
                </a:solidFill>
                <a:latin typeface="Segoe UI"/>
              </a:rPr>
              <a:t>Ventes &amp; brokers d'accès</a:t>
            </a:r>
          </a:p>
        </p:txBody>
      </p:sp>
      <p:sp>
        <p:nvSpPr>
          <p:cNvPr id="61" name="Rounded Rectangle 60"/>
          <p:cNvSpPr/>
          <p:nvPr/>
        </p:nvSpPr>
        <p:spPr>
          <a:xfrm>
            <a:off x="9006840" y="5623560"/>
            <a:ext cx="2788920" cy="868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006840" y="5623560"/>
            <a:ext cx="54864" cy="86868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89720" y="5733288"/>
            <a:ext cx="2514600" cy="320040"/>
          </a:xfrm>
          <a:prstGeom prst="rect">
            <a:avLst/>
          </a:prstGeom>
          <a:noFill/>
        </p:spPr>
        <p:txBody>
          <a:bodyPr wrap="square" lIns="0" rIns="0" tIns="0" bIns="0" anchor="t">
            <a:spAutoFit/>
          </a:bodyPr>
          <a:lstStyle/>
          <a:p>
            <a:pPr algn="l"/>
            <a:r>
              <a:rPr sz="1000" b="1" i="0">
                <a:solidFill>
                  <a:srgbClr val="EBCB8B"/>
                </a:solidFill>
                <a:latin typeface="Consolas"/>
              </a:rPr>
              <a:t>anssi_cert_fr</a:t>
            </a:r>
          </a:p>
        </p:txBody>
      </p:sp>
      <p:sp>
        <p:nvSpPr>
          <p:cNvPr id="64" name="TextBox 63"/>
          <p:cNvSpPr txBox="1"/>
          <p:nvPr/>
        </p:nvSpPr>
        <p:spPr>
          <a:xfrm>
            <a:off x="9189720" y="6080760"/>
            <a:ext cx="2514600" cy="320040"/>
          </a:xfrm>
          <a:prstGeom prst="rect">
            <a:avLst/>
          </a:prstGeom>
          <a:noFill/>
        </p:spPr>
        <p:txBody>
          <a:bodyPr wrap="square" lIns="0" rIns="0" tIns="0" bIns="0" anchor="t">
            <a:spAutoFit/>
          </a:bodyPr>
          <a:lstStyle/>
          <a:p>
            <a:pPr algn="l"/>
            <a:r>
              <a:rPr sz="1000" b="0" i="0">
                <a:solidFill>
                  <a:srgbClr val="CCD6F6"/>
                </a:solidFill>
                <a:latin typeface="Segoe UI"/>
              </a:rPr>
              <a:t>Bulletins ANSSI / CERT-FR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13</a:t>
            </a:r>
          </a:p>
        </p:txBody>
      </p:sp>
      <p:sp>
        <p:nvSpPr>
          <p:cNvPr id="6" name="Rectangle 5"/>
          <p:cNvSpPr/>
          <p:nvPr/>
        </p:nvSpPr>
        <p:spPr>
          <a:xfrm>
            <a:off x="11094415" y="457200"/>
            <a:ext cx="640080" cy="640080"/>
          </a:xfrm>
          <a:prstGeom prst="rect">
            <a:avLst/>
          </a:prstGeom>
          <a:solidFill>
            <a:srgbClr val="0A192F"/>
          </a:solidFill>
          <a:ln w="2540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EBCB8B"/>
                </a:solidFill>
                <a:latin typeface="Segoe UI Black"/>
              </a:rPr>
              <a:t>13</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EBCB8B"/>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GOOGLE ALERTS — LOGIQUE D'EXPLOITATION &amp; RÉSULTATS</a:t>
            </a:r>
          </a:p>
        </p:txBody>
      </p:sp>
      <p:cxnSp>
        <p:nvCxnSpPr>
          <p:cNvPr id="10" name="Connector 9"/>
          <p:cNvCxnSpPr/>
          <p:nvPr/>
        </p:nvCxnSpPr>
        <p:spPr>
          <a:xfrm>
            <a:off x="640080" y="1371600"/>
            <a:ext cx="2743200" cy="0"/>
          </a:xfrm>
          <a:prstGeom prst="line">
            <a:avLst/>
          </a:prstGeom>
          <a:ln w="19050">
            <a:solidFill>
              <a:srgbClr val="EBCB8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EBC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371600"/>
            <a:ext cx="7315200" cy="365760"/>
          </a:xfrm>
          <a:prstGeom prst="rect">
            <a:avLst/>
          </a:prstGeom>
          <a:noFill/>
        </p:spPr>
        <p:txBody>
          <a:bodyPr wrap="square" lIns="0" rIns="0" tIns="0" bIns="0" anchor="t">
            <a:spAutoFit/>
          </a:bodyPr>
          <a:lstStyle/>
          <a:p>
            <a:pPr algn="l"/>
            <a:r>
              <a:rPr sz="1000" b="1" i="0">
                <a:solidFill>
                  <a:srgbClr val="EBCB8B"/>
                </a:solidFill>
                <a:latin typeface="Segoe UI"/>
              </a:rPr>
              <a:t>INTERFACE DE SUIVI DES ALERTES</a:t>
            </a:r>
          </a:p>
        </p:txBody>
      </p:sp>
      <p:pic>
        <p:nvPicPr>
          <p:cNvPr id="14" name="Picture 13" descr="ga.png"/>
          <p:cNvPicPr>
            <a:picLocks noChangeAspect="1"/>
          </p:cNvPicPr>
          <p:nvPr/>
        </p:nvPicPr>
        <p:blipFill>
          <a:blip r:embed="rId2"/>
          <a:stretch>
            <a:fillRect/>
          </a:stretch>
        </p:blipFill>
        <p:spPr>
          <a:xfrm>
            <a:off x="640080" y="1783080"/>
            <a:ext cx="7315200" cy="4109792"/>
          </a:xfrm>
          <a:prstGeom prst="rect">
            <a:avLst/>
          </a:prstGeom>
        </p:spPr>
      </p:pic>
      <p:sp>
        <p:nvSpPr>
          <p:cNvPr id="15" name="TextBox 14"/>
          <p:cNvSpPr txBox="1"/>
          <p:nvPr/>
        </p:nvSpPr>
        <p:spPr>
          <a:xfrm>
            <a:off x="8229600" y="1371600"/>
            <a:ext cx="3474720" cy="365760"/>
          </a:xfrm>
          <a:prstGeom prst="rect">
            <a:avLst/>
          </a:prstGeom>
          <a:noFill/>
        </p:spPr>
        <p:txBody>
          <a:bodyPr wrap="square" lIns="0" rIns="0" tIns="0" bIns="0" anchor="t">
            <a:spAutoFit/>
          </a:bodyPr>
          <a:lstStyle/>
          <a:p>
            <a:pPr algn="l"/>
            <a:r>
              <a:rPr sz="1000" b="1" i="0">
                <a:solidFill>
                  <a:srgbClr val="EBCB8B"/>
                </a:solidFill>
                <a:latin typeface="Segoe UI"/>
              </a:rPr>
              <a:t>LOGIQUE D'EXPLOITATION</a:t>
            </a:r>
          </a:p>
        </p:txBody>
      </p:sp>
      <p:sp>
        <p:nvSpPr>
          <p:cNvPr id="16" name="Rounded Rectangle 15"/>
          <p:cNvSpPr/>
          <p:nvPr/>
        </p:nvSpPr>
        <p:spPr>
          <a:xfrm>
            <a:off x="8229600" y="1783080"/>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783080"/>
            <a:ext cx="73152" cy="82296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1892808"/>
            <a:ext cx="3108960" cy="365760"/>
          </a:xfrm>
          <a:prstGeom prst="rect">
            <a:avLst/>
          </a:prstGeom>
          <a:noFill/>
        </p:spPr>
        <p:txBody>
          <a:bodyPr wrap="square" lIns="0" rIns="0" tIns="0" bIns="0" anchor="t">
            <a:spAutoFit/>
          </a:bodyPr>
          <a:lstStyle/>
          <a:p>
            <a:pPr algn="l"/>
            <a:r>
              <a:rPr sz="1200" b="1" i="0">
                <a:solidFill>
                  <a:srgbClr val="E6F1FF"/>
                </a:solidFill>
                <a:latin typeface="Segoe UI"/>
              </a:rPr>
              <a:t>Récupération RSS</a:t>
            </a:r>
          </a:p>
        </p:txBody>
      </p:sp>
      <p:sp>
        <p:nvSpPr>
          <p:cNvPr id="19" name="TextBox 18"/>
          <p:cNvSpPr txBox="1"/>
          <p:nvPr/>
        </p:nvSpPr>
        <p:spPr>
          <a:xfrm>
            <a:off x="8458200" y="2240280"/>
            <a:ext cx="3108960" cy="365760"/>
          </a:xfrm>
          <a:prstGeom prst="rect">
            <a:avLst/>
          </a:prstGeom>
          <a:noFill/>
        </p:spPr>
        <p:txBody>
          <a:bodyPr wrap="square" lIns="0" rIns="0" tIns="0" bIns="0" anchor="t">
            <a:spAutoFit/>
          </a:bodyPr>
          <a:lstStyle/>
          <a:p>
            <a:pPr algn="l"/>
            <a:r>
              <a:rPr sz="1000" b="0" i="0">
                <a:solidFill>
                  <a:srgbClr val="CCD6F6"/>
                </a:solidFill>
                <a:latin typeface="Segoe UI"/>
              </a:rPr>
              <a:t>à intervalle régulier</a:t>
            </a:r>
          </a:p>
        </p:txBody>
      </p:sp>
      <p:sp>
        <p:nvSpPr>
          <p:cNvPr id="20" name="Rounded Rectangle 19"/>
          <p:cNvSpPr/>
          <p:nvPr/>
        </p:nvSpPr>
        <p:spPr>
          <a:xfrm>
            <a:off x="8229600" y="2660904"/>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2660904"/>
            <a:ext cx="73152" cy="82296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2770632"/>
            <a:ext cx="3108960" cy="365760"/>
          </a:xfrm>
          <a:prstGeom prst="rect">
            <a:avLst/>
          </a:prstGeom>
          <a:noFill/>
        </p:spPr>
        <p:txBody>
          <a:bodyPr wrap="square" lIns="0" rIns="0" tIns="0" bIns="0" anchor="t">
            <a:spAutoFit/>
          </a:bodyPr>
          <a:lstStyle/>
          <a:p>
            <a:pPr algn="l"/>
            <a:r>
              <a:rPr sz="1200" b="1" i="0">
                <a:solidFill>
                  <a:srgbClr val="E6F1FF"/>
                </a:solidFill>
                <a:latin typeface="Segoe UI"/>
              </a:rPr>
              <a:t>Extraction métadonnées</a:t>
            </a:r>
          </a:p>
        </p:txBody>
      </p:sp>
      <p:sp>
        <p:nvSpPr>
          <p:cNvPr id="23" name="TextBox 22"/>
          <p:cNvSpPr txBox="1"/>
          <p:nvPr/>
        </p:nvSpPr>
        <p:spPr>
          <a:xfrm>
            <a:off x="8458200" y="3118104"/>
            <a:ext cx="3108960" cy="365760"/>
          </a:xfrm>
          <a:prstGeom prst="rect">
            <a:avLst/>
          </a:prstGeom>
          <a:noFill/>
        </p:spPr>
        <p:txBody>
          <a:bodyPr wrap="square" lIns="0" rIns="0" tIns="0" bIns="0" anchor="t">
            <a:spAutoFit/>
          </a:bodyPr>
          <a:lstStyle/>
          <a:p>
            <a:pPr algn="l"/>
            <a:r>
              <a:rPr sz="1000" b="0" i="0">
                <a:solidFill>
                  <a:srgbClr val="CCD6F6"/>
                </a:solidFill>
                <a:latin typeface="Segoe UI"/>
              </a:rPr>
              <a:t>titre, date, source</a:t>
            </a:r>
          </a:p>
        </p:txBody>
      </p:sp>
      <p:sp>
        <p:nvSpPr>
          <p:cNvPr id="24" name="Rounded Rectangle 23"/>
          <p:cNvSpPr/>
          <p:nvPr/>
        </p:nvSpPr>
        <p:spPr>
          <a:xfrm>
            <a:off x="8229600" y="3538728"/>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3538728"/>
            <a:ext cx="73152" cy="82296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3648456"/>
            <a:ext cx="3108960" cy="365760"/>
          </a:xfrm>
          <a:prstGeom prst="rect">
            <a:avLst/>
          </a:prstGeom>
          <a:noFill/>
        </p:spPr>
        <p:txBody>
          <a:bodyPr wrap="square" lIns="0" rIns="0" tIns="0" bIns="0" anchor="t">
            <a:spAutoFit/>
          </a:bodyPr>
          <a:lstStyle/>
          <a:p>
            <a:pPr algn="l"/>
            <a:r>
              <a:rPr sz="1200" b="1" i="0">
                <a:solidFill>
                  <a:srgbClr val="E6F1FF"/>
                </a:solidFill>
                <a:latin typeface="Segoe UI"/>
              </a:rPr>
              <a:t>Rattachement catégorie</a:t>
            </a:r>
          </a:p>
        </p:txBody>
      </p:sp>
      <p:sp>
        <p:nvSpPr>
          <p:cNvPr id="27" name="TextBox 26"/>
          <p:cNvSpPr txBox="1"/>
          <p:nvPr/>
        </p:nvSpPr>
        <p:spPr>
          <a:xfrm>
            <a:off x="8458200" y="3995928"/>
            <a:ext cx="3108960" cy="365760"/>
          </a:xfrm>
          <a:prstGeom prst="rect">
            <a:avLst/>
          </a:prstGeom>
          <a:noFill/>
        </p:spPr>
        <p:txBody>
          <a:bodyPr wrap="square" lIns="0" rIns="0" tIns="0" bIns="0" anchor="t">
            <a:spAutoFit/>
          </a:bodyPr>
          <a:lstStyle/>
          <a:p>
            <a:pPr algn="l"/>
            <a:r>
              <a:rPr sz="1000" b="0" i="0">
                <a:solidFill>
                  <a:srgbClr val="CCD6F6"/>
                </a:solidFill>
                <a:latin typeface="Segoe UI"/>
              </a:rPr>
              <a:t>selon l'alerte d'origine</a:t>
            </a:r>
          </a:p>
        </p:txBody>
      </p:sp>
      <p:sp>
        <p:nvSpPr>
          <p:cNvPr id="28" name="Rounded Rectangle 27"/>
          <p:cNvSpPr/>
          <p:nvPr/>
        </p:nvSpPr>
        <p:spPr>
          <a:xfrm>
            <a:off x="8229600" y="4416552"/>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4416552"/>
            <a:ext cx="73152" cy="82296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58200" y="4526280"/>
            <a:ext cx="3108960" cy="365760"/>
          </a:xfrm>
          <a:prstGeom prst="rect">
            <a:avLst/>
          </a:prstGeom>
          <a:noFill/>
        </p:spPr>
        <p:txBody>
          <a:bodyPr wrap="square" lIns="0" rIns="0" tIns="0" bIns="0" anchor="t">
            <a:spAutoFit/>
          </a:bodyPr>
          <a:lstStyle/>
          <a:p>
            <a:pPr algn="l"/>
            <a:r>
              <a:rPr sz="1200" b="1" i="0">
                <a:solidFill>
                  <a:srgbClr val="E6F1FF"/>
                </a:solidFill>
                <a:latin typeface="Segoe UI"/>
              </a:rPr>
              <a:t>Filtrage</a:t>
            </a:r>
          </a:p>
        </p:txBody>
      </p:sp>
      <p:sp>
        <p:nvSpPr>
          <p:cNvPr id="31" name="TextBox 30"/>
          <p:cNvSpPr txBox="1"/>
          <p:nvPr/>
        </p:nvSpPr>
        <p:spPr>
          <a:xfrm>
            <a:off x="8458200" y="4873752"/>
            <a:ext cx="3108960" cy="365760"/>
          </a:xfrm>
          <a:prstGeom prst="rect">
            <a:avLst/>
          </a:prstGeom>
          <a:noFill/>
        </p:spPr>
        <p:txBody>
          <a:bodyPr wrap="square" lIns="0" rIns="0" tIns="0" bIns="0" anchor="t">
            <a:spAutoFit/>
          </a:bodyPr>
          <a:lstStyle/>
          <a:p>
            <a:pPr algn="l"/>
            <a:r>
              <a:rPr sz="1000" b="0" i="0">
                <a:solidFill>
                  <a:srgbClr val="CCD6F6"/>
                </a:solidFill>
                <a:latin typeface="Segoe UI"/>
              </a:rPr>
              <a:t>règles communes</a:t>
            </a:r>
          </a:p>
        </p:txBody>
      </p:sp>
      <p:sp>
        <p:nvSpPr>
          <p:cNvPr id="32" name="Rounded Rectangle 31"/>
          <p:cNvSpPr/>
          <p:nvPr/>
        </p:nvSpPr>
        <p:spPr>
          <a:xfrm>
            <a:off x="8229600" y="5294376"/>
            <a:ext cx="3474720" cy="8229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5294376"/>
            <a:ext cx="73152" cy="82296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8200" y="5404104"/>
            <a:ext cx="3108960" cy="365760"/>
          </a:xfrm>
          <a:prstGeom prst="rect">
            <a:avLst/>
          </a:prstGeom>
          <a:noFill/>
        </p:spPr>
        <p:txBody>
          <a:bodyPr wrap="square" lIns="0" rIns="0" tIns="0" bIns="0" anchor="t">
            <a:spAutoFit/>
          </a:bodyPr>
          <a:lstStyle/>
          <a:p>
            <a:pPr algn="l"/>
            <a:r>
              <a:rPr sz="1200" b="1" i="0">
                <a:solidFill>
                  <a:srgbClr val="E6F1FF"/>
                </a:solidFill>
                <a:latin typeface="Segoe UI"/>
              </a:rPr>
              <a:t>Stockage</a:t>
            </a:r>
          </a:p>
        </p:txBody>
      </p:sp>
      <p:sp>
        <p:nvSpPr>
          <p:cNvPr id="35" name="TextBox 34"/>
          <p:cNvSpPr txBox="1"/>
          <p:nvPr/>
        </p:nvSpPr>
        <p:spPr>
          <a:xfrm>
            <a:off x="8458200" y="5751576"/>
            <a:ext cx="3108960" cy="365760"/>
          </a:xfrm>
          <a:prstGeom prst="rect">
            <a:avLst/>
          </a:prstGeom>
          <a:noFill/>
        </p:spPr>
        <p:txBody>
          <a:bodyPr wrap="square" lIns="0" rIns="0" tIns="0" bIns="0" anchor="t">
            <a:spAutoFit/>
          </a:bodyPr>
          <a:lstStyle/>
          <a:p>
            <a:pPr algn="l"/>
            <a:r>
              <a:rPr sz="1000" b="0" i="0">
                <a:solidFill>
                  <a:srgbClr val="CCD6F6"/>
                </a:solidFill>
                <a:latin typeface="Segoe UI"/>
              </a:rPr>
              <a:t>normalisé + redacté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14</a:t>
            </a:r>
          </a:p>
        </p:txBody>
      </p:sp>
      <p:sp>
        <p:nvSpPr>
          <p:cNvPr id="6" name="Rectangle 5"/>
          <p:cNvSpPr/>
          <p:nvPr/>
        </p:nvSpPr>
        <p:spPr>
          <a:xfrm>
            <a:off x="11094415" y="457200"/>
            <a:ext cx="640080" cy="640080"/>
          </a:xfrm>
          <a:prstGeom prst="rect">
            <a:avLst/>
          </a:prstGeom>
          <a:solidFill>
            <a:srgbClr val="0A192F"/>
          </a:solidFill>
          <a:ln w="2540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B48EAD"/>
                </a:solidFill>
                <a:latin typeface="Segoe UI Black"/>
              </a:rPr>
              <a:t>14</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SOUS-PROJET — DATA WAREHOUSE CVE</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MODULE BI THREAT INTELLIGENCE — ARCHITECTURE MÉDAILLON</a:t>
            </a:r>
          </a:p>
        </p:txBody>
      </p:sp>
      <p:cxnSp>
        <p:nvCxnSpPr>
          <p:cNvPr id="10" name="Connector 9"/>
          <p:cNvCxnSpPr/>
          <p:nvPr/>
        </p:nvCxnSpPr>
        <p:spPr>
          <a:xfrm>
            <a:off x="640080" y="1371600"/>
            <a:ext cx="2743200" cy="0"/>
          </a:xfrm>
          <a:prstGeom prst="line">
            <a:avLst/>
          </a:prstGeom>
          <a:ln w="19050">
            <a:solidFill>
              <a:srgbClr val="B48EA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71600"/>
            <a:ext cx="7315200" cy="365760"/>
          </a:xfrm>
          <a:prstGeom prst="rect">
            <a:avLst/>
          </a:prstGeom>
          <a:noFill/>
        </p:spPr>
        <p:txBody>
          <a:bodyPr wrap="square" lIns="0" rIns="0" tIns="0" bIns="0" anchor="t">
            <a:spAutoFit/>
          </a:bodyPr>
          <a:lstStyle/>
          <a:p>
            <a:pPr algn="l"/>
            <a:r>
              <a:rPr sz="900" b="1" i="0">
                <a:solidFill>
                  <a:srgbClr val="B48EAD"/>
                </a:solidFill>
                <a:latin typeface="Segoe UI"/>
              </a:rPr>
              <a:t>ARCHITECTURE DU PIPELINE CVE</a:t>
            </a:r>
          </a:p>
        </p:txBody>
      </p:sp>
      <p:sp>
        <p:nvSpPr>
          <p:cNvPr id="14" name="Rounded Rectangle 13"/>
          <p:cNvSpPr/>
          <p:nvPr/>
        </p:nvSpPr>
        <p:spPr>
          <a:xfrm>
            <a:off x="365760" y="1737360"/>
            <a:ext cx="7452360" cy="461772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IP.png"/>
          <p:cNvPicPr>
            <a:picLocks noChangeAspect="1"/>
          </p:cNvPicPr>
          <p:nvPr/>
        </p:nvPicPr>
        <p:blipFill>
          <a:blip r:embed="rId2"/>
          <a:stretch>
            <a:fillRect/>
          </a:stretch>
        </p:blipFill>
        <p:spPr>
          <a:xfrm>
            <a:off x="502920" y="1874519"/>
            <a:ext cx="7178040" cy="3946084"/>
          </a:xfrm>
          <a:prstGeom prst="rect">
            <a:avLst/>
          </a:prstGeom>
        </p:spPr>
      </p:pic>
      <p:sp>
        <p:nvSpPr>
          <p:cNvPr id="16" name="TextBox 15"/>
          <p:cNvSpPr txBox="1"/>
          <p:nvPr/>
        </p:nvSpPr>
        <p:spPr>
          <a:xfrm>
            <a:off x="8001000" y="1371600"/>
            <a:ext cx="3886200" cy="365760"/>
          </a:xfrm>
          <a:prstGeom prst="rect">
            <a:avLst/>
          </a:prstGeom>
          <a:noFill/>
        </p:spPr>
        <p:txBody>
          <a:bodyPr wrap="square" lIns="0" rIns="0" tIns="0" bIns="0" anchor="t">
            <a:spAutoFit/>
          </a:bodyPr>
          <a:lstStyle/>
          <a:p>
            <a:pPr algn="l"/>
            <a:r>
              <a:rPr sz="900" b="1" i="0">
                <a:solidFill>
                  <a:srgbClr val="B48EAD"/>
                </a:solidFill>
                <a:latin typeface="Segoe UI"/>
              </a:rPr>
              <a:t>MODÈLE MÉDAILLON</a:t>
            </a:r>
          </a:p>
        </p:txBody>
      </p:sp>
      <p:sp>
        <p:nvSpPr>
          <p:cNvPr id="17" name="Rounded Rectangle 16"/>
          <p:cNvSpPr/>
          <p:nvPr/>
        </p:nvSpPr>
        <p:spPr>
          <a:xfrm>
            <a:off x="8001000" y="1783080"/>
            <a:ext cx="3886200" cy="1463040"/>
          </a:xfrm>
          <a:prstGeom prst="roundRect">
            <a:avLst>
              <a:gd name="adj" fmla="val 5000"/>
            </a:avLst>
          </a:prstGeom>
          <a:solidFill>
            <a:srgbClr val="112240">
              <a:alpha val="60000"/>
            </a:srgbClr>
          </a:solidFill>
          <a:ln w="19050">
            <a:solidFill>
              <a:srgbClr val="C9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783080"/>
            <a:ext cx="777240" cy="1463040"/>
          </a:xfrm>
          <a:prstGeom prst="rect">
            <a:avLst/>
          </a:prstGeom>
          <a:solidFill>
            <a:srgbClr val="C9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2103120"/>
            <a:ext cx="777240" cy="457200"/>
          </a:xfrm>
          <a:prstGeom prst="rect">
            <a:avLst/>
          </a:prstGeom>
          <a:noFill/>
        </p:spPr>
        <p:txBody>
          <a:bodyPr wrap="square" lIns="0" rIns="0" tIns="0" bIns="0" anchor="t">
            <a:spAutoFit/>
          </a:bodyPr>
          <a:lstStyle/>
          <a:p>
            <a:pPr algn="ctr"/>
            <a:r>
              <a:rPr sz="2200" b="1" i="0">
                <a:solidFill>
                  <a:srgbClr val="E6F1FF"/>
                </a:solidFill>
                <a:latin typeface="Segoe UI"/>
              </a:rPr>
              <a:t>L1</a:t>
            </a:r>
          </a:p>
        </p:txBody>
      </p:sp>
      <p:sp>
        <p:nvSpPr>
          <p:cNvPr id="20" name="TextBox 19"/>
          <p:cNvSpPr txBox="1"/>
          <p:nvPr/>
        </p:nvSpPr>
        <p:spPr>
          <a:xfrm>
            <a:off x="8869680" y="1920240"/>
            <a:ext cx="2880360" cy="365760"/>
          </a:xfrm>
          <a:prstGeom prst="rect">
            <a:avLst/>
          </a:prstGeom>
          <a:noFill/>
        </p:spPr>
        <p:txBody>
          <a:bodyPr wrap="square" lIns="0" rIns="0" tIns="0" bIns="0" anchor="t">
            <a:spAutoFit/>
          </a:bodyPr>
          <a:lstStyle/>
          <a:p>
            <a:pPr algn="l"/>
            <a:r>
              <a:rPr sz="1500" b="1" i="0">
                <a:solidFill>
                  <a:srgbClr val="C97A55"/>
                </a:solidFill>
                <a:latin typeface="Segoe UI"/>
              </a:rPr>
              <a:t>BRONZE</a:t>
            </a:r>
          </a:p>
        </p:txBody>
      </p:sp>
      <p:sp>
        <p:nvSpPr>
          <p:cNvPr id="21" name="TextBox 20"/>
          <p:cNvSpPr txBox="1"/>
          <p:nvPr/>
        </p:nvSpPr>
        <p:spPr>
          <a:xfrm>
            <a:off x="8869680" y="2240280"/>
            <a:ext cx="2880360" cy="274320"/>
          </a:xfrm>
          <a:prstGeom prst="rect">
            <a:avLst/>
          </a:prstGeom>
          <a:noFill/>
        </p:spPr>
        <p:txBody>
          <a:bodyPr wrap="square" lIns="0" rIns="0" tIns="0" bIns="0" anchor="t">
            <a:spAutoFit/>
          </a:bodyPr>
          <a:lstStyle/>
          <a:p>
            <a:pPr algn="l"/>
            <a:r>
              <a:rPr sz="1000" b="0" i="1">
                <a:solidFill>
                  <a:srgbClr val="CCD6F6"/>
                </a:solidFill>
                <a:latin typeface="Segoe UI"/>
              </a:rPr>
              <a:t>Ingestion brute</a:t>
            </a:r>
          </a:p>
        </p:txBody>
      </p:sp>
      <p:sp>
        <p:nvSpPr>
          <p:cNvPr id="22" name="TextBox 21"/>
          <p:cNvSpPr txBox="1"/>
          <p:nvPr/>
        </p:nvSpPr>
        <p:spPr>
          <a:xfrm>
            <a:off x="8869680" y="2560320"/>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Collecte des CVE depuis</a:t>
            </a:r>
          </a:p>
          <a:p>
            <a:pPr algn="l">
              <a:lnSpc>
                <a:spcPct val="130000"/>
              </a:lnSpc>
            </a:pPr>
            <a:r>
              <a:rPr sz="1000" b="0" i="0">
                <a:solidFill>
                  <a:srgbClr val="E6F1FF"/>
                </a:solidFill>
                <a:latin typeface="Segoe UI"/>
              </a:rPr>
              <a:t>les sources externes.</a:t>
            </a:r>
          </a:p>
        </p:txBody>
      </p:sp>
      <p:cxnSp>
        <p:nvCxnSpPr>
          <p:cNvPr id="23" name="Connector 22"/>
          <p:cNvCxnSpPr/>
          <p:nvPr/>
        </p:nvCxnSpPr>
        <p:spPr>
          <a:xfrm>
            <a:off x="9944100.0" y="3255264"/>
            <a:ext cx="0.0" cy="100584"/>
          </a:xfrm>
          <a:prstGeom prst="line">
            <a:avLst/>
          </a:prstGeom>
          <a:ln w="31750">
            <a:solidFill>
              <a:srgbClr val="B48E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01000" y="3364992"/>
            <a:ext cx="3886200" cy="1463040"/>
          </a:xfrm>
          <a:prstGeom prst="roundRect">
            <a:avLst>
              <a:gd name="adj" fmla="val 5000"/>
            </a:avLst>
          </a:prstGeom>
          <a:solidFill>
            <a:srgbClr val="112240">
              <a:alpha val="60000"/>
            </a:srgbClr>
          </a:solidFill>
          <a:ln w="19050">
            <a:solidFill>
              <a:srgbClr val="A0A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01000" y="3364992"/>
            <a:ext cx="777240" cy="1463040"/>
          </a:xfrm>
          <a:prstGeom prst="rect">
            <a:avLst/>
          </a:prstGeom>
          <a:solidFill>
            <a:srgbClr val="A0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3685032"/>
            <a:ext cx="777240" cy="457200"/>
          </a:xfrm>
          <a:prstGeom prst="rect">
            <a:avLst/>
          </a:prstGeom>
          <a:noFill/>
        </p:spPr>
        <p:txBody>
          <a:bodyPr wrap="square" lIns="0" rIns="0" tIns="0" bIns="0" anchor="t">
            <a:spAutoFit/>
          </a:bodyPr>
          <a:lstStyle/>
          <a:p>
            <a:pPr algn="ctr"/>
            <a:r>
              <a:rPr sz="2200" b="1" i="0">
                <a:solidFill>
                  <a:srgbClr val="E6F1FF"/>
                </a:solidFill>
                <a:latin typeface="Segoe UI"/>
              </a:rPr>
              <a:t>L2</a:t>
            </a:r>
          </a:p>
        </p:txBody>
      </p:sp>
      <p:sp>
        <p:nvSpPr>
          <p:cNvPr id="27" name="TextBox 26"/>
          <p:cNvSpPr txBox="1"/>
          <p:nvPr/>
        </p:nvSpPr>
        <p:spPr>
          <a:xfrm>
            <a:off x="8869680" y="3502152"/>
            <a:ext cx="2880360" cy="365760"/>
          </a:xfrm>
          <a:prstGeom prst="rect">
            <a:avLst/>
          </a:prstGeom>
          <a:noFill/>
        </p:spPr>
        <p:txBody>
          <a:bodyPr wrap="square" lIns="0" rIns="0" tIns="0" bIns="0" anchor="t">
            <a:spAutoFit/>
          </a:bodyPr>
          <a:lstStyle/>
          <a:p>
            <a:pPr algn="l"/>
            <a:r>
              <a:rPr sz="1500" b="1" i="0">
                <a:solidFill>
                  <a:srgbClr val="A0A8B5"/>
                </a:solidFill>
                <a:latin typeface="Segoe UI"/>
              </a:rPr>
              <a:t>SILVER</a:t>
            </a:r>
          </a:p>
        </p:txBody>
      </p:sp>
      <p:sp>
        <p:nvSpPr>
          <p:cNvPr id="28" name="TextBox 27"/>
          <p:cNvSpPr txBox="1"/>
          <p:nvPr/>
        </p:nvSpPr>
        <p:spPr>
          <a:xfrm>
            <a:off x="8869680" y="3822192"/>
            <a:ext cx="2880360" cy="274320"/>
          </a:xfrm>
          <a:prstGeom prst="rect">
            <a:avLst/>
          </a:prstGeom>
          <a:noFill/>
        </p:spPr>
        <p:txBody>
          <a:bodyPr wrap="square" lIns="0" rIns="0" tIns="0" bIns="0" anchor="t">
            <a:spAutoFit/>
          </a:bodyPr>
          <a:lstStyle/>
          <a:p>
            <a:pPr algn="l"/>
            <a:r>
              <a:rPr sz="1000" b="0" i="1">
                <a:solidFill>
                  <a:srgbClr val="CCD6F6"/>
                </a:solidFill>
                <a:latin typeface="Segoe UI"/>
              </a:rPr>
              <a:t>Nettoyage &amp; enrichissement</a:t>
            </a:r>
          </a:p>
        </p:txBody>
      </p:sp>
      <p:sp>
        <p:nvSpPr>
          <p:cNvPr id="29" name="TextBox 28"/>
          <p:cNvSpPr txBox="1"/>
          <p:nvPr/>
        </p:nvSpPr>
        <p:spPr>
          <a:xfrm>
            <a:off x="8869680" y="4142232"/>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Normalisation, dédup,</a:t>
            </a:r>
          </a:p>
          <a:p>
            <a:pPr algn="l">
              <a:lnSpc>
                <a:spcPct val="130000"/>
              </a:lnSpc>
            </a:pPr>
            <a:r>
              <a:rPr sz="1000" b="0" i="0">
                <a:solidFill>
                  <a:srgbClr val="E6F1FF"/>
                </a:solidFill>
                <a:latin typeface="Segoe UI"/>
              </a:rPr>
              <a:t>enrichissement métier.</a:t>
            </a:r>
          </a:p>
        </p:txBody>
      </p:sp>
      <p:cxnSp>
        <p:nvCxnSpPr>
          <p:cNvPr id="30" name="Connector 29"/>
          <p:cNvCxnSpPr/>
          <p:nvPr/>
        </p:nvCxnSpPr>
        <p:spPr>
          <a:xfrm>
            <a:off x="9944100.0" y="4837176"/>
            <a:ext cx="0.0" cy="100584"/>
          </a:xfrm>
          <a:prstGeom prst="line">
            <a:avLst/>
          </a:prstGeom>
          <a:ln w="31750">
            <a:solidFill>
              <a:srgbClr val="B48E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01000" y="4946904"/>
            <a:ext cx="3886200" cy="1463040"/>
          </a:xfrm>
          <a:prstGeom prst="roundRect">
            <a:avLst>
              <a:gd name="adj" fmla="val 5000"/>
            </a:avLst>
          </a:prstGeom>
          <a:solidFill>
            <a:srgbClr val="112240">
              <a:alpha val="60000"/>
            </a:srgbClr>
          </a:solidFill>
          <a:ln w="19050">
            <a:solidFill>
              <a:srgbClr val="D4A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4946904"/>
            <a:ext cx="777240" cy="1463040"/>
          </a:xfrm>
          <a:prstGeom prst="rect">
            <a:avLst/>
          </a:prstGeom>
          <a:solidFill>
            <a:srgbClr val="D4A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0" y="5266944"/>
            <a:ext cx="777240" cy="457200"/>
          </a:xfrm>
          <a:prstGeom prst="rect">
            <a:avLst/>
          </a:prstGeom>
          <a:noFill/>
        </p:spPr>
        <p:txBody>
          <a:bodyPr wrap="square" lIns="0" rIns="0" tIns="0" bIns="0" anchor="t">
            <a:spAutoFit/>
          </a:bodyPr>
          <a:lstStyle/>
          <a:p>
            <a:pPr algn="ctr"/>
            <a:r>
              <a:rPr sz="2200" b="1" i="0">
                <a:solidFill>
                  <a:srgbClr val="E6F1FF"/>
                </a:solidFill>
                <a:latin typeface="Segoe UI"/>
              </a:rPr>
              <a:t>L3</a:t>
            </a:r>
          </a:p>
        </p:txBody>
      </p:sp>
      <p:sp>
        <p:nvSpPr>
          <p:cNvPr id="34" name="TextBox 33"/>
          <p:cNvSpPr txBox="1"/>
          <p:nvPr/>
        </p:nvSpPr>
        <p:spPr>
          <a:xfrm>
            <a:off x="8869680" y="5084064"/>
            <a:ext cx="2880360" cy="365760"/>
          </a:xfrm>
          <a:prstGeom prst="rect">
            <a:avLst/>
          </a:prstGeom>
          <a:noFill/>
        </p:spPr>
        <p:txBody>
          <a:bodyPr wrap="square" lIns="0" rIns="0" tIns="0" bIns="0" anchor="t">
            <a:spAutoFit/>
          </a:bodyPr>
          <a:lstStyle/>
          <a:p>
            <a:pPr algn="l"/>
            <a:r>
              <a:rPr sz="1500" b="1" i="0">
                <a:solidFill>
                  <a:srgbClr val="D4A848"/>
                </a:solidFill>
                <a:latin typeface="Segoe UI"/>
              </a:rPr>
              <a:t>GOLD</a:t>
            </a:r>
          </a:p>
        </p:txBody>
      </p:sp>
      <p:sp>
        <p:nvSpPr>
          <p:cNvPr id="35" name="TextBox 34"/>
          <p:cNvSpPr txBox="1"/>
          <p:nvPr/>
        </p:nvSpPr>
        <p:spPr>
          <a:xfrm>
            <a:off x="8869680" y="5404104"/>
            <a:ext cx="2880360" cy="274320"/>
          </a:xfrm>
          <a:prstGeom prst="rect">
            <a:avLst/>
          </a:prstGeom>
          <a:noFill/>
        </p:spPr>
        <p:txBody>
          <a:bodyPr wrap="square" lIns="0" rIns="0" tIns="0" bIns="0" anchor="t">
            <a:spAutoFit/>
          </a:bodyPr>
          <a:lstStyle/>
          <a:p>
            <a:pPr algn="l"/>
            <a:r>
              <a:rPr sz="1000" b="0" i="1">
                <a:solidFill>
                  <a:srgbClr val="CCD6F6"/>
                </a:solidFill>
                <a:latin typeface="Segoe UI"/>
              </a:rPr>
              <a:t>Agrégats analytiques</a:t>
            </a:r>
          </a:p>
        </p:txBody>
      </p:sp>
      <p:sp>
        <p:nvSpPr>
          <p:cNvPr id="36" name="TextBox 35"/>
          <p:cNvSpPr txBox="1"/>
          <p:nvPr/>
        </p:nvSpPr>
        <p:spPr>
          <a:xfrm>
            <a:off x="8869680" y="5724144"/>
            <a:ext cx="2880360" cy="640080"/>
          </a:xfrm>
          <a:prstGeom prst="rect">
            <a:avLst/>
          </a:prstGeom>
          <a:noFill/>
        </p:spPr>
        <p:txBody>
          <a:bodyPr wrap="square" lIns="0" rIns="0" tIns="0" bIns="0" anchor="t">
            <a:spAutoFit/>
          </a:bodyPr>
          <a:lstStyle/>
          <a:p>
            <a:pPr algn="l">
              <a:lnSpc>
                <a:spcPct val="130000"/>
              </a:lnSpc>
            </a:pPr>
            <a:r>
              <a:rPr sz="1000" b="0" i="0">
                <a:solidFill>
                  <a:srgbClr val="E6F1FF"/>
                </a:solidFill>
                <a:latin typeface="Segoe UI"/>
              </a:rPr>
              <a:t>Tables prêtes pour</a:t>
            </a:r>
          </a:p>
          <a:p>
            <a:pPr algn="l">
              <a:lnSpc>
                <a:spcPct val="130000"/>
              </a:lnSpc>
            </a:pPr>
            <a:r>
              <a:rPr sz="1000" b="0" i="0">
                <a:solidFill>
                  <a:srgbClr val="E6F1FF"/>
                </a:solidFill>
                <a:latin typeface="Segoe UI"/>
              </a:rPr>
              <a:t>les dashboards Power 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15</a:t>
            </a:r>
          </a:p>
        </p:txBody>
      </p:sp>
      <p:sp>
        <p:nvSpPr>
          <p:cNvPr id="6" name="Rectangle 5"/>
          <p:cNvSpPr/>
          <p:nvPr/>
        </p:nvSpPr>
        <p:spPr>
          <a:xfrm>
            <a:off x="11094415" y="457200"/>
            <a:ext cx="640080" cy="640080"/>
          </a:xfrm>
          <a:prstGeom prst="rect">
            <a:avLst/>
          </a:prstGeom>
          <a:solidFill>
            <a:srgbClr val="0A192F"/>
          </a:solidFill>
          <a:ln w="2540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B48EAD"/>
                </a:solidFill>
                <a:latin typeface="Segoe UI Black"/>
              </a:rPr>
              <a:t>15</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DASHBOARDS POWER BI — 3 VUES ANALYTIQUES</a:t>
            </a:r>
          </a:p>
        </p:txBody>
      </p:sp>
      <p:cxnSp>
        <p:nvCxnSpPr>
          <p:cNvPr id="10" name="Connector 9"/>
          <p:cNvCxnSpPr/>
          <p:nvPr/>
        </p:nvCxnSpPr>
        <p:spPr>
          <a:xfrm>
            <a:off x="640080" y="1371600"/>
            <a:ext cx="2743200" cy="0"/>
          </a:xfrm>
          <a:prstGeom prst="line">
            <a:avLst/>
          </a:prstGeom>
          <a:ln w="19050">
            <a:solidFill>
              <a:srgbClr val="B48EA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370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3707" y="1417320"/>
            <a:ext cx="3703320" cy="7315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307" y="1600200"/>
            <a:ext cx="3246120" cy="365760"/>
          </a:xfrm>
          <a:prstGeom prst="rect">
            <a:avLst/>
          </a:prstGeom>
          <a:noFill/>
        </p:spPr>
        <p:txBody>
          <a:bodyPr wrap="square" lIns="0" rIns="0" tIns="0" bIns="0" anchor="t">
            <a:spAutoFit/>
          </a:bodyPr>
          <a:lstStyle/>
          <a:p>
            <a:pPr algn="l"/>
            <a:r>
              <a:rPr sz="1400" b="1" i="0">
                <a:solidFill>
                  <a:srgbClr val="5E81AC"/>
                </a:solidFill>
                <a:latin typeface="Segoe UI"/>
              </a:rPr>
              <a:t>Executive Overview</a:t>
            </a:r>
          </a:p>
        </p:txBody>
      </p:sp>
      <p:pic>
        <p:nvPicPr>
          <p:cNvPr id="16" name="Picture 15" descr="Executive Overview.png"/>
          <p:cNvPicPr>
            <a:picLocks noChangeAspect="1"/>
          </p:cNvPicPr>
          <p:nvPr/>
        </p:nvPicPr>
        <p:blipFill>
          <a:blip r:embed="rId2"/>
          <a:stretch>
            <a:fillRect/>
          </a:stretch>
        </p:blipFill>
        <p:spPr>
          <a:xfrm>
            <a:off x="586587" y="2103120"/>
            <a:ext cx="3337560" cy="1868194"/>
          </a:xfrm>
          <a:prstGeom prst="rect">
            <a:avLst/>
          </a:prstGeom>
        </p:spPr>
      </p:pic>
      <p:sp>
        <p:nvSpPr>
          <p:cNvPr id="17" name="TextBox 16"/>
          <p:cNvSpPr txBox="1"/>
          <p:nvPr/>
        </p:nvSpPr>
        <p:spPr>
          <a:xfrm>
            <a:off x="63230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Vision globale : total CVE,</a:t>
            </a:r>
          </a:p>
          <a:p>
            <a:pPr algn="l">
              <a:lnSpc>
                <a:spcPct val="135000"/>
              </a:lnSpc>
            </a:pPr>
            <a:r>
              <a:rPr sz="1100" b="0" i="0">
                <a:solidFill>
                  <a:srgbClr val="CCD6F6"/>
                </a:solidFill>
                <a:latin typeface="Segoe UI"/>
              </a:rPr>
              <a:t>% critiques, fournisseurs impactés</a:t>
            </a:r>
          </a:p>
        </p:txBody>
      </p:sp>
      <p:sp>
        <p:nvSpPr>
          <p:cNvPr id="18" name="Rounded Rectangle 17"/>
          <p:cNvSpPr/>
          <p:nvPr/>
        </p:nvSpPr>
        <p:spPr>
          <a:xfrm>
            <a:off x="424418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44187" y="1417320"/>
            <a:ext cx="3703320" cy="73152"/>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787" y="1600200"/>
            <a:ext cx="3246120" cy="365760"/>
          </a:xfrm>
          <a:prstGeom prst="rect">
            <a:avLst/>
          </a:prstGeom>
          <a:noFill/>
        </p:spPr>
        <p:txBody>
          <a:bodyPr wrap="square" lIns="0" rIns="0" tIns="0" bIns="0" anchor="t">
            <a:spAutoFit/>
          </a:bodyPr>
          <a:lstStyle/>
          <a:p>
            <a:pPr algn="l"/>
            <a:r>
              <a:rPr sz="1400" b="1" i="0">
                <a:solidFill>
                  <a:srgbClr val="64FFDA"/>
                </a:solidFill>
                <a:latin typeface="Segoe UI"/>
              </a:rPr>
              <a:t>Time &amp; Age Analysis</a:t>
            </a:r>
          </a:p>
        </p:txBody>
      </p:sp>
      <p:pic>
        <p:nvPicPr>
          <p:cNvPr id="21" name="Picture 20" descr="Time &amp; Age Analysis.png"/>
          <p:cNvPicPr>
            <a:picLocks noChangeAspect="1"/>
          </p:cNvPicPr>
          <p:nvPr/>
        </p:nvPicPr>
        <p:blipFill>
          <a:blip r:embed="rId3"/>
          <a:stretch>
            <a:fillRect/>
          </a:stretch>
        </p:blipFill>
        <p:spPr>
          <a:xfrm>
            <a:off x="4427067" y="2103120"/>
            <a:ext cx="3337560" cy="1868720"/>
          </a:xfrm>
          <a:prstGeom prst="rect">
            <a:avLst/>
          </a:prstGeom>
        </p:spPr>
      </p:pic>
      <p:sp>
        <p:nvSpPr>
          <p:cNvPr id="22" name="TextBox 21"/>
          <p:cNvSpPr txBox="1"/>
          <p:nvPr/>
        </p:nvSpPr>
        <p:spPr>
          <a:xfrm>
            <a:off x="447278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Dimension temporelle :</a:t>
            </a:r>
          </a:p>
          <a:p>
            <a:pPr algn="l">
              <a:lnSpc>
                <a:spcPct val="135000"/>
              </a:lnSpc>
            </a:pPr>
            <a:r>
              <a:rPr sz="1100" b="0" i="0">
                <a:solidFill>
                  <a:srgbClr val="CCD6F6"/>
                </a:solidFill>
                <a:latin typeface="Segoe UI"/>
              </a:rPr>
              <a:t>évolution annuelle &amp; mensuelle</a:t>
            </a:r>
          </a:p>
        </p:txBody>
      </p:sp>
      <p:sp>
        <p:nvSpPr>
          <p:cNvPr id="23" name="Rounded Rectangle 22"/>
          <p:cNvSpPr/>
          <p:nvPr/>
        </p:nvSpPr>
        <p:spPr>
          <a:xfrm>
            <a:off x="8084667" y="1417320"/>
            <a:ext cx="3703320" cy="4572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84667" y="1417320"/>
            <a:ext cx="3703320" cy="7315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3267" y="1600200"/>
            <a:ext cx="3246120" cy="365760"/>
          </a:xfrm>
          <a:prstGeom prst="rect">
            <a:avLst/>
          </a:prstGeom>
          <a:noFill/>
        </p:spPr>
        <p:txBody>
          <a:bodyPr wrap="square" lIns="0" rIns="0" tIns="0" bIns="0" anchor="t">
            <a:spAutoFit/>
          </a:bodyPr>
          <a:lstStyle/>
          <a:p>
            <a:pPr algn="l"/>
            <a:r>
              <a:rPr sz="1400" b="1" i="0">
                <a:solidFill>
                  <a:srgbClr val="EBCB8B"/>
                </a:solidFill>
                <a:latin typeface="Segoe UI"/>
              </a:rPr>
              <a:t>Severity &amp; Impact</a:t>
            </a:r>
          </a:p>
        </p:txBody>
      </p:sp>
      <p:pic>
        <p:nvPicPr>
          <p:cNvPr id="26" name="Picture 25" descr="Severity &amp; Impact Analysis.png"/>
          <p:cNvPicPr>
            <a:picLocks noChangeAspect="1"/>
          </p:cNvPicPr>
          <p:nvPr/>
        </p:nvPicPr>
        <p:blipFill>
          <a:blip r:embed="rId4"/>
          <a:stretch>
            <a:fillRect/>
          </a:stretch>
        </p:blipFill>
        <p:spPr>
          <a:xfrm>
            <a:off x="8267547" y="2103120"/>
            <a:ext cx="3337560" cy="1863798"/>
          </a:xfrm>
          <a:prstGeom prst="rect">
            <a:avLst/>
          </a:prstGeom>
        </p:spPr>
      </p:pic>
      <p:sp>
        <p:nvSpPr>
          <p:cNvPr id="27" name="TextBox 26"/>
          <p:cNvSpPr txBox="1"/>
          <p:nvPr/>
        </p:nvSpPr>
        <p:spPr>
          <a:xfrm>
            <a:off x="8313267" y="5029200"/>
            <a:ext cx="3246120" cy="914400"/>
          </a:xfrm>
          <a:prstGeom prst="rect">
            <a:avLst/>
          </a:prstGeom>
          <a:noFill/>
        </p:spPr>
        <p:txBody>
          <a:bodyPr wrap="square" lIns="0" rIns="0" tIns="0" bIns="0" anchor="t">
            <a:spAutoFit/>
          </a:bodyPr>
          <a:lstStyle/>
          <a:p>
            <a:pPr algn="l">
              <a:lnSpc>
                <a:spcPct val="135000"/>
              </a:lnSpc>
            </a:pPr>
            <a:r>
              <a:rPr sz="1100" b="0" i="0">
                <a:solidFill>
                  <a:srgbClr val="CCD6F6"/>
                </a:solidFill>
                <a:latin typeface="Segoe UI"/>
              </a:rPr>
              <a:t>Distribution CVSS, score moyen/max</a:t>
            </a:r>
          </a:p>
          <a:p>
            <a:pPr algn="l">
              <a:lnSpc>
                <a:spcPct val="135000"/>
              </a:lnSpc>
            </a:pPr>
            <a:r>
              <a:rPr sz="1100" b="0" i="0">
                <a:solidFill>
                  <a:srgbClr val="CCD6F6"/>
                </a:solidFill>
                <a:latin typeface="Segoe UI"/>
              </a:rPr>
              <a:t>relation impact ↔ exploitabilité</a:t>
            </a:r>
          </a:p>
        </p:txBody>
      </p:sp>
      <p:sp>
        <p:nvSpPr>
          <p:cNvPr id="28" name="TextBox 27"/>
          <p:cNvSpPr txBox="1"/>
          <p:nvPr/>
        </p:nvSpPr>
        <p:spPr>
          <a:xfrm>
            <a:off x="640080" y="6172200"/>
            <a:ext cx="10972800" cy="274320"/>
          </a:xfrm>
          <a:prstGeom prst="rect">
            <a:avLst/>
          </a:prstGeom>
          <a:noFill/>
        </p:spPr>
        <p:txBody>
          <a:bodyPr wrap="square" lIns="0" rIns="0" tIns="0" bIns="0" anchor="t">
            <a:spAutoFit/>
          </a:bodyPr>
          <a:lstStyle/>
          <a:p>
            <a:pPr algn="ctr"/>
            <a:r>
              <a:rPr sz="1100" b="0" i="1">
                <a:solidFill>
                  <a:srgbClr val="CCD6F6"/>
                </a:solidFill>
                <a:latin typeface="Segoe UI"/>
              </a:rPr>
              <a:t>Chaque page répond à un objectif analytique distinct — stratégique, temporel, opérationnel.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16</a:t>
            </a:r>
          </a:p>
        </p:txBody>
      </p:sp>
      <p:sp>
        <p:nvSpPr>
          <p:cNvPr id="6" name="Rectangle 5"/>
          <p:cNvSpPr/>
          <p:nvPr/>
        </p:nvSpPr>
        <p:spPr>
          <a:xfrm>
            <a:off x="11094415" y="457200"/>
            <a:ext cx="640080" cy="640080"/>
          </a:xfrm>
          <a:prstGeom prst="rect">
            <a:avLst/>
          </a:prstGeom>
          <a:solidFill>
            <a:srgbClr val="0A192F"/>
          </a:solidFill>
          <a:ln w="2540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B48EAD"/>
                </a:solidFill>
                <a:latin typeface="Segoe UI Black"/>
              </a:rPr>
              <a:t>16</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TRAITEMENT, NORMALISATION &amp; DETECTION POLICY</a:t>
            </a:r>
          </a:p>
        </p:txBody>
      </p:sp>
      <p:cxnSp>
        <p:nvCxnSpPr>
          <p:cNvPr id="10" name="Connector 9"/>
          <p:cNvCxnSpPr/>
          <p:nvPr/>
        </p:nvCxnSpPr>
        <p:spPr>
          <a:xfrm>
            <a:off x="640080" y="1371600"/>
            <a:ext cx="2743200" cy="0"/>
          </a:xfrm>
          <a:prstGeom prst="line">
            <a:avLst/>
          </a:prstGeom>
          <a:ln w="19050">
            <a:solidFill>
              <a:srgbClr val="B48EA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371600"/>
            <a:ext cx="10972800" cy="365760"/>
          </a:xfrm>
          <a:prstGeom prst="rect">
            <a:avLst/>
          </a:prstGeom>
          <a:noFill/>
        </p:spPr>
        <p:txBody>
          <a:bodyPr wrap="square" lIns="0" rIns="0" tIns="0" bIns="0" anchor="t">
            <a:spAutoFit/>
          </a:bodyPr>
          <a:lstStyle/>
          <a:p>
            <a:pPr algn="l"/>
            <a:r>
              <a:rPr sz="1000" b="1" i="0">
                <a:solidFill>
                  <a:srgbClr val="B48EAD"/>
                </a:solidFill>
                <a:latin typeface="Segoe UI"/>
              </a:rPr>
              <a:t>CHAÎNE DE TRAITEMENT COMMUNE</a:t>
            </a:r>
          </a:p>
        </p:txBody>
      </p:sp>
      <p:sp>
        <p:nvSpPr>
          <p:cNvPr id="14" name="Rounded Rectangle 13"/>
          <p:cNvSpPr/>
          <p:nvPr/>
        </p:nvSpPr>
        <p:spPr>
          <a:xfrm>
            <a:off x="792327" y="1828800"/>
            <a:ext cx="1691640" cy="685800"/>
          </a:xfrm>
          <a:prstGeom prst="roundRect">
            <a:avLst>
              <a:gd name="adj" fmla="val 5000"/>
            </a:avLst>
          </a:prstGeom>
          <a:solidFill>
            <a:srgbClr val="112240">
              <a:alpha val="60000"/>
            </a:srgbClr>
          </a:solidFill>
          <a:ln w="19050">
            <a:solidFill>
              <a:srgbClr val="5E81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327" y="1828800"/>
            <a:ext cx="1691640" cy="685800"/>
          </a:xfrm>
          <a:prstGeom prst="rect">
            <a:avLst/>
          </a:prstGeom>
          <a:noFill/>
        </p:spPr>
        <p:txBody>
          <a:bodyPr wrap="square" lIns="0" rIns="0" tIns="0" bIns="0" anchor="ctr">
            <a:spAutoFit/>
          </a:bodyPr>
          <a:lstStyle/>
          <a:p>
            <a:pPr algn="ctr"/>
            <a:r>
              <a:rPr sz="1200" b="1" i="0">
                <a:solidFill>
                  <a:srgbClr val="5E81AC"/>
                </a:solidFill>
                <a:latin typeface="Segoe UI"/>
              </a:rPr>
              <a:t>Collecte</a:t>
            </a:r>
          </a:p>
        </p:txBody>
      </p:sp>
      <p:cxnSp>
        <p:nvCxnSpPr>
          <p:cNvPr id="16" name="Connector 15"/>
          <p:cNvCxnSpPr/>
          <p:nvPr/>
        </p:nvCxnSpPr>
        <p:spPr>
          <a:xfrm>
            <a:off x="2488539.5" y="2171700.0"/>
            <a:ext cx="82296.0" cy="0.0"/>
          </a:xfrm>
          <a:prstGeom prst="line">
            <a:avLst/>
          </a:prstGeom>
          <a:ln w="19050">
            <a:solidFill>
              <a:srgbClr val="5E81AC"/>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575407" y="1828800"/>
            <a:ext cx="1691640" cy="685800"/>
          </a:xfrm>
          <a:prstGeom prst="roundRect">
            <a:avLst>
              <a:gd name="adj" fmla="val 5000"/>
            </a:avLst>
          </a:prstGeom>
          <a:solidFill>
            <a:srgbClr val="112240">
              <a:alpha val="60000"/>
            </a:srgbClr>
          </a:solidFill>
          <a:ln w="19050">
            <a:solidFill>
              <a:srgbClr val="64F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75407" y="1828800"/>
            <a:ext cx="1691640" cy="685800"/>
          </a:xfrm>
          <a:prstGeom prst="rect">
            <a:avLst/>
          </a:prstGeom>
          <a:noFill/>
        </p:spPr>
        <p:txBody>
          <a:bodyPr wrap="square" lIns="0" rIns="0" tIns="0" bIns="0" anchor="ctr">
            <a:spAutoFit/>
          </a:bodyPr>
          <a:lstStyle/>
          <a:p>
            <a:pPr algn="ctr"/>
            <a:r>
              <a:rPr sz="1200" b="1" i="0">
                <a:solidFill>
                  <a:srgbClr val="64FFDA"/>
                </a:solidFill>
                <a:latin typeface="Segoe UI"/>
              </a:rPr>
              <a:t>Normalisation</a:t>
            </a:r>
          </a:p>
        </p:txBody>
      </p:sp>
      <p:cxnSp>
        <p:nvCxnSpPr>
          <p:cNvPr id="19" name="Connector 18"/>
          <p:cNvCxnSpPr/>
          <p:nvPr/>
        </p:nvCxnSpPr>
        <p:spPr>
          <a:xfrm>
            <a:off x="4271619.5" y="2171700.0"/>
            <a:ext cx="82296.0" cy="0.0"/>
          </a:xfrm>
          <a:prstGeom prst="line">
            <a:avLst/>
          </a:prstGeom>
          <a:ln w="19050">
            <a:solidFill>
              <a:srgbClr val="64FFDA"/>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58487" y="1828800"/>
            <a:ext cx="1691640" cy="685800"/>
          </a:xfrm>
          <a:prstGeom prst="roundRect">
            <a:avLst>
              <a:gd name="adj" fmla="val 5000"/>
            </a:avLst>
          </a:prstGeom>
          <a:solidFill>
            <a:srgbClr val="112240">
              <a:alpha val="60000"/>
            </a:srgbClr>
          </a:solidFill>
          <a:ln w="19050">
            <a:solidFill>
              <a:srgbClr val="EBC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487" y="1828800"/>
            <a:ext cx="1691640" cy="685800"/>
          </a:xfrm>
          <a:prstGeom prst="rect">
            <a:avLst/>
          </a:prstGeom>
          <a:noFill/>
        </p:spPr>
        <p:txBody>
          <a:bodyPr wrap="square" lIns="0" rIns="0" tIns="0" bIns="0" anchor="ctr">
            <a:spAutoFit/>
          </a:bodyPr>
          <a:lstStyle/>
          <a:p>
            <a:pPr algn="ctr"/>
            <a:r>
              <a:rPr sz="1200" b="1" i="0">
                <a:solidFill>
                  <a:srgbClr val="EBCB8B"/>
                </a:solidFill>
                <a:latin typeface="Segoe UI"/>
              </a:rPr>
              <a:t>Analyse</a:t>
            </a:r>
          </a:p>
        </p:txBody>
      </p:sp>
      <p:cxnSp>
        <p:nvCxnSpPr>
          <p:cNvPr id="22" name="Connector 21"/>
          <p:cNvCxnSpPr/>
          <p:nvPr/>
        </p:nvCxnSpPr>
        <p:spPr>
          <a:xfrm>
            <a:off x="6054699.5" y="2171700.0"/>
            <a:ext cx="82296.0" cy="0.0"/>
          </a:xfrm>
          <a:prstGeom prst="line">
            <a:avLst/>
          </a:prstGeom>
          <a:ln w="19050">
            <a:solidFill>
              <a:srgbClr val="EBCB8B"/>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1567" y="1828800"/>
            <a:ext cx="1691640" cy="685800"/>
          </a:xfrm>
          <a:prstGeom prst="roundRect">
            <a:avLst>
              <a:gd name="adj" fmla="val 5000"/>
            </a:avLst>
          </a:prstGeom>
          <a:solidFill>
            <a:srgbClr val="112240">
              <a:alpha val="60000"/>
            </a:srgbClr>
          </a:solidFill>
          <a:ln w="1905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1567" y="1828800"/>
            <a:ext cx="1691640" cy="685800"/>
          </a:xfrm>
          <a:prstGeom prst="rect">
            <a:avLst/>
          </a:prstGeom>
          <a:noFill/>
        </p:spPr>
        <p:txBody>
          <a:bodyPr wrap="square" lIns="0" rIns="0" tIns="0" bIns="0" anchor="ctr">
            <a:spAutoFit/>
          </a:bodyPr>
          <a:lstStyle/>
          <a:p>
            <a:pPr algn="ctr"/>
            <a:r>
              <a:rPr sz="1200" b="1" i="0">
                <a:solidFill>
                  <a:srgbClr val="B48EAD"/>
                </a:solidFill>
                <a:latin typeface="Segoe UI"/>
              </a:rPr>
              <a:t>Filtrage</a:t>
            </a:r>
          </a:p>
        </p:txBody>
      </p:sp>
      <p:cxnSp>
        <p:nvCxnSpPr>
          <p:cNvPr id="25" name="Connector 24"/>
          <p:cNvCxnSpPr/>
          <p:nvPr/>
        </p:nvCxnSpPr>
        <p:spPr>
          <a:xfrm>
            <a:off x="7837779.5" y="2171700.0"/>
            <a:ext cx="82296.0" cy="0.0"/>
          </a:xfrm>
          <a:prstGeom prst="line">
            <a:avLst/>
          </a:prstGeom>
          <a:ln w="19050">
            <a:solidFill>
              <a:srgbClr val="B48EAD"/>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924647" y="1828800"/>
            <a:ext cx="1691640" cy="685800"/>
          </a:xfrm>
          <a:prstGeom prst="roundRect">
            <a:avLst>
              <a:gd name="adj" fmla="val 5000"/>
            </a:avLst>
          </a:prstGeom>
          <a:solidFill>
            <a:srgbClr val="112240">
              <a:alpha val="60000"/>
            </a:srgbClr>
          </a:solidFill>
          <a:ln w="19050">
            <a:solidFill>
              <a:srgbClr val="BF6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4647" y="1828800"/>
            <a:ext cx="1691640" cy="685800"/>
          </a:xfrm>
          <a:prstGeom prst="rect">
            <a:avLst/>
          </a:prstGeom>
          <a:noFill/>
        </p:spPr>
        <p:txBody>
          <a:bodyPr wrap="square" lIns="0" rIns="0" tIns="0" bIns="0" anchor="ctr">
            <a:spAutoFit/>
          </a:bodyPr>
          <a:lstStyle/>
          <a:p>
            <a:pPr algn="ctr"/>
            <a:r>
              <a:rPr sz="1200" b="1" i="0">
                <a:solidFill>
                  <a:srgbClr val="BF616A"/>
                </a:solidFill>
                <a:latin typeface="Segoe UI"/>
              </a:rPr>
              <a:t>Redaction</a:t>
            </a:r>
          </a:p>
        </p:txBody>
      </p:sp>
      <p:cxnSp>
        <p:nvCxnSpPr>
          <p:cNvPr id="28" name="Connector 27"/>
          <p:cNvCxnSpPr/>
          <p:nvPr/>
        </p:nvCxnSpPr>
        <p:spPr>
          <a:xfrm>
            <a:off x="9620859.5" y="2171700.0"/>
            <a:ext cx="82296.0" cy="0.0"/>
          </a:xfrm>
          <a:prstGeom prst="line">
            <a:avLst/>
          </a:prstGeom>
          <a:ln w="19050">
            <a:solidFill>
              <a:srgbClr val="BF616A"/>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707727" y="1828800"/>
            <a:ext cx="1691640" cy="685800"/>
          </a:xfrm>
          <a:prstGeom prst="roundRect">
            <a:avLst>
              <a:gd name="adj" fmla="val 5000"/>
            </a:avLst>
          </a:prstGeom>
          <a:solidFill>
            <a:srgbClr val="112240">
              <a:alpha val="60000"/>
            </a:srgbClr>
          </a:solidFill>
          <a:ln w="19050">
            <a:solidFill>
              <a:srgbClr val="A3B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727" y="1828800"/>
            <a:ext cx="1691640" cy="685800"/>
          </a:xfrm>
          <a:prstGeom prst="rect">
            <a:avLst/>
          </a:prstGeom>
          <a:noFill/>
        </p:spPr>
        <p:txBody>
          <a:bodyPr wrap="square" lIns="0" rIns="0" tIns="0" bIns="0" anchor="ctr">
            <a:spAutoFit/>
          </a:bodyPr>
          <a:lstStyle/>
          <a:p>
            <a:pPr algn="ctr"/>
            <a:r>
              <a:rPr sz="1200" b="1" i="0">
                <a:solidFill>
                  <a:srgbClr val="A3BE8C"/>
                </a:solidFill>
                <a:latin typeface="Segoe UI"/>
              </a:rPr>
              <a:t>Stockage</a:t>
            </a:r>
          </a:p>
        </p:txBody>
      </p:sp>
      <p:sp>
        <p:nvSpPr>
          <p:cNvPr id="31" name="TextBox 30"/>
          <p:cNvSpPr txBox="1"/>
          <p:nvPr/>
        </p:nvSpPr>
        <p:spPr>
          <a:xfrm>
            <a:off x="502920" y="2834640"/>
            <a:ext cx="5852160" cy="365760"/>
          </a:xfrm>
          <a:prstGeom prst="rect">
            <a:avLst/>
          </a:prstGeom>
          <a:noFill/>
        </p:spPr>
        <p:txBody>
          <a:bodyPr wrap="square" lIns="0" rIns="0" tIns="0" bIns="0" anchor="t">
            <a:spAutoFit/>
          </a:bodyPr>
          <a:lstStyle/>
          <a:p>
            <a:pPr algn="l"/>
            <a:r>
              <a:rPr sz="900" b="1" i="0">
                <a:solidFill>
                  <a:srgbClr val="B48EAD"/>
                </a:solidFill>
                <a:latin typeface="Segoe UI"/>
              </a:rPr>
              <a:t>TRAÇABILITÉ DES COLLECTION RUNS</a:t>
            </a:r>
          </a:p>
        </p:txBody>
      </p:sp>
      <p:sp>
        <p:nvSpPr>
          <p:cNvPr id="32" name="Rounded Rectangle 31"/>
          <p:cNvSpPr/>
          <p:nvPr/>
        </p:nvSpPr>
        <p:spPr>
          <a:xfrm>
            <a:off x="457200" y="3200400"/>
            <a:ext cx="5943600" cy="22860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ollection.png"/>
          <p:cNvPicPr>
            <a:picLocks noChangeAspect="1"/>
          </p:cNvPicPr>
          <p:nvPr/>
        </p:nvPicPr>
        <p:blipFill>
          <a:blip r:embed="rId2"/>
          <a:stretch>
            <a:fillRect/>
          </a:stretch>
        </p:blipFill>
        <p:spPr>
          <a:xfrm>
            <a:off x="548640" y="3291840"/>
            <a:ext cx="5760720" cy="3236461"/>
          </a:xfrm>
          <a:prstGeom prst="rect">
            <a:avLst/>
          </a:prstGeom>
        </p:spPr>
      </p:pic>
      <p:sp>
        <p:nvSpPr>
          <p:cNvPr id="34" name="Rounded Rectangle 33"/>
          <p:cNvSpPr/>
          <p:nvPr/>
        </p:nvSpPr>
        <p:spPr>
          <a:xfrm>
            <a:off x="502920" y="5623560"/>
            <a:ext cx="5852160" cy="640080"/>
          </a:xfrm>
          <a:prstGeom prst="roundRect">
            <a:avLst>
              <a:gd name="adj" fmla="val 5000"/>
            </a:avLst>
          </a:prstGeom>
          <a:solidFill>
            <a:srgbClr val="233554">
              <a:alpha val="60000"/>
            </a:srgbClr>
          </a:solidFill>
          <a:ln w="15240">
            <a:solidFill>
              <a:srgbClr val="A3B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669280"/>
            <a:ext cx="2286000" cy="548640"/>
          </a:xfrm>
          <a:prstGeom prst="rect">
            <a:avLst/>
          </a:prstGeom>
          <a:noFill/>
        </p:spPr>
        <p:txBody>
          <a:bodyPr wrap="square" lIns="0" rIns="0" tIns="0" bIns="0" anchor="ctr">
            <a:spAutoFit/>
          </a:bodyPr>
          <a:lstStyle/>
          <a:p>
            <a:pPr algn="l"/>
            <a:r>
              <a:rPr sz="1000" b="1" i="0">
                <a:solidFill>
                  <a:srgbClr val="A3BE8C"/>
                </a:solidFill>
                <a:latin typeface="Segoe UI"/>
              </a:rPr>
              <a:t>DÉDUPLICATION PAR HASH</a:t>
            </a:r>
          </a:p>
        </p:txBody>
      </p:sp>
      <p:sp>
        <p:nvSpPr>
          <p:cNvPr id="36" name="TextBox 35"/>
          <p:cNvSpPr txBox="1"/>
          <p:nvPr/>
        </p:nvSpPr>
        <p:spPr>
          <a:xfrm>
            <a:off x="3154680" y="5669280"/>
            <a:ext cx="3108960" cy="548640"/>
          </a:xfrm>
          <a:prstGeom prst="rect">
            <a:avLst/>
          </a:prstGeom>
          <a:noFill/>
        </p:spPr>
        <p:txBody>
          <a:bodyPr wrap="square" lIns="0" rIns="0" tIns="0" bIns="0" anchor="ctr">
            <a:spAutoFit/>
          </a:bodyPr>
          <a:lstStyle/>
          <a:p>
            <a:pPr algn="l"/>
            <a:r>
              <a:rPr sz="1000" b="0" i="0">
                <a:solidFill>
                  <a:srgbClr val="CCD6F6"/>
                </a:solidFill>
                <a:latin typeface="Segoe UI"/>
              </a:rPr>
              <a:t>Doublons ignorés avant indexation — base propre.</a:t>
            </a:r>
          </a:p>
        </p:txBody>
      </p:sp>
      <p:sp>
        <p:nvSpPr>
          <p:cNvPr id="37" name="TextBox 36"/>
          <p:cNvSpPr txBox="1"/>
          <p:nvPr/>
        </p:nvSpPr>
        <p:spPr>
          <a:xfrm>
            <a:off x="6537960" y="2834640"/>
            <a:ext cx="5303520" cy="365760"/>
          </a:xfrm>
          <a:prstGeom prst="rect">
            <a:avLst/>
          </a:prstGeom>
          <a:noFill/>
        </p:spPr>
        <p:txBody>
          <a:bodyPr wrap="square" lIns="0" rIns="0" tIns="0" bIns="0" anchor="t">
            <a:spAutoFit/>
          </a:bodyPr>
          <a:lstStyle/>
          <a:p>
            <a:pPr algn="l"/>
            <a:r>
              <a:rPr sz="900" b="1" i="0">
                <a:solidFill>
                  <a:srgbClr val="B48EAD"/>
                </a:solidFill>
                <a:latin typeface="Segoe UI"/>
              </a:rPr>
              <a:t>DETECTION POLICY  —  GARDE-FOU CENTRAL</a:t>
            </a:r>
          </a:p>
        </p:txBody>
      </p:sp>
      <p:sp>
        <p:nvSpPr>
          <p:cNvPr id="38" name="Rounded Rectangle 37"/>
          <p:cNvSpPr/>
          <p:nvPr/>
        </p:nvSpPr>
        <p:spPr>
          <a:xfrm>
            <a:off x="6537960" y="3200400"/>
            <a:ext cx="5303520" cy="3063240"/>
          </a:xfrm>
          <a:prstGeom prst="roundRect">
            <a:avLst>
              <a:gd name="adj" fmla="val 5000"/>
            </a:avLst>
          </a:prstGeom>
          <a:solidFill>
            <a:srgbClr val="112240">
              <a:alpha val="60000"/>
            </a:srgbClr>
          </a:solidFill>
          <a:ln w="1524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812280" y="3493008"/>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0" y="3383280"/>
            <a:ext cx="4617720" cy="365760"/>
          </a:xfrm>
          <a:prstGeom prst="rect">
            <a:avLst/>
          </a:prstGeom>
          <a:noFill/>
        </p:spPr>
        <p:txBody>
          <a:bodyPr wrap="square" lIns="0" rIns="0" tIns="0" bIns="0" anchor="ctr">
            <a:spAutoFit/>
          </a:bodyPr>
          <a:lstStyle/>
          <a:p>
            <a:pPr algn="l"/>
            <a:r>
              <a:rPr sz="1100" b="0" i="0">
                <a:solidFill>
                  <a:srgbClr val="E6F1FF"/>
                </a:solidFill>
                <a:latin typeface="Segoe UI"/>
              </a:rPr>
              <a:t>Vérifie le contenu réel du fichier</a:t>
            </a:r>
          </a:p>
        </p:txBody>
      </p:sp>
      <p:sp>
        <p:nvSpPr>
          <p:cNvPr id="41" name="Rounded Rectangle 40"/>
          <p:cNvSpPr/>
          <p:nvPr/>
        </p:nvSpPr>
        <p:spPr>
          <a:xfrm>
            <a:off x="6812280" y="3895344"/>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40880" y="3785616"/>
            <a:ext cx="4617720" cy="365760"/>
          </a:xfrm>
          <a:prstGeom prst="rect">
            <a:avLst/>
          </a:prstGeom>
          <a:noFill/>
        </p:spPr>
        <p:txBody>
          <a:bodyPr wrap="square" lIns="0" rIns="0" tIns="0" bIns="0" anchor="ctr">
            <a:spAutoFit/>
          </a:bodyPr>
          <a:lstStyle/>
          <a:p>
            <a:pPr algn="l"/>
            <a:r>
              <a:rPr sz="1100" b="0" i="0">
                <a:solidFill>
                  <a:srgbClr val="E6F1FF"/>
                </a:solidFill>
                <a:latin typeface="Segoe UI"/>
              </a:rPr>
              <a:t>Identifie les secrets exploitables</a:t>
            </a:r>
          </a:p>
        </p:txBody>
      </p:sp>
      <p:sp>
        <p:nvSpPr>
          <p:cNvPr id="43" name="Rounded Rectangle 42"/>
          <p:cNvSpPr/>
          <p:nvPr/>
        </p:nvSpPr>
        <p:spPr>
          <a:xfrm>
            <a:off x="6812280" y="4297680"/>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0" y="4187952"/>
            <a:ext cx="4617720" cy="365760"/>
          </a:xfrm>
          <a:prstGeom prst="rect">
            <a:avLst/>
          </a:prstGeom>
          <a:noFill/>
        </p:spPr>
        <p:txBody>
          <a:bodyPr wrap="square" lIns="0" rIns="0" tIns="0" bIns="0" anchor="ctr">
            <a:spAutoFit/>
          </a:bodyPr>
          <a:lstStyle/>
          <a:p>
            <a:pPr algn="l"/>
            <a:r>
              <a:rPr sz="1100" b="0" i="0">
                <a:solidFill>
                  <a:srgbClr val="E6F1FF"/>
                </a:solidFill>
                <a:latin typeface="Segoe UI"/>
              </a:rPr>
              <a:t>Exclut les faux positifs fréquents</a:t>
            </a:r>
          </a:p>
        </p:txBody>
      </p:sp>
      <p:sp>
        <p:nvSpPr>
          <p:cNvPr id="45" name="Rounded Rectangle 44"/>
          <p:cNvSpPr/>
          <p:nvPr/>
        </p:nvSpPr>
        <p:spPr>
          <a:xfrm>
            <a:off x="6812280" y="4700016"/>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0" y="4590288"/>
            <a:ext cx="4617720" cy="365760"/>
          </a:xfrm>
          <a:prstGeom prst="rect">
            <a:avLst/>
          </a:prstGeom>
          <a:noFill/>
        </p:spPr>
        <p:txBody>
          <a:bodyPr wrap="square" lIns="0" rIns="0" tIns="0" bIns="0" anchor="ctr">
            <a:spAutoFit/>
          </a:bodyPr>
          <a:lstStyle/>
          <a:p>
            <a:pPr algn="l"/>
            <a:r>
              <a:rPr sz="1100" b="0" i="0">
                <a:solidFill>
                  <a:srgbClr val="E6F1FF"/>
                </a:solidFill>
                <a:latin typeface="Segoe UI"/>
              </a:rPr>
              <a:t>Réduit la confiance des chemins d'exemple</a:t>
            </a:r>
          </a:p>
        </p:txBody>
      </p:sp>
      <p:sp>
        <p:nvSpPr>
          <p:cNvPr id="47" name="Rounded Rectangle 46"/>
          <p:cNvSpPr/>
          <p:nvPr/>
        </p:nvSpPr>
        <p:spPr>
          <a:xfrm>
            <a:off x="6812280" y="5102352"/>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0" y="4992624"/>
            <a:ext cx="4617720" cy="365760"/>
          </a:xfrm>
          <a:prstGeom prst="rect">
            <a:avLst/>
          </a:prstGeom>
          <a:noFill/>
        </p:spPr>
        <p:txBody>
          <a:bodyPr wrap="square" lIns="0" rIns="0" tIns="0" bIns="0" anchor="ctr">
            <a:spAutoFit/>
          </a:bodyPr>
          <a:lstStyle/>
          <a:p>
            <a:pPr algn="l"/>
            <a:r>
              <a:rPr sz="1100" b="0" i="0">
                <a:solidFill>
                  <a:srgbClr val="E6F1FF"/>
                </a:solidFill>
                <a:latin typeface="Segoe UI"/>
              </a:rPr>
              <a:t>Calcule un score de risque</a:t>
            </a:r>
          </a:p>
        </p:txBody>
      </p:sp>
      <p:sp>
        <p:nvSpPr>
          <p:cNvPr id="49" name="Rounded Rectangle 48"/>
          <p:cNvSpPr/>
          <p:nvPr/>
        </p:nvSpPr>
        <p:spPr>
          <a:xfrm>
            <a:off x="6812280" y="5504688"/>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0" y="5394960"/>
            <a:ext cx="4617720" cy="365760"/>
          </a:xfrm>
          <a:prstGeom prst="rect">
            <a:avLst/>
          </a:prstGeom>
          <a:noFill/>
        </p:spPr>
        <p:txBody>
          <a:bodyPr wrap="square" lIns="0" rIns="0" tIns="0" bIns="0" anchor="ctr">
            <a:spAutoFit/>
          </a:bodyPr>
          <a:lstStyle/>
          <a:p>
            <a:pPr algn="l"/>
            <a:r>
              <a:rPr sz="1100" b="0" i="0">
                <a:solidFill>
                  <a:srgbClr val="E6F1FF"/>
                </a:solidFill>
                <a:latin typeface="Segoe UI"/>
              </a:rPr>
              <a:t>Attribue une sévérité</a:t>
            </a:r>
          </a:p>
        </p:txBody>
      </p:sp>
      <p:sp>
        <p:nvSpPr>
          <p:cNvPr id="51" name="Rounded Rectangle 50"/>
          <p:cNvSpPr/>
          <p:nvPr/>
        </p:nvSpPr>
        <p:spPr>
          <a:xfrm>
            <a:off x="6812280" y="5907024"/>
            <a:ext cx="109728" cy="109728"/>
          </a:xfrm>
          <a:prstGeom prst="roundRect">
            <a:avLst>
              <a:gd name="adj" fmla="val 30000"/>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40880" y="5797296"/>
            <a:ext cx="4617720" cy="365760"/>
          </a:xfrm>
          <a:prstGeom prst="rect">
            <a:avLst/>
          </a:prstGeom>
          <a:noFill/>
        </p:spPr>
        <p:txBody>
          <a:bodyPr wrap="square" lIns="0" rIns="0" tIns="0" bIns="0" anchor="ctr">
            <a:spAutoFit/>
          </a:bodyPr>
          <a:lstStyle/>
          <a:p>
            <a:pPr algn="l"/>
            <a:r>
              <a:rPr sz="1100" b="0" i="0">
                <a:solidFill>
                  <a:srgbClr val="E6F1FF"/>
                </a:solidFill>
                <a:latin typeface="Segoe UI"/>
              </a:rPr>
              <a:t>Masque les valeurs sensibles avant stockage</a:t>
            </a:r>
          </a:p>
        </p:txBody>
      </p:sp>
      <p:sp>
        <p:nvSpPr>
          <p:cNvPr id="53" name="Rounded Rectangle 52"/>
          <p:cNvSpPr/>
          <p:nvPr/>
        </p:nvSpPr>
        <p:spPr>
          <a:xfrm>
            <a:off x="6583680" y="5669280"/>
            <a:ext cx="2560320" cy="50292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583680" y="5669280"/>
            <a:ext cx="54864" cy="50292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66560" y="5669280"/>
            <a:ext cx="1371600" cy="502920"/>
          </a:xfrm>
          <a:prstGeom prst="rect">
            <a:avLst/>
          </a:prstGeom>
          <a:noFill/>
        </p:spPr>
        <p:txBody>
          <a:bodyPr wrap="square" lIns="0" rIns="0" tIns="0" bIns="0" anchor="ctr">
            <a:spAutoFit/>
          </a:bodyPr>
          <a:lstStyle/>
          <a:p>
            <a:pPr algn="l"/>
            <a:r>
              <a:rPr sz="1000" b="1" i="0">
                <a:solidFill>
                  <a:srgbClr val="5E81AC"/>
                </a:solidFill>
                <a:latin typeface="Segoe UI"/>
              </a:rPr>
              <a:t>Planifiée</a:t>
            </a:r>
          </a:p>
        </p:txBody>
      </p:sp>
      <p:sp>
        <p:nvSpPr>
          <p:cNvPr id="56" name="TextBox 55"/>
          <p:cNvSpPr txBox="1"/>
          <p:nvPr/>
        </p:nvSpPr>
        <p:spPr>
          <a:xfrm>
            <a:off x="7955280" y="5669280"/>
            <a:ext cx="1097280" cy="502920"/>
          </a:xfrm>
          <a:prstGeom prst="rect">
            <a:avLst/>
          </a:prstGeom>
          <a:noFill/>
        </p:spPr>
        <p:txBody>
          <a:bodyPr wrap="square" lIns="0" rIns="0" tIns="0" bIns="0" anchor="ctr">
            <a:spAutoFit/>
          </a:bodyPr>
          <a:lstStyle/>
          <a:p>
            <a:pPr algn="l"/>
            <a:r>
              <a:rPr sz="900" b="0" i="0">
                <a:solidFill>
                  <a:srgbClr val="CCD6F6"/>
                </a:solidFill>
                <a:latin typeface="Segoe UI"/>
              </a:rPr>
              <a:t>Scheduler périodique</a:t>
            </a:r>
          </a:p>
        </p:txBody>
      </p:sp>
      <p:sp>
        <p:nvSpPr>
          <p:cNvPr id="57" name="Rounded Rectangle 56"/>
          <p:cNvSpPr/>
          <p:nvPr/>
        </p:nvSpPr>
        <p:spPr>
          <a:xfrm>
            <a:off x="9235440" y="5669280"/>
            <a:ext cx="2560320" cy="502920"/>
          </a:xfrm>
          <a:prstGeom prst="roundRect">
            <a:avLst>
              <a:gd name="adj" fmla="val 5000"/>
            </a:avLst>
          </a:prstGeom>
          <a:solidFill>
            <a:srgbClr val="233554">
              <a:alpha val="60000"/>
            </a:srgbClr>
          </a:solidFill>
          <a:ln w="6350">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235440" y="5669280"/>
            <a:ext cx="54864" cy="50292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418320" y="5669280"/>
            <a:ext cx="1371600" cy="502920"/>
          </a:xfrm>
          <a:prstGeom prst="rect">
            <a:avLst/>
          </a:prstGeom>
          <a:noFill/>
        </p:spPr>
        <p:txBody>
          <a:bodyPr wrap="square" lIns="0" rIns="0" tIns="0" bIns="0" anchor="ctr">
            <a:spAutoFit/>
          </a:bodyPr>
          <a:lstStyle/>
          <a:p>
            <a:pPr algn="l"/>
            <a:r>
              <a:rPr sz="1000" b="1" i="0">
                <a:solidFill>
                  <a:srgbClr val="64FFDA"/>
                </a:solidFill>
                <a:latin typeface="Segoe UI"/>
              </a:rPr>
              <a:t>À la demande</a:t>
            </a:r>
          </a:p>
        </p:txBody>
      </p:sp>
      <p:sp>
        <p:nvSpPr>
          <p:cNvPr id="60" name="TextBox 59"/>
          <p:cNvSpPr txBox="1"/>
          <p:nvPr/>
        </p:nvSpPr>
        <p:spPr>
          <a:xfrm>
            <a:off x="10607040" y="5669280"/>
            <a:ext cx="1097280" cy="502920"/>
          </a:xfrm>
          <a:prstGeom prst="rect">
            <a:avLst/>
          </a:prstGeom>
          <a:noFill/>
        </p:spPr>
        <p:txBody>
          <a:bodyPr wrap="square" lIns="0" rIns="0" tIns="0" bIns="0" anchor="ctr">
            <a:spAutoFit/>
          </a:bodyPr>
          <a:lstStyle/>
          <a:p>
            <a:pPr algn="l"/>
            <a:r>
              <a:rPr sz="900" b="0" i="0">
                <a:solidFill>
                  <a:srgbClr val="CCD6F6"/>
                </a:solidFill>
                <a:latin typeface="Segoe UI"/>
              </a:rPr>
              <a:t>Déclenchée par l'analyste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17</a:t>
            </a:r>
          </a:p>
        </p:txBody>
      </p:sp>
      <p:sp>
        <p:nvSpPr>
          <p:cNvPr id="6" name="Rectangle 5"/>
          <p:cNvSpPr/>
          <p:nvPr/>
        </p:nvSpPr>
        <p:spPr>
          <a:xfrm>
            <a:off x="11094415" y="457200"/>
            <a:ext cx="640080" cy="640080"/>
          </a:xfrm>
          <a:prstGeom prst="rect">
            <a:avLst/>
          </a:prstGeom>
          <a:solidFill>
            <a:srgbClr val="0A192F"/>
          </a:solidFill>
          <a:ln w="2540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B48EAD"/>
                </a:solidFill>
                <a:latin typeface="Segoe UI Black"/>
              </a:rPr>
              <a:t>17</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CLASSIFICATION DES RISQUES &amp; FAUX POSITIFS</a:t>
            </a:r>
          </a:p>
        </p:txBody>
      </p:sp>
      <p:cxnSp>
        <p:nvCxnSpPr>
          <p:cNvPr id="10" name="Connector 9"/>
          <p:cNvCxnSpPr/>
          <p:nvPr/>
        </p:nvCxnSpPr>
        <p:spPr>
          <a:xfrm>
            <a:off x="640080" y="1371600"/>
            <a:ext cx="2743200" cy="0"/>
          </a:xfrm>
          <a:prstGeom prst="line">
            <a:avLst/>
          </a:prstGeom>
          <a:ln w="19050">
            <a:solidFill>
              <a:srgbClr val="B48EA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B48EAD"/>
                </a:solidFill>
                <a:latin typeface="Segoe UI"/>
              </a:rPr>
              <a:t>5 AXES DE CLASSIFICATION</a:t>
            </a:r>
          </a:p>
        </p:txBody>
      </p:sp>
      <p:sp>
        <p:nvSpPr>
          <p:cNvPr id="14" name="Rounded Rectangle 13"/>
          <p:cNvSpPr/>
          <p:nvPr/>
        </p:nvSpPr>
        <p:spPr>
          <a:xfrm>
            <a:off x="380847"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0847" y="1828800"/>
            <a:ext cx="2212848" cy="45720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0847"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Source</a:t>
            </a:r>
          </a:p>
        </p:txBody>
      </p:sp>
      <p:sp>
        <p:nvSpPr>
          <p:cNvPr id="17" name="TextBox 16"/>
          <p:cNvSpPr txBox="1"/>
          <p:nvPr/>
        </p:nvSpPr>
        <p:spPr>
          <a:xfrm>
            <a:off x="563727"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github · telegram · google_alerts</a:t>
            </a:r>
          </a:p>
        </p:txBody>
      </p:sp>
      <p:sp>
        <p:nvSpPr>
          <p:cNvPr id="18" name="Rounded Rectangle 17"/>
          <p:cNvSpPr/>
          <p:nvPr/>
        </p:nvSpPr>
        <p:spPr>
          <a:xfrm>
            <a:off x="2685135"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85135" y="1828800"/>
            <a:ext cx="2212848" cy="457200"/>
          </a:xfrm>
          <a:prstGeom prst="rect">
            <a:avLst/>
          </a:prstGeom>
          <a:solidFill>
            <a:srgbClr val="64F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85135"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Catégorie</a:t>
            </a:r>
          </a:p>
        </p:txBody>
      </p:sp>
      <p:sp>
        <p:nvSpPr>
          <p:cNvPr id="21" name="TextBox 20"/>
          <p:cNvSpPr txBox="1"/>
          <p:nvPr/>
        </p:nvSpPr>
        <p:spPr>
          <a:xfrm>
            <a:off x="2868015"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env_files · db_credentials · api_keys ·</a:t>
            </a:r>
          </a:p>
          <a:p>
            <a:pPr algn="ctr"/>
            <a:r>
              <a:rPr sz="1000" b="0" i="0">
                <a:solidFill>
                  <a:srgbClr val="CCD6F6"/>
                </a:solidFill>
                <a:latin typeface="Consolas"/>
              </a:rPr>
              <a:t>cloud_keys · jwt · private_keys</a:t>
            </a:r>
          </a:p>
        </p:txBody>
      </p:sp>
      <p:sp>
        <p:nvSpPr>
          <p:cNvPr id="22" name="Rounded Rectangle 21"/>
          <p:cNvSpPr/>
          <p:nvPr/>
        </p:nvSpPr>
        <p:spPr>
          <a:xfrm>
            <a:off x="4989423"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89423" y="1828800"/>
            <a:ext cx="2212848" cy="457200"/>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9423"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Sévérité</a:t>
            </a:r>
          </a:p>
        </p:txBody>
      </p:sp>
      <p:sp>
        <p:nvSpPr>
          <p:cNvPr id="25" name="TextBox 24"/>
          <p:cNvSpPr txBox="1"/>
          <p:nvPr/>
        </p:nvSpPr>
        <p:spPr>
          <a:xfrm>
            <a:off x="5172303"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low · medium · high</a:t>
            </a:r>
          </a:p>
        </p:txBody>
      </p:sp>
      <p:sp>
        <p:nvSpPr>
          <p:cNvPr id="26" name="Rounded Rectangle 25"/>
          <p:cNvSpPr/>
          <p:nvPr/>
        </p:nvSpPr>
        <p:spPr>
          <a:xfrm>
            <a:off x="7293711"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93711" y="1828800"/>
            <a:ext cx="2212848" cy="457200"/>
          </a:xfrm>
          <a:prstGeom prst="rect">
            <a:avLst/>
          </a:prstGeom>
          <a:solidFill>
            <a:srgbClr val="B48E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93711"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Confiance</a:t>
            </a:r>
          </a:p>
        </p:txBody>
      </p:sp>
      <p:sp>
        <p:nvSpPr>
          <p:cNvPr id="29" name="TextBox 28"/>
          <p:cNvSpPr txBox="1"/>
          <p:nvPr/>
        </p:nvSpPr>
        <p:spPr>
          <a:xfrm>
            <a:off x="7476591"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low · medium · high</a:t>
            </a:r>
          </a:p>
        </p:txBody>
      </p:sp>
      <p:sp>
        <p:nvSpPr>
          <p:cNvPr id="30" name="Rounded Rectangle 29"/>
          <p:cNvSpPr/>
          <p:nvPr/>
        </p:nvSpPr>
        <p:spPr>
          <a:xfrm>
            <a:off x="9597999" y="1828800"/>
            <a:ext cx="2212848" cy="201168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97999" y="1828800"/>
            <a:ext cx="2212848" cy="457200"/>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97999" y="1901952"/>
            <a:ext cx="2212848" cy="365760"/>
          </a:xfrm>
          <a:prstGeom prst="rect">
            <a:avLst/>
          </a:prstGeom>
          <a:noFill/>
        </p:spPr>
        <p:txBody>
          <a:bodyPr wrap="square" lIns="0" rIns="0" tIns="0" bIns="0" anchor="ctr">
            <a:spAutoFit/>
          </a:bodyPr>
          <a:lstStyle/>
          <a:p>
            <a:pPr algn="ctr"/>
            <a:r>
              <a:rPr sz="1300" b="1" i="0">
                <a:solidFill>
                  <a:srgbClr val="E6F1FF"/>
                </a:solidFill>
                <a:latin typeface="Segoe UI"/>
              </a:rPr>
              <a:t>Statut</a:t>
            </a:r>
          </a:p>
        </p:txBody>
      </p:sp>
      <p:sp>
        <p:nvSpPr>
          <p:cNvPr id="33" name="TextBox 32"/>
          <p:cNvSpPr txBox="1"/>
          <p:nvPr/>
        </p:nvSpPr>
        <p:spPr>
          <a:xfrm>
            <a:off x="9780879" y="2423160"/>
            <a:ext cx="1847088" cy="1280160"/>
          </a:xfrm>
          <a:prstGeom prst="rect">
            <a:avLst/>
          </a:prstGeom>
          <a:noFill/>
        </p:spPr>
        <p:txBody>
          <a:bodyPr wrap="square" lIns="0" rIns="0" tIns="0" bIns="0" anchor="ctr">
            <a:spAutoFit/>
          </a:bodyPr>
          <a:lstStyle/>
          <a:p>
            <a:pPr algn="ctr"/>
            <a:r>
              <a:rPr sz="1000" b="0" i="0">
                <a:solidFill>
                  <a:srgbClr val="CCD6F6"/>
                </a:solidFill>
                <a:latin typeface="Consolas"/>
              </a:rPr>
              <a:t>new · reviewed · confirmed ·</a:t>
            </a:r>
          </a:p>
          <a:p>
            <a:pPr algn="ctr"/>
            <a:r>
              <a:rPr sz="1000" b="0" i="0">
                <a:solidFill>
                  <a:srgbClr val="CCD6F6"/>
                </a:solidFill>
                <a:latin typeface="Consolas"/>
              </a:rPr>
              <a:t>false_positive · escalated</a:t>
            </a:r>
          </a:p>
        </p:txBody>
      </p:sp>
      <p:sp>
        <p:nvSpPr>
          <p:cNvPr id="34" name="Rounded Rectangle 33"/>
          <p:cNvSpPr/>
          <p:nvPr/>
        </p:nvSpPr>
        <p:spPr>
          <a:xfrm>
            <a:off x="640080" y="4114800"/>
            <a:ext cx="11064240" cy="219456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914400" y="4297680"/>
            <a:ext cx="201168" cy="201168"/>
          </a:xfrm>
          <a:prstGeom prst="triangl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8720" y="4251960"/>
            <a:ext cx="10515600" cy="365760"/>
          </a:xfrm>
          <a:prstGeom prst="rect">
            <a:avLst/>
          </a:prstGeom>
          <a:noFill/>
        </p:spPr>
        <p:txBody>
          <a:bodyPr wrap="square" lIns="0" rIns="0" tIns="0" bIns="0" anchor="t">
            <a:spAutoFit/>
          </a:bodyPr>
          <a:lstStyle/>
          <a:p>
            <a:pPr algn="l"/>
            <a:r>
              <a:rPr sz="1200" b="1" i="0">
                <a:solidFill>
                  <a:srgbClr val="EBCB8B"/>
                </a:solidFill>
                <a:latin typeface="Segoe UI"/>
              </a:rPr>
              <a:t>GESTION DES FAUX POSITIFS</a:t>
            </a:r>
          </a:p>
        </p:txBody>
      </p:sp>
      <p:sp>
        <p:nvSpPr>
          <p:cNvPr id="37" name="TextBox 36"/>
          <p:cNvSpPr txBox="1"/>
          <p:nvPr/>
        </p:nvSpPr>
        <p:spPr>
          <a:xfrm>
            <a:off x="914400" y="4617720"/>
            <a:ext cx="10515600" cy="548640"/>
          </a:xfrm>
          <a:prstGeom prst="rect">
            <a:avLst/>
          </a:prstGeom>
          <a:noFill/>
        </p:spPr>
        <p:txBody>
          <a:bodyPr wrap="square" lIns="0" rIns="0" tIns="0" bIns="0" anchor="t">
            <a:spAutoFit/>
          </a:bodyPr>
          <a:lstStyle/>
          <a:p>
            <a:pPr algn="l">
              <a:lnSpc>
                <a:spcPct val="130000"/>
              </a:lnSpc>
            </a:pPr>
            <a:r>
              <a:rPr sz="1200" b="0" i="0">
                <a:solidFill>
                  <a:srgbClr val="CCD6F6"/>
                </a:solidFill>
                <a:latin typeface="Segoe UI"/>
              </a:rPr>
              <a:t>La détection initiale identifie un candidat. La detection policy distingue un vrai secret exploitable d'un contenu de test.</a:t>
            </a:r>
          </a:p>
        </p:txBody>
      </p:sp>
      <p:sp>
        <p:nvSpPr>
          <p:cNvPr id="38" name="Rounded Rectangle 37"/>
          <p:cNvSpPr/>
          <p:nvPr/>
        </p:nvSpPr>
        <p:spPr>
          <a:xfrm>
            <a:off x="914400" y="5486400"/>
            <a:ext cx="1865376"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changeme</a:t>
            </a:r>
          </a:p>
        </p:txBody>
      </p:sp>
      <p:sp>
        <p:nvSpPr>
          <p:cNvPr id="39" name="Rounded Rectangle 38"/>
          <p:cNvSpPr/>
          <p:nvPr/>
        </p:nvSpPr>
        <p:spPr>
          <a:xfrm>
            <a:off x="2916936" y="5486400"/>
            <a:ext cx="1865376"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BF616A"/>
                </a:solidFill>
                <a:latin typeface="Segoe UI"/>
              </a:rPr>
              <a:t>your_key</a:t>
            </a:r>
          </a:p>
        </p:txBody>
      </p:sp>
      <p:sp>
        <p:nvSpPr>
          <p:cNvPr id="40" name="Rounded Rectangle 39"/>
          <p:cNvSpPr/>
          <p:nvPr/>
        </p:nvSpPr>
        <p:spPr>
          <a:xfrm>
            <a:off x="4919472" y="5486400"/>
            <a:ext cx="1700784"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BCB8B"/>
                </a:solidFill>
                <a:latin typeface="Segoe UI"/>
              </a:rPr>
              <a:t>example</a:t>
            </a:r>
          </a:p>
        </p:txBody>
      </p:sp>
      <p:sp>
        <p:nvSpPr>
          <p:cNvPr id="41" name="Rounded Rectangle 40"/>
          <p:cNvSpPr/>
          <p:nvPr/>
        </p:nvSpPr>
        <p:spPr>
          <a:xfrm>
            <a:off x="6757416" y="5486400"/>
            <a:ext cx="2029967"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BCB8B"/>
                </a:solidFill>
                <a:latin typeface="Segoe UI"/>
              </a:rPr>
              <a:t>xxx / yyy</a:t>
            </a:r>
          </a:p>
        </p:txBody>
      </p:sp>
      <p:sp>
        <p:nvSpPr>
          <p:cNvPr id="42" name="Rounded Rectangle 41"/>
          <p:cNvSpPr/>
          <p:nvPr/>
        </p:nvSpPr>
        <p:spPr>
          <a:xfrm>
            <a:off x="8924543" y="5486400"/>
            <a:ext cx="1536192"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tests/</a:t>
            </a:r>
          </a:p>
        </p:txBody>
      </p:sp>
      <p:sp>
        <p:nvSpPr>
          <p:cNvPr id="43" name="Rounded Rectangle 42"/>
          <p:cNvSpPr/>
          <p:nvPr/>
        </p:nvSpPr>
        <p:spPr>
          <a:xfrm>
            <a:off x="10597895" y="5486400"/>
            <a:ext cx="1371600"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docs/</a:t>
            </a:r>
          </a:p>
        </p:txBody>
      </p:sp>
      <p:sp>
        <p:nvSpPr>
          <p:cNvPr id="44" name="Rounded Rectangle 43"/>
          <p:cNvSpPr/>
          <p:nvPr/>
        </p:nvSpPr>
        <p:spPr>
          <a:xfrm>
            <a:off x="12106655" y="5486400"/>
            <a:ext cx="2523744" cy="365760"/>
          </a:xfrm>
          <a:prstGeom prst="roundRect">
            <a:avLst>
              <a:gd name="adj" fmla="val 50000"/>
            </a:avLst>
          </a:prstGeom>
          <a:solidFill>
            <a:srgbClr val="23355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5E81AC"/>
                </a:solidFill>
                <a:latin typeface="Segoe UI"/>
              </a:rPr>
              <a:t>.env.example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914400"/>
            <a:ext cx="4572000" cy="4572000"/>
          </a:xfrm>
          <a:prstGeom prst="rect">
            <a:avLst/>
          </a:prstGeom>
          <a:noFill/>
        </p:spPr>
        <p:txBody>
          <a:bodyPr wrap="none">
            <a:spAutoFit/>
          </a:bodyPr>
          <a:lstStyle/>
          <a:p>
            <a:pPr algn="r"/>
            <a:r>
              <a:rPr sz="22000">
                <a:solidFill>
                  <a:srgbClr val="112240"/>
                </a:solidFill>
                <a:latin typeface="Segoe UI Black"/>
              </a:rPr>
              <a:t>18</a:t>
            </a:r>
          </a:p>
        </p:txBody>
      </p:sp>
      <p:sp>
        <p:nvSpPr>
          <p:cNvPr id="6" name="Rectangle 5"/>
          <p:cNvSpPr/>
          <p:nvPr/>
        </p:nvSpPr>
        <p:spPr>
          <a:xfrm>
            <a:off x="11094415" y="457200"/>
            <a:ext cx="640080" cy="640080"/>
          </a:xfrm>
          <a:prstGeom prst="rect">
            <a:avLst/>
          </a:prstGeom>
          <a:solidFill>
            <a:srgbClr val="0A192F"/>
          </a:solidFill>
          <a:ln w="25400">
            <a:solidFill>
              <a:srgbClr val="B48E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94415" y="457200"/>
            <a:ext cx="640080" cy="640080"/>
          </a:xfrm>
          <a:prstGeom prst="rect">
            <a:avLst/>
          </a:prstGeom>
          <a:noFill/>
        </p:spPr>
        <p:txBody>
          <a:bodyPr wrap="square" lIns="0" rIns="0" tIns="0" bIns="0" anchor="ctr">
            <a:spAutoFit/>
          </a:bodyPr>
          <a:lstStyle/>
          <a:p>
            <a:pPr algn="ctr"/>
            <a:r>
              <a:rPr sz="1400" b="1" i="0">
                <a:solidFill>
                  <a:srgbClr val="B48EAD"/>
                </a:solidFill>
                <a:latin typeface="Segoe UI Black"/>
              </a:rPr>
              <a:t>18</a:t>
            </a:r>
          </a:p>
        </p:txBody>
      </p:sp>
      <p:sp>
        <p:nvSpPr>
          <p:cNvPr id="8" name="TextBox 7"/>
          <p:cNvSpPr txBox="1"/>
          <p:nvPr/>
        </p:nvSpPr>
        <p:spPr>
          <a:xfrm>
            <a:off x="640080" y="411480"/>
            <a:ext cx="8229600" cy="274320"/>
          </a:xfrm>
          <a:prstGeom prst="rect">
            <a:avLst/>
          </a:prstGeom>
          <a:noFill/>
        </p:spPr>
        <p:txBody>
          <a:bodyPr wrap="square" lIns="0" rIns="0" tIns="0" bIns="0" anchor="t">
            <a:spAutoFit/>
          </a:bodyPr>
          <a:lstStyle/>
          <a:p>
            <a:pPr algn="l"/>
            <a:r>
              <a:rPr sz="900" b="1" i="0">
                <a:solidFill>
                  <a:srgbClr val="B48EAD"/>
                </a:solidFill>
                <a:latin typeface="Segoe UI Semibold"/>
              </a:rPr>
              <a:t>DATA BREACH &amp; THREAT INTEL PLATFORM</a:t>
            </a:r>
          </a:p>
        </p:txBody>
      </p:sp>
      <p:sp>
        <p:nvSpPr>
          <p:cNvPr id="9" name="TextBox 8"/>
          <p:cNvSpPr txBox="1"/>
          <p:nvPr/>
        </p:nvSpPr>
        <p:spPr>
          <a:xfrm>
            <a:off x="640080" y="640080"/>
            <a:ext cx="10058400" cy="685800"/>
          </a:xfrm>
          <a:prstGeom prst="rect">
            <a:avLst/>
          </a:prstGeom>
          <a:noFill/>
        </p:spPr>
        <p:txBody>
          <a:bodyPr wrap="square" lIns="0" rIns="0" tIns="0" bIns="0" anchor="t">
            <a:spAutoFit/>
          </a:bodyPr>
          <a:lstStyle/>
          <a:p>
            <a:pPr algn="l"/>
            <a:r>
              <a:rPr sz="3600" b="1" i="0">
                <a:solidFill>
                  <a:srgbClr val="E6F1FF"/>
                </a:solidFill>
                <a:latin typeface="Segoe UI Black"/>
              </a:rPr>
              <a:t>CONCLUSION &amp; PERSPECTIVES</a:t>
            </a:r>
          </a:p>
        </p:txBody>
      </p:sp>
      <p:cxnSp>
        <p:nvCxnSpPr>
          <p:cNvPr id="10" name="Connector 9"/>
          <p:cNvCxnSpPr/>
          <p:nvPr/>
        </p:nvCxnSpPr>
        <p:spPr>
          <a:xfrm>
            <a:off x="640080" y="1371600"/>
            <a:ext cx="2743200" cy="0"/>
          </a:xfrm>
          <a:prstGeom prst="line">
            <a:avLst/>
          </a:prstGeom>
          <a:ln w="19050">
            <a:solidFill>
              <a:srgbClr val="B48EA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035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46704" y="1335024"/>
            <a:ext cx="73152" cy="73152"/>
          </a:xfrm>
          <a:prstGeom prst="ellipse">
            <a:avLst/>
          </a:prstGeom>
          <a:solidFill>
            <a:srgbClr val="0A192F"/>
          </a:solidFill>
          <a:ln w="19050">
            <a:solidFill>
              <a:srgbClr val="B48E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370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3707" y="1463040"/>
            <a:ext cx="3703320" cy="73152"/>
          </a:xfrm>
          <a:prstGeom prst="rect">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027" y="1737360"/>
            <a:ext cx="548640" cy="548640"/>
          </a:xfrm>
          <a:prstGeom prst="rect">
            <a:avLst/>
          </a:prstGeom>
          <a:noFill/>
        </p:spPr>
        <p:txBody>
          <a:bodyPr wrap="square" lIns="0" rIns="0" tIns="0" bIns="0" anchor="t">
            <a:spAutoFit/>
          </a:bodyPr>
          <a:lstStyle/>
          <a:p>
            <a:pPr algn="l"/>
            <a:r>
              <a:rPr sz="2800" b="1" i="0">
                <a:solidFill>
                  <a:srgbClr val="A3BE8C"/>
                </a:solidFill>
                <a:latin typeface="Segoe UI"/>
              </a:rPr>
              <a:t>✓</a:t>
            </a:r>
          </a:p>
        </p:txBody>
      </p:sp>
      <p:sp>
        <p:nvSpPr>
          <p:cNvPr id="16" name="TextBox 15"/>
          <p:cNvSpPr txBox="1"/>
          <p:nvPr/>
        </p:nvSpPr>
        <p:spPr>
          <a:xfrm>
            <a:off x="131810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Ce qu'on a réalisé</a:t>
            </a:r>
          </a:p>
        </p:txBody>
      </p:sp>
      <p:sp>
        <p:nvSpPr>
          <p:cNvPr id="17" name="Oval 16"/>
          <p:cNvSpPr/>
          <p:nvPr/>
        </p:nvSpPr>
        <p:spPr>
          <a:xfrm>
            <a:off x="723747" y="2816352"/>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34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Plateforme multi-sources (GitHub, Telegram,</a:t>
            </a:r>
          </a:p>
          <a:p>
            <a:pPr algn="l">
              <a:lnSpc>
                <a:spcPct val="130000"/>
              </a:lnSpc>
            </a:pPr>
            <a:r>
              <a:rPr sz="1100" b="0" i="0">
                <a:solidFill>
                  <a:srgbClr val="CCD6F6"/>
                </a:solidFill>
                <a:latin typeface="Segoe UI"/>
              </a:rPr>
              <a:t>Google Alerts, BI CVE)</a:t>
            </a:r>
          </a:p>
        </p:txBody>
      </p:sp>
      <p:sp>
        <p:nvSpPr>
          <p:cNvPr id="19" name="Oval 18"/>
          <p:cNvSpPr/>
          <p:nvPr/>
        </p:nvSpPr>
        <p:spPr>
          <a:xfrm>
            <a:off x="723747" y="3529584"/>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234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Pipeline complet : collecte → restitution</a:t>
            </a:r>
          </a:p>
        </p:txBody>
      </p:sp>
      <p:sp>
        <p:nvSpPr>
          <p:cNvPr id="21" name="Oval 20"/>
          <p:cNvSpPr/>
          <p:nvPr/>
        </p:nvSpPr>
        <p:spPr>
          <a:xfrm>
            <a:off x="723747" y="4242816"/>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34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Architecture médaillon pour la BI CVE</a:t>
            </a:r>
          </a:p>
        </p:txBody>
      </p:sp>
      <p:sp>
        <p:nvSpPr>
          <p:cNvPr id="23" name="Oval 22"/>
          <p:cNvSpPr/>
          <p:nvPr/>
        </p:nvSpPr>
        <p:spPr>
          <a:xfrm>
            <a:off x="723747" y="4956048"/>
            <a:ext cx="109728" cy="109728"/>
          </a:xfrm>
          <a:prstGeom prst="ellipse">
            <a:avLst/>
          </a:prstGeom>
          <a:solidFill>
            <a:srgbClr val="A3B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234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Dashboards Power BI interactifs</a:t>
            </a:r>
          </a:p>
        </p:txBody>
      </p:sp>
      <p:sp>
        <p:nvSpPr>
          <p:cNvPr id="25" name="Rounded Rectangle 24"/>
          <p:cNvSpPr/>
          <p:nvPr/>
        </p:nvSpPr>
        <p:spPr>
          <a:xfrm>
            <a:off x="424418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44187" y="1463040"/>
            <a:ext cx="3703320" cy="73152"/>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18507" y="1737360"/>
            <a:ext cx="548640" cy="548640"/>
          </a:xfrm>
          <a:prstGeom prst="rect">
            <a:avLst/>
          </a:prstGeom>
          <a:noFill/>
        </p:spPr>
        <p:txBody>
          <a:bodyPr wrap="square" lIns="0" rIns="0" tIns="0" bIns="0" anchor="t">
            <a:spAutoFit/>
          </a:bodyPr>
          <a:lstStyle/>
          <a:p>
            <a:pPr algn="l"/>
            <a:r>
              <a:rPr sz="2800" b="1" i="0">
                <a:solidFill>
                  <a:srgbClr val="5E81AC"/>
                </a:solidFill>
                <a:latin typeface="Segoe UI"/>
              </a:rPr>
              <a:t>★</a:t>
            </a:r>
          </a:p>
        </p:txBody>
      </p:sp>
      <p:sp>
        <p:nvSpPr>
          <p:cNvPr id="28" name="TextBox 27"/>
          <p:cNvSpPr txBox="1"/>
          <p:nvPr/>
        </p:nvSpPr>
        <p:spPr>
          <a:xfrm>
            <a:off x="515858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Ce qu'on a appris</a:t>
            </a:r>
          </a:p>
        </p:txBody>
      </p:sp>
      <p:sp>
        <p:nvSpPr>
          <p:cNvPr id="29" name="Oval 28"/>
          <p:cNvSpPr/>
          <p:nvPr/>
        </p:nvSpPr>
        <p:spPr>
          <a:xfrm>
            <a:off x="4564227" y="2816352"/>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9282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La veille = processus méthodologique,</a:t>
            </a:r>
          </a:p>
          <a:p>
            <a:pPr algn="l">
              <a:lnSpc>
                <a:spcPct val="130000"/>
              </a:lnSpc>
            </a:pPr>
            <a:r>
              <a:rPr sz="1100" b="0" i="0">
                <a:solidFill>
                  <a:srgbClr val="CCD6F6"/>
                </a:solidFill>
                <a:latin typeface="Segoe UI"/>
              </a:rPr>
              <a:t>pas une accumulation de logs</a:t>
            </a:r>
          </a:p>
        </p:txBody>
      </p:sp>
      <p:sp>
        <p:nvSpPr>
          <p:cNvPr id="31" name="Oval 30"/>
          <p:cNvSpPr/>
          <p:nvPr/>
        </p:nvSpPr>
        <p:spPr>
          <a:xfrm>
            <a:off x="4564227" y="3529584"/>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282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Importance de la separation des responsabilités</a:t>
            </a:r>
          </a:p>
        </p:txBody>
      </p:sp>
      <p:sp>
        <p:nvSpPr>
          <p:cNvPr id="33" name="Oval 32"/>
          <p:cNvSpPr/>
          <p:nvPr/>
        </p:nvSpPr>
        <p:spPr>
          <a:xfrm>
            <a:off x="4564227" y="4242816"/>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9282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Detection policy comme garde-fou central</a:t>
            </a:r>
          </a:p>
        </p:txBody>
      </p:sp>
      <p:sp>
        <p:nvSpPr>
          <p:cNvPr id="35" name="Oval 34"/>
          <p:cNvSpPr/>
          <p:nvPr/>
        </p:nvSpPr>
        <p:spPr>
          <a:xfrm>
            <a:off x="4564227" y="4956048"/>
            <a:ext cx="109728" cy="109728"/>
          </a:xfrm>
          <a:prstGeom prst="ellipse">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9282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Sources OSINT autorisées suffisantes</a:t>
            </a:r>
          </a:p>
        </p:txBody>
      </p:sp>
      <p:sp>
        <p:nvSpPr>
          <p:cNvPr id="37" name="Rounded Rectangle 36"/>
          <p:cNvSpPr/>
          <p:nvPr/>
        </p:nvSpPr>
        <p:spPr>
          <a:xfrm>
            <a:off x="8084667" y="1463040"/>
            <a:ext cx="3703320" cy="4114800"/>
          </a:xfrm>
          <a:prstGeom prst="roundRect">
            <a:avLst>
              <a:gd name="adj" fmla="val 5000"/>
            </a:avLst>
          </a:prstGeom>
          <a:solidFill>
            <a:srgbClr val="112240">
              <a:alpha val="60000"/>
            </a:srgbClr>
          </a:solidFill>
          <a:ln w="9525">
            <a:solidFill>
              <a:srgbClr val="2E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84667" y="1463040"/>
            <a:ext cx="3703320" cy="73152"/>
          </a:xfrm>
          <a:prstGeom prst="rect">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8987" y="1737360"/>
            <a:ext cx="548640" cy="548640"/>
          </a:xfrm>
          <a:prstGeom prst="rect">
            <a:avLst/>
          </a:prstGeom>
          <a:noFill/>
        </p:spPr>
        <p:txBody>
          <a:bodyPr wrap="square" lIns="0" rIns="0" tIns="0" bIns="0" anchor="t">
            <a:spAutoFit/>
          </a:bodyPr>
          <a:lstStyle/>
          <a:p>
            <a:pPr algn="l"/>
            <a:r>
              <a:rPr sz="2800" b="1" i="0">
                <a:solidFill>
                  <a:srgbClr val="EBCB8B"/>
                </a:solidFill>
                <a:latin typeface="Segoe UI"/>
              </a:rPr>
              <a:t>↗</a:t>
            </a:r>
          </a:p>
        </p:txBody>
      </p:sp>
      <p:sp>
        <p:nvSpPr>
          <p:cNvPr id="40" name="TextBox 39"/>
          <p:cNvSpPr txBox="1"/>
          <p:nvPr/>
        </p:nvSpPr>
        <p:spPr>
          <a:xfrm>
            <a:off x="8999067" y="1828800"/>
            <a:ext cx="2606040" cy="457200"/>
          </a:xfrm>
          <a:prstGeom prst="rect">
            <a:avLst/>
          </a:prstGeom>
          <a:noFill/>
        </p:spPr>
        <p:txBody>
          <a:bodyPr wrap="square" lIns="0" rIns="0" tIns="0" bIns="0" anchor="t">
            <a:spAutoFit/>
          </a:bodyPr>
          <a:lstStyle/>
          <a:p>
            <a:pPr algn="l"/>
            <a:r>
              <a:rPr sz="1500" b="1" i="0">
                <a:solidFill>
                  <a:srgbClr val="E6F1FF"/>
                </a:solidFill>
                <a:latin typeface="Segoe UI"/>
              </a:rPr>
              <a:t>Perspectives</a:t>
            </a:r>
          </a:p>
        </p:txBody>
      </p:sp>
      <p:sp>
        <p:nvSpPr>
          <p:cNvPr id="41" name="Oval 40"/>
          <p:cNvSpPr/>
          <p:nvPr/>
        </p:nvSpPr>
        <p:spPr>
          <a:xfrm>
            <a:off x="8404707" y="2816352"/>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33307" y="2651760"/>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Améliorer la corrélation inter-sources</a:t>
            </a:r>
          </a:p>
        </p:txBody>
      </p:sp>
      <p:sp>
        <p:nvSpPr>
          <p:cNvPr id="43" name="Oval 42"/>
          <p:cNvSpPr/>
          <p:nvPr/>
        </p:nvSpPr>
        <p:spPr>
          <a:xfrm>
            <a:off x="8404707" y="3529584"/>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33307" y="3364992"/>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Automatiser la production de rapports</a:t>
            </a:r>
          </a:p>
        </p:txBody>
      </p:sp>
      <p:sp>
        <p:nvSpPr>
          <p:cNvPr id="45" name="Oval 44"/>
          <p:cNvSpPr/>
          <p:nvPr/>
        </p:nvSpPr>
        <p:spPr>
          <a:xfrm>
            <a:off x="8404707" y="4242816"/>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33307" y="4078224"/>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Enrichir les indicateurs de risque</a:t>
            </a:r>
          </a:p>
        </p:txBody>
      </p:sp>
      <p:sp>
        <p:nvSpPr>
          <p:cNvPr id="47" name="Oval 46"/>
          <p:cNvSpPr/>
          <p:nvPr/>
        </p:nvSpPr>
        <p:spPr>
          <a:xfrm>
            <a:off x="8404707" y="4956048"/>
            <a:ext cx="109728" cy="109728"/>
          </a:xfrm>
          <a:prstGeom prst="ellipse">
            <a:avLst/>
          </a:prstGeom>
          <a:solidFill>
            <a:srgbClr val="EBC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33307" y="4791456"/>
            <a:ext cx="2971800" cy="731520"/>
          </a:xfrm>
          <a:prstGeom prst="rect">
            <a:avLst/>
          </a:prstGeom>
          <a:noFill/>
        </p:spPr>
        <p:txBody>
          <a:bodyPr wrap="square" lIns="0" rIns="0" tIns="0" bIns="0" anchor="t">
            <a:spAutoFit/>
          </a:bodyPr>
          <a:lstStyle/>
          <a:p>
            <a:pPr algn="l">
              <a:lnSpc>
                <a:spcPct val="130000"/>
              </a:lnSpc>
            </a:pPr>
            <a:r>
              <a:rPr sz="1100" b="0" i="0">
                <a:solidFill>
                  <a:srgbClr val="CCD6F6"/>
                </a:solidFill>
                <a:latin typeface="Segoe UI"/>
              </a:rPr>
              <a:t>Du pédagogique vers l'opérationnel</a:t>
            </a:r>
          </a:p>
        </p:txBody>
      </p:sp>
      <p:sp>
        <p:nvSpPr>
          <p:cNvPr id="49" name="TextBox 48"/>
          <p:cNvSpPr txBox="1"/>
          <p:nvPr/>
        </p:nvSpPr>
        <p:spPr>
          <a:xfrm>
            <a:off x="640080" y="5943600"/>
            <a:ext cx="10972800" cy="457200"/>
          </a:xfrm>
          <a:prstGeom prst="rect">
            <a:avLst/>
          </a:prstGeom>
          <a:noFill/>
        </p:spPr>
        <p:txBody>
          <a:bodyPr wrap="square" lIns="0" rIns="0" tIns="0" bIns="0" anchor="t">
            <a:spAutoFit/>
          </a:bodyPr>
          <a:lstStyle/>
          <a:p>
            <a:pPr algn="ctr"/>
            <a:r>
              <a:rPr sz="1300" b="0" i="1">
                <a:solidFill>
                  <a:srgbClr val="5E81AC"/>
                </a:solidFill>
                <a:latin typeface="Segoe UI"/>
              </a:rPr>
              <a:t>« Une chaîne de veille rigoureuse, défensive et exploitable, à partir de sources ouvertes et autorisées.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verview.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92F">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7619695" y="-2743200"/>
            <a:ext cx="7315200" cy="12801600"/>
          </a:xfrm>
          <a:prstGeom prst="parallelogram">
            <a:avLst/>
          </a:prstGeom>
          <a:solidFill>
            <a:srgbClr val="64FFDA">
              <a:alpha val="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arallelogram 5"/>
          <p:cNvSpPr/>
          <p:nvPr/>
        </p:nvSpPr>
        <p:spPr>
          <a:xfrm>
            <a:off x="-3657600" y="1371600"/>
            <a:ext cx="6400800" cy="9144000"/>
          </a:xfrm>
          <a:prstGeom prst="parallelogram">
            <a:avLst/>
          </a:prstGeom>
          <a:solidFill>
            <a:srgbClr val="B48EAD">
              <a:alpha val="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2286000"/>
            <a:ext cx="7772400" cy="1371600"/>
          </a:xfrm>
          <a:prstGeom prst="rect">
            <a:avLst/>
          </a:prstGeom>
          <a:noFill/>
        </p:spPr>
        <p:txBody>
          <a:bodyPr wrap="square" lIns="0" rIns="0" tIns="0" bIns="0" anchor="t">
            <a:spAutoFit/>
          </a:bodyPr>
          <a:lstStyle/>
          <a:p>
            <a:pPr algn="r"/>
            <a:r>
              <a:rPr sz="9600" b="1" i="0">
                <a:solidFill>
                  <a:srgbClr val="64FFDA"/>
                </a:solidFill>
                <a:latin typeface="Segoe UI Black"/>
              </a:rPr>
              <a:t>MERCI</a:t>
            </a:r>
          </a:p>
        </p:txBody>
      </p:sp>
      <p:cxnSp>
        <p:nvCxnSpPr>
          <p:cNvPr id="8" name="Connector 7"/>
          <p:cNvCxnSpPr/>
          <p:nvPr/>
        </p:nvCxnSpPr>
        <p:spPr>
          <a:xfrm>
            <a:off x="7619695" y="3931920"/>
            <a:ext cx="3657600" cy="0"/>
          </a:xfrm>
          <a:prstGeom prst="line">
            <a:avLst/>
          </a:prstGeom>
          <a:ln w="19050">
            <a:solidFill>
              <a:srgbClr val="E6F1F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583119" y="3895344"/>
            <a:ext cx="73152" cy="73152"/>
          </a:xfrm>
          <a:prstGeom prst="ellipse">
            <a:avLst/>
          </a:prstGeom>
          <a:solidFill>
            <a:srgbClr val="0A192F"/>
          </a:solidFill>
          <a:ln w="19050">
            <a:solidFill>
              <a:srgbClr val="E6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0719" y="3895344"/>
            <a:ext cx="73152" cy="73152"/>
          </a:xfrm>
          <a:prstGeom prst="ellipse">
            <a:avLst/>
          </a:prstGeom>
          <a:solidFill>
            <a:srgbClr val="0A192F"/>
          </a:solidFill>
          <a:ln w="19050">
            <a:solidFill>
              <a:srgbClr val="E6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8095" y="4114800"/>
            <a:ext cx="5029200" cy="457200"/>
          </a:xfrm>
          <a:prstGeom prst="rect">
            <a:avLst/>
          </a:prstGeom>
          <a:noFill/>
        </p:spPr>
        <p:txBody>
          <a:bodyPr wrap="square" lIns="0" rIns="0" tIns="0" bIns="0" anchor="t">
            <a:spAutoFit/>
          </a:bodyPr>
          <a:lstStyle/>
          <a:p>
            <a:pPr algn="r"/>
            <a:r>
              <a:rPr sz="2400" b="1" i="0">
                <a:solidFill>
                  <a:srgbClr val="E6F1FF"/>
                </a:solidFill>
                <a:latin typeface="Segoe UI Black"/>
              </a:rPr>
              <a:t>POUR VOTRE ATTENTION.</a:t>
            </a:r>
          </a:p>
        </p:txBody>
      </p:sp>
      <p:sp>
        <p:nvSpPr>
          <p:cNvPr id="12" name="TextBox 11"/>
          <p:cNvSpPr txBox="1"/>
          <p:nvPr/>
        </p:nvSpPr>
        <p:spPr>
          <a:xfrm>
            <a:off x="731520" y="4572000"/>
            <a:ext cx="4572000" cy="457200"/>
          </a:xfrm>
          <a:prstGeom prst="rect">
            <a:avLst/>
          </a:prstGeom>
          <a:noFill/>
        </p:spPr>
        <p:txBody>
          <a:bodyPr wrap="square" lIns="0" rIns="0" tIns="0" bIns="0" anchor="t">
            <a:spAutoFit/>
          </a:bodyPr>
          <a:lstStyle/>
          <a:p>
            <a:pPr algn="l"/>
            <a:r>
              <a:rPr sz="2400" b="1" i="0">
                <a:solidFill>
                  <a:srgbClr val="64FFDA"/>
                </a:solidFill>
                <a:latin typeface="Segoe UI Black"/>
              </a:rPr>
              <a:t>Questions ?</a:t>
            </a:r>
          </a:p>
        </p:txBody>
      </p:sp>
      <p:sp>
        <p:nvSpPr>
          <p:cNvPr id="13" name="TextBox 12"/>
          <p:cNvSpPr txBox="1"/>
          <p:nvPr/>
        </p:nvSpPr>
        <p:spPr>
          <a:xfrm>
            <a:off x="731520" y="5212080"/>
            <a:ext cx="4572000" cy="914400"/>
          </a:xfrm>
          <a:prstGeom prst="rect">
            <a:avLst/>
          </a:prstGeom>
          <a:noFill/>
        </p:spPr>
        <p:txBody>
          <a:bodyPr wrap="square" lIns="0" rIns="0" tIns="0" bIns="0" anchor="t">
            <a:spAutoFit/>
          </a:bodyPr>
          <a:lstStyle/>
          <a:p>
            <a:pPr algn="l">
              <a:lnSpc>
                <a:spcPct val="130000"/>
              </a:lnSpc>
            </a:pPr>
            <a:r>
              <a:rPr sz="1000" b="0" i="0">
                <a:solidFill>
                  <a:srgbClr val="8892B0"/>
                </a:solidFill>
                <a:latin typeface="Segoe UI"/>
              </a:rPr>
              <a:t>Équipe Projet: Hamza Bjibji • Chaimae Ben Sbeh</a:t>
            </a:r>
          </a:p>
          <a:p>
            <a:pPr algn="l">
              <a:lnSpc>
                <a:spcPct val="130000"/>
              </a:lnSpc>
            </a:pPr>
            <a:r>
              <a:rPr sz="1000" b="0" i="0">
                <a:solidFill>
                  <a:srgbClr val="8892B0"/>
                </a:solidFill>
                <a:latin typeface="Segoe UI"/>
              </a:rPr>
              <a:t>Yassir Salim El Akramine • Imane Sghiouar</a:t>
            </a:r>
          </a:p>
          <a:p>
            <a:pPr algn="l">
              <a:lnSpc>
                <a:spcPct val="130000"/>
              </a:lnSpc>
            </a:pPr>
            <a:r>
              <a:rPr sz="1000" b="0" i="0">
                <a:solidFill>
                  <a:srgbClr val="8892B0"/>
                </a:solidFill>
                <a:latin typeface="Segoe UI"/>
              </a:rPr>
              <a:t>Technologies: FastAPI, Celery, Redis, Elasticsearch, React, Power 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