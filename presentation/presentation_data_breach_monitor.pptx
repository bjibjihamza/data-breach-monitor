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Bonjour à tous. Nous avons le plaisir de vous présenter notre projet de fin de module intitulé Data Breach &amp; Threat Intelligence Monitoring Platform, réalisé par notre équipe — Chaimae, Yassir, Imane et moi-même Hamza — sous l'encadrement du Professeur Younes Wadiai, dans le cadre de la filière Big Data &amp; Intelligence Artificielle.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Notre présentation se déroulera en 4 parties : je commencerai par poser le contexte, l'architecture globale et une démo rapide de la plateforme ; Chaimae enchaînera avec le module GitHub Monitoring ; Yassir présentera les modules Telegram et Google Alerts ; et Imane clôturera avec le module BI Threat Intelligence, la chaîne de traitement et la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Chaque jour, une quantité massive d'informations sensibles apparaît sur des espaces publics : secrets oubliés dans des dépôts GitHub, annonces de fuites sur Telegram, vulnérabilités CVE publiées, couverture médiatique d'incidents. Ces expositions sont rarement intentionnelles, mais elles représentent un risque exploitable. Le problème pour un analyste, c'est la dispersion : les signaux sont partout, et personne ne les centralise. Notre projet répond précisément à ce constat.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L'objectif global est de collecter, normaliser, filtrer et restituer des signaux cyber issus de sources ouvertes et autorisées. Nous sommes dans une démarche purement défensive — pas d'actions offensives, pas de scraping de dark web. La plateforme s'adresse à un analyste SOC, un responsable sécurité, un enseignant-chercheur, ou toute équipe souhaitant expérimenter une chaîne OSINT complète.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Voici la vue conceptuelle de notre pipeline. L'architecture est modulaire et organisée en deux sous-systèmes : à gauche, la plateforme principale de monitoring qui détecte les expositions publiques via GitHub, Telegram et Google Alerts ; à droite, le module BI Threat Intelligence dédié aux CVE selon une architecture médaillon Bronze/Silver/Gold. Le pipeline couvre 7 étapes : configuration, collecte, normalisation, analyse, filtrage, redaction, et restitution. Nous nous appuyons sur 4 familles de sources complémentaires. Quatre principes nous guident : séparation des responsabilités, configuration externalisée, filtrage explicite, et approche défensive — les données sensibles ne sont jamais stockées en clair.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 DEMO] Avant que mes collègues n'entrent dans le détail de chaque module, je voudrais vous donner un aperçu concret et visuel. Considérez ce slide comme une démo exclusive en avant-première. Concrètement, lorsqu'un analyste se connecte à notre plateforme, il accède à un environnement unifié dans lequel il peut : scanner en temps réel les fuites de secrets sur GitHub ; surveiller les canaux Telegram publics dédiés aux fuites ; visualiser les actualités cyber issues de Google Alerts classées par catégorie ; explorer les CVE à travers les dashboards Power BI ; et superviser l'état de chaque source. Là où un analyste devait ouvrir 5 ou 6 outils différents, notre plateforme centralise, qualifie et présente tous ces signaux dans une seule interface cohérente. Mes collègues vont maintenant détailler chaque module, en commençant par Chaimae avec GitHub.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[CHAIMAE] Merci Hamza. GitHub est l'une de nos sources principales car elle permet d'identifier des preuves techniques d'exposition directement présentes dans des dépôts publics. De nombreux développeurs publient — souvent par erreur — des fichiers .env, des clés d'API, des tokens, des certificats, ou des chaînes de connexion. Contrairement aux autres sources qui fournissent des indications déclaratives, GitHub nous donne des preuves directement exploitables.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[CHAIMAE] L'accès se fait via l'API officielle GitHub Code Search, authentifiée par un token développeur pour bénéficier de quotas adaptés. Toute la logique de recherche repose sur un fichier de configuration externalisé appelé global_risks.yml, qui organise les requêtes par catégories de risques : fichiers d'environnement, identifiants PostgreSQL/MySQL/MongoDB, clés d'API, secrets cloud AWS/Azure/GCP, tokens JWT, clés privées, fichiers Docker/Kubernetes. Cette externalisation rend la veille structurée, auditable et évolutive — ajouter une nouvelle catégorie ne nécessite pas de modifier le code.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[CHAIMAE] Voici l'interface GitHub Intelligence. Le tableau central liste les signaux détectés avec leur sévérité, leur niveau de confiance, leur type de secret et leur statut. Les panneaux latéraux affichent l'état du scanner et les compteurs. À droite, un cas réel détecté : un fichier contenant des identifiants SMTP Gmail, des URLs PostgreSQL/Supabase/Render avec utilisateurs et mots de passe, un secret Google OAuth, et plusieurs variables de connexion. Cette fuite est classée secret exposure avec une sévérité high, car elle permettrait à un attaquant d'accéder à des services backend. Je passe la parole à Yassir.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Merci Chaimae. Telegram est utilisé comme source de veille communautaire et OSINT. Beaucoup de canaux publics y publient des annonces liées aux fuites de données, aux CVE et aux incidents cyber. Distinction importante : contrairement à GitHub qui fournit des preuves techniques, Telegram fournit des indications déclaratives — des signaux à analyser et à valider, pas des preuves définitives. Nous surveillons deux canaux publics déclarés dans un fichier de configuration : CVEDetector pour les vulnérabilités, et breachforums_cdn pour le suivi des annonces de fuites.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Pour chaque message collecté, la plateforme effectue 5 étapes : extraction des informations utiles, détection des thématiques, classification, génération d'un signal normalisé, et masquage du contenu sensible. Voici un exemple concret : une annonce sur le canal breachforums_cdn mentionnant une fuite liée à Avito.ma, avec environ 2,7 millions d'enregistrements exposés. Il faut bien comprendre que ce n'est pas une preuve technique automatique — c'est un signal OSINT qui doit être corroboré avec d'autres sources avant d'être considéré comme un incident confirmé.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Google Alerts apporte la dimension news et OSINT au pipeline. Au total, nous avons configuré 16 alertes personnalisables, chacune définie par un nom, une catégorie, un périmètre géographique, une requête bilingue français/anglais, et une URL RSS. Les catégories couvrent un spectre large : cyberattaques globales, ransomware, fuites santé, incidents financiers, secteur public, 0-day, activité dark web, et même les bulletins officiels ANSSI / CERT-FR.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Les flux RSS sont récupérés à intervalle régulier par notre planificateur. Pour chaque entrée, la plateforme extrait les métadonnées, rattache la détection à sa catégorie d'origine, applique les règles de filtrage, et conserve uniquement l'information normalisée et redactée. L'interface permet à l'analyste de suivre en temps réel les alertes, de filtrer par catégorie et par sévérité, et d'identifier rapidement les incidents médiatisés. Je passe la parole à Imane.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Merci Yassir. Le module BI Threat Intelligence est un sous-projet complémentaire orienté vers l'exploitation analytique des flux CVE. Contrairement aux autres modules qui détectent des expositions ponctuelles, celui-ci produit une vision décisionnelle sur l'évolution des vulnérabilités dans le temps. Il repose sur une architecture Data Warehouse organisée selon le modèle médaillon : la couche Bronze ingère les données CVE brutes ; la couche Silver nettoie, normalise, enrichit et déduplique ; la couche Gold produit les agrégats métiers et les tables prêtes pour Power BI.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Le module fournit 3 pages Power BI répondant chacune à un objectif analytique distinct. Executive Overview donne la vision globale : nombre total de CVE, vulnérabilités critiques, fournisseurs impactés, pourcentage de CVE critiques. Time &amp; Age Analysis analyse la dimension temporelle : évolution annuelle et mensuelle, distribution par ancienneté. Severity &amp; Impact Analysis se concentre sur la criticité : distribution des sévérités, scores CVSS moyens et maximums, relation entre impact et exploitabilité.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Revenons à la chaîne de traitement commune. La collecte fonctionne selon 2 régimes : planifiée par un scheduler et à la demande déclenchée par l'analyste. Chaque détection est associée à un hash de déduplication pour éviter la pollution de la base. Comme les sources produisent des formats différents — code, messages, RSS, objets structurés — une étape de normalisation transforme tout en document unifié. Le cœur du système est la detection policy : c'est le garde-fou central qui décide si une donnée brute mérite d'être conservée. Elle vérifie le contenu réel, identifie les secrets exploitables, exclut les faux positifs, calcule un score de risque, attribue une sévérité, et masque les valeurs sensibles avant stockage.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Chaque détection retenue est classée selon 5 axes : la source, la catégorie de risque, la sévérité, le niveau de confiance, et le statut analyste (new, reviewed, confirmed, false_positive, escalated). Un point essentiel : nous ne considérons jamais automatiquement qu'un résultat brut est un incident. Les fichiers d'exemple, les valeurs changeme ou your_key, les chemins tests/ ou examples/ sont systématiquement filtrés. La détection initiale identifie un candidat, mais c'est la detection policy qui distingue un vrai secret exploitable d'un faux positif.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En conclusion, notre projet a permis de concevoir une plateforme de veille cyber qui traite la veille comme un processus méthodologique et non comme une simple accumulation de logs. À travers 4 sources complémentaires — GitHub, Telegram, Google Alerts et le module BI CVE — nous couvrons un large spectre d'expositions publiques. Au-delà de l'aspect technique, c'est un véritable exercice méthodologique. Les perspectives ouvertes sont nombreuses : améliorer la corrélation entre sources, automatiser la production de rapports, enrichir les indicateurs de risque… autant de pistes pour faire évoluer notre outil pédagogique vers un outil opérationnel.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 ÉQUIPE] Nous vous remercions pour votre attention. Toute l'équipe — Hamza, Chaimae, Yassir et moi-même — reste à votre disposition pour répondre à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72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572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72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72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72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572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72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72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572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72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572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72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72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72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72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572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144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144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144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144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144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144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144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144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144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144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144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144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144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144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3716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3716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3716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3716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3716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3716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3716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3716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3716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3716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3716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3716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3716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3716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3716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3716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8288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8288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8288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8288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8288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8288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8288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8288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8288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8288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8288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8288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8288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8288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8288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8288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2860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2860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2860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2860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22860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22860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22860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22860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22860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22860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22860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22860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22860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22860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22860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22860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27432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7432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7432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27432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27432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27432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27432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27432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27432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27432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27432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27432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27432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27432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27432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27432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32004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32004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32004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32004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32004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32004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32004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32004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32004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32004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32004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32004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32004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32004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32004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32004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36576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36576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36576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36576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6576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36576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36576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6576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36576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36576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36576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36576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36576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36576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36576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36576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41148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41148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41148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41148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41148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41148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41148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41148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41148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41148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41148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41148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41148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41148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41148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41148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45720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45720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45720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45720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45720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45720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45720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45720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45720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45720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45720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45720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45720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45720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45720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45720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50292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50292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50292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50292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50292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50292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50292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50292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50292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50292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50292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50292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50292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50292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50292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50292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54864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54864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54864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54864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54864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54864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54864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54864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54864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54864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54864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54864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54864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54864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54864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54864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59436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59436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59436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59436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59436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59436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59436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59436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59436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59436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59436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59436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59436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59436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59436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59436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64008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64008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64008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64008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64008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64008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Oval 232"/>
          <p:cNvSpPr/>
          <p:nvPr/>
        </p:nvSpPr>
        <p:spPr>
          <a:xfrm>
            <a:off x="64008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64008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64008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64008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64008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64008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Oval 238"/>
          <p:cNvSpPr/>
          <p:nvPr/>
        </p:nvSpPr>
        <p:spPr>
          <a:xfrm>
            <a:off x="64008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64008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64008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Oval 241"/>
          <p:cNvSpPr/>
          <p:nvPr/>
        </p:nvSpPr>
        <p:spPr>
          <a:xfrm>
            <a:off x="64008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Oval 242"/>
          <p:cNvSpPr/>
          <p:nvPr/>
        </p:nvSpPr>
        <p:spPr>
          <a:xfrm>
            <a:off x="68580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Oval 243"/>
          <p:cNvSpPr/>
          <p:nvPr/>
        </p:nvSpPr>
        <p:spPr>
          <a:xfrm>
            <a:off x="68580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Oval 244"/>
          <p:cNvSpPr/>
          <p:nvPr/>
        </p:nvSpPr>
        <p:spPr>
          <a:xfrm>
            <a:off x="68580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Oval 245"/>
          <p:cNvSpPr/>
          <p:nvPr/>
        </p:nvSpPr>
        <p:spPr>
          <a:xfrm>
            <a:off x="68580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Oval 246"/>
          <p:cNvSpPr/>
          <p:nvPr/>
        </p:nvSpPr>
        <p:spPr>
          <a:xfrm>
            <a:off x="68580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68580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Oval 248"/>
          <p:cNvSpPr/>
          <p:nvPr/>
        </p:nvSpPr>
        <p:spPr>
          <a:xfrm>
            <a:off x="68580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val 249"/>
          <p:cNvSpPr/>
          <p:nvPr/>
        </p:nvSpPr>
        <p:spPr>
          <a:xfrm>
            <a:off x="68580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68580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Oval 251"/>
          <p:cNvSpPr/>
          <p:nvPr/>
        </p:nvSpPr>
        <p:spPr>
          <a:xfrm>
            <a:off x="68580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68580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68580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68580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68580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68580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68580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73152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73152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Oval 260"/>
          <p:cNvSpPr/>
          <p:nvPr/>
        </p:nvSpPr>
        <p:spPr>
          <a:xfrm>
            <a:off x="73152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val 261"/>
          <p:cNvSpPr/>
          <p:nvPr/>
        </p:nvSpPr>
        <p:spPr>
          <a:xfrm>
            <a:off x="73152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73152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Oval 263"/>
          <p:cNvSpPr/>
          <p:nvPr/>
        </p:nvSpPr>
        <p:spPr>
          <a:xfrm>
            <a:off x="73152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Oval 264"/>
          <p:cNvSpPr/>
          <p:nvPr/>
        </p:nvSpPr>
        <p:spPr>
          <a:xfrm>
            <a:off x="73152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Oval 265"/>
          <p:cNvSpPr/>
          <p:nvPr/>
        </p:nvSpPr>
        <p:spPr>
          <a:xfrm>
            <a:off x="73152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Oval 266"/>
          <p:cNvSpPr/>
          <p:nvPr/>
        </p:nvSpPr>
        <p:spPr>
          <a:xfrm>
            <a:off x="73152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73152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73152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73152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73152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73152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Oval 272"/>
          <p:cNvSpPr/>
          <p:nvPr/>
        </p:nvSpPr>
        <p:spPr>
          <a:xfrm>
            <a:off x="73152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Oval 273"/>
          <p:cNvSpPr/>
          <p:nvPr/>
        </p:nvSpPr>
        <p:spPr>
          <a:xfrm>
            <a:off x="73152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Oval 274"/>
          <p:cNvSpPr/>
          <p:nvPr/>
        </p:nvSpPr>
        <p:spPr>
          <a:xfrm>
            <a:off x="77724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Oval 275"/>
          <p:cNvSpPr/>
          <p:nvPr/>
        </p:nvSpPr>
        <p:spPr>
          <a:xfrm>
            <a:off x="77724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Oval 276"/>
          <p:cNvSpPr/>
          <p:nvPr/>
        </p:nvSpPr>
        <p:spPr>
          <a:xfrm>
            <a:off x="77724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Oval 277"/>
          <p:cNvSpPr/>
          <p:nvPr/>
        </p:nvSpPr>
        <p:spPr>
          <a:xfrm>
            <a:off x="77724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Oval 278"/>
          <p:cNvSpPr/>
          <p:nvPr/>
        </p:nvSpPr>
        <p:spPr>
          <a:xfrm>
            <a:off x="77724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Oval 279"/>
          <p:cNvSpPr/>
          <p:nvPr/>
        </p:nvSpPr>
        <p:spPr>
          <a:xfrm>
            <a:off x="77724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Oval 280"/>
          <p:cNvSpPr/>
          <p:nvPr/>
        </p:nvSpPr>
        <p:spPr>
          <a:xfrm>
            <a:off x="77724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Oval 281"/>
          <p:cNvSpPr/>
          <p:nvPr/>
        </p:nvSpPr>
        <p:spPr>
          <a:xfrm>
            <a:off x="77724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77724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77724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Oval 284"/>
          <p:cNvSpPr/>
          <p:nvPr/>
        </p:nvSpPr>
        <p:spPr>
          <a:xfrm>
            <a:off x="77724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77724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Oval 286"/>
          <p:cNvSpPr/>
          <p:nvPr/>
        </p:nvSpPr>
        <p:spPr>
          <a:xfrm>
            <a:off x="77724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Oval 287"/>
          <p:cNvSpPr/>
          <p:nvPr/>
        </p:nvSpPr>
        <p:spPr>
          <a:xfrm>
            <a:off x="77724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Oval 288"/>
          <p:cNvSpPr/>
          <p:nvPr/>
        </p:nvSpPr>
        <p:spPr>
          <a:xfrm>
            <a:off x="77724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Oval 289"/>
          <p:cNvSpPr/>
          <p:nvPr/>
        </p:nvSpPr>
        <p:spPr>
          <a:xfrm>
            <a:off x="77724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Oval 290"/>
          <p:cNvSpPr/>
          <p:nvPr/>
        </p:nvSpPr>
        <p:spPr>
          <a:xfrm>
            <a:off x="82296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Oval 291"/>
          <p:cNvSpPr/>
          <p:nvPr/>
        </p:nvSpPr>
        <p:spPr>
          <a:xfrm>
            <a:off x="82296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Oval 292"/>
          <p:cNvSpPr/>
          <p:nvPr/>
        </p:nvSpPr>
        <p:spPr>
          <a:xfrm>
            <a:off x="82296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Oval 293"/>
          <p:cNvSpPr/>
          <p:nvPr/>
        </p:nvSpPr>
        <p:spPr>
          <a:xfrm>
            <a:off x="82296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82296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Oval 295"/>
          <p:cNvSpPr/>
          <p:nvPr/>
        </p:nvSpPr>
        <p:spPr>
          <a:xfrm>
            <a:off x="82296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Oval 296"/>
          <p:cNvSpPr/>
          <p:nvPr/>
        </p:nvSpPr>
        <p:spPr>
          <a:xfrm>
            <a:off x="82296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Oval 297"/>
          <p:cNvSpPr/>
          <p:nvPr/>
        </p:nvSpPr>
        <p:spPr>
          <a:xfrm>
            <a:off x="82296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Oval 298"/>
          <p:cNvSpPr/>
          <p:nvPr/>
        </p:nvSpPr>
        <p:spPr>
          <a:xfrm>
            <a:off x="82296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82296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Oval 300"/>
          <p:cNvSpPr/>
          <p:nvPr/>
        </p:nvSpPr>
        <p:spPr>
          <a:xfrm>
            <a:off x="82296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Oval 301"/>
          <p:cNvSpPr/>
          <p:nvPr/>
        </p:nvSpPr>
        <p:spPr>
          <a:xfrm>
            <a:off x="82296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82296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Oval 303"/>
          <p:cNvSpPr/>
          <p:nvPr/>
        </p:nvSpPr>
        <p:spPr>
          <a:xfrm>
            <a:off x="82296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Oval 304"/>
          <p:cNvSpPr/>
          <p:nvPr/>
        </p:nvSpPr>
        <p:spPr>
          <a:xfrm>
            <a:off x="82296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Oval 305"/>
          <p:cNvSpPr/>
          <p:nvPr/>
        </p:nvSpPr>
        <p:spPr>
          <a:xfrm>
            <a:off x="82296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Oval 306"/>
          <p:cNvSpPr/>
          <p:nvPr/>
        </p:nvSpPr>
        <p:spPr>
          <a:xfrm>
            <a:off x="86868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Oval 307"/>
          <p:cNvSpPr/>
          <p:nvPr/>
        </p:nvSpPr>
        <p:spPr>
          <a:xfrm>
            <a:off x="86868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Oval 308"/>
          <p:cNvSpPr/>
          <p:nvPr/>
        </p:nvSpPr>
        <p:spPr>
          <a:xfrm>
            <a:off x="86868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Oval 309"/>
          <p:cNvSpPr/>
          <p:nvPr/>
        </p:nvSpPr>
        <p:spPr>
          <a:xfrm>
            <a:off x="86868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Oval 310"/>
          <p:cNvSpPr/>
          <p:nvPr/>
        </p:nvSpPr>
        <p:spPr>
          <a:xfrm>
            <a:off x="86868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86868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86868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Oval 313"/>
          <p:cNvSpPr/>
          <p:nvPr/>
        </p:nvSpPr>
        <p:spPr>
          <a:xfrm>
            <a:off x="86868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86868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86868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86868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86868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86868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86868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86868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86868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91440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91440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91440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91440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91440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91440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91440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91440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91440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91440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91440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91440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91440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Oval 335"/>
          <p:cNvSpPr/>
          <p:nvPr/>
        </p:nvSpPr>
        <p:spPr>
          <a:xfrm>
            <a:off x="91440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Oval 336"/>
          <p:cNvSpPr/>
          <p:nvPr/>
        </p:nvSpPr>
        <p:spPr>
          <a:xfrm>
            <a:off x="91440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Oval 337"/>
          <p:cNvSpPr/>
          <p:nvPr/>
        </p:nvSpPr>
        <p:spPr>
          <a:xfrm>
            <a:off x="91440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96012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Oval 339"/>
          <p:cNvSpPr/>
          <p:nvPr/>
        </p:nvSpPr>
        <p:spPr>
          <a:xfrm>
            <a:off x="96012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Oval 340"/>
          <p:cNvSpPr/>
          <p:nvPr/>
        </p:nvSpPr>
        <p:spPr>
          <a:xfrm>
            <a:off x="96012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Oval 341"/>
          <p:cNvSpPr/>
          <p:nvPr/>
        </p:nvSpPr>
        <p:spPr>
          <a:xfrm>
            <a:off x="96012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Oval 342"/>
          <p:cNvSpPr/>
          <p:nvPr/>
        </p:nvSpPr>
        <p:spPr>
          <a:xfrm>
            <a:off x="96012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Oval 343"/>
          <p:cNvSpPr/>
          <p:nvPr/>
        </p:nvSpPr>
        <p:spPr>
          <a:xfrm>
            <a:off x="96012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Oval 344"/>
          <p:cNvSpPr/>
          <p:nvPr/>
        </p:nvSpPr>
        <p:spPr>
          <a:xfrm>
            <a:off x="96012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96012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Oval 346"/>
          <p:cNvSpPr/>
          <p:nvPr/>
        </p:nvSpPr>
        <p:spPr>
          <a:xfrm>
            <a:off x="96012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Oval 347"/>
          <p:cNvSpPr/>
          <p:nvPr/>
        </p:nvSpPr>
        <p:spPr>
          <a:xfrm>
            <a:off x="96012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Oval 348"/>
          <p:cNvSpPr/>
          <p:nvPr/>
        </p:nvSpPr>
        <p:spPr>
          <a:xfrm>
            <a:off x="96012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Oval 349"/>
          <p:cNvSpPr/>
          <p:nvPr/>
        </p:nvSpPr>
        <p:spPr>
          <a:xfrm>
            <a:off x="96012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Oval 350"/>
          <p:cNvSpPr/>
          <p:nvPr/>
        </p:nvSpPr>
        <p:spPr>
          <a:xfrm>
            <a:off x="96012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Oval 351"/>
          <p:cNvSpPr/>
          <p:nvPr/>
        </p:nvSpPr>
        <p:spPr>
          <a:xfrm>
            <a:off x="96012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96012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Oval 353"/>
          <p:cNvSpPr/>
          <p:nvPr/>
        </p:nvSpPr>
        <p:spPr>
          <a:xfrm>
            <a:off x="96012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Oval 354"/>
          <p:cNvSpPr/>
          <p:nvPr/>
        </p:nvSpPr>
        <p:spPr>
          <a:xfrm>
            <a:off x="100584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Oval 355"/>
          <p:cNvSpPr/>
          <p:nvPr/>
        </p:nvSpPr>
        <p:spPr>
          <a:xfrm>
            <a:off x="100584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Oval 356"/>
          <p:cNvSpPr/>
          <p:nvPr/>
        </p:nvSpPr>
        <p:spPr>
          <a:xfrm>
            <a:off x="100584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Oval 357"/>
          <p:cNvSpPr/>
          <p:nvPr/>
        </p:nvSpPr>
        <p:spPr>
          <a:xfrm>
            <a:off x="100584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Oval 358"/>
          <p:cNvSpPr/>
          <p:nvPr/>
        </p:nvSpPr>
        <p:spPr>
          <a:xfrm>
            <a:off x="100584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100584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Oval 360"/>
          <p:cNvSpPr/>
          <p:nvPr/>
        </p:nvSpPr>
        <p:spPr>
          <a:xfrm>
            <a:off x="100584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Oval 361"/>
          <p:cNvSpPr/>
          <p:nvPr/>
        </p:nvSpPr>
        <p:spPr>
          <a:xfrm>
            <a:off x="100584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Oval 362"/>
          <p:cNvSpPr/>
          <p:nvPr/>
        </p:nvSpPr>
        <p:spPr>
          <a:xfrm>
            <a:off x="100584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Oval 363"/>
          <p:cNvSpPr/>
          <p:nvPr/>
        </p:nvSpPr>
        <p:spPr>
          <a:xfrm>
            <a:off x="100584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Oval 364"/>
          <p:cNvSpPr/>
          <p:nvPr/>
        </p:nvSpPr>
        <p:spPr>
          <a:xfrm>
            <a:off x="100584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Oval 365"/>
          <p:cNvSpPr/>
          <p:nvPr/>
        </p:nvSpPr>
        <p:spPr>
          <a:xfrm>
            <a:off x="100584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Oval 366"/>
          <p:cNvSpPr/>
          <p:nvPr/>
        </p:nvSpPr>
        <p:spPr>
          <a:xfrm>
            <a:off x="100584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Oval 367"/>
          <p:cNvSpPr/>
          <p:nvPr/>
        </p:nvSpPr>
        <p:spPr>
          <a:xfrm>
            <a:off x="100584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Oval 368"/>
          <p:cNvSpPr/>
          <p:nvPr/>
        </p:nvSpPr>
        <p:spPr>
          <a:xfrm>
            <a:off x="100584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Oval 369"/>
          <p:cNvSpPr/>
          <p:nvPr/>
        </p:nvSpPr>
        <p:spPr>
          <a:xfrm>
            <a:off x="100584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Oval 370"/>
          <p:cNvSpPr/>
          <p:nvPr/>
        </p:nvSpPr>
        <p:spPr>
          <a:xfrm>
            <a:off x="105156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Oval 371"/>
          <p:cNvSpPr/>
          <p:nvPr/>
        </p:nvSpPr>
        <p:spPr>
          <a:xfrm>
            <a:off x="105156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Oval 372"/>
          <p:cNvSpPr/>
          <p:nvPr/>
        </p:nvSpPr>
        <p:spPr>
          <a:xfrm>
            <a:off x="105156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Oval 373"/>
          <p:cNvSpPr/>
          <p:nvPr/>
        </p:nvSpPr>
        <p:spPr>
          <a:xfrm>
            <a:off x="105156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Oval 374"/>
          <p:cNvSpPr/>
          <p:nvPr/>
        </p:nvSpPr>
        <p:spPr>
          <a:xfrm>
            <a:off x="105156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Oval 375"/>
          <p:cNvSpPr/>
          <p:nvPr/>
        </p:nvSpPr>
        <p:spPr>
          <a:xfrm>
            <a:off x="105156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Oval 376"/>
          <p:cNvSpPr/>
          <p:nvPr/>
        </p:nvSpPr>
        <p:spPr>
          <a:xfrm>
            <a:off x="105156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Oval 377"/>
          <p:cNvSpPr/>
          <p:nvPr/>
        </p:nvSpPr>
        <p:spPr>
          <a:xfrm>
            <a:off x="105156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378"/>
          <p:cNvSpPr/>
          <p:nvPr/>
        </p:nvSpPr>
        <p:spPr>
          <a:xfrm>
            <a:off x="105156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379"/>
          <p:cNvSpPr/>
          <p:nvPr/>
        </p:nvSpPr>
        <p:spPr>
          <a:xfrm>
            <a:off x="105156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Oval 380"/>
          <p:cNvSpPr/>
          <p:nvPr/>
        </p:nvSpPr>
        <p:spPr>
          <a:xfrm>
            <a:off x="105156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Oval 381"/>
          <p:cNvSpPr/>
          <p:nvPr/>
        </p:nvSpPr>
        <p:spPr>
          <a:xfrm>
            <a:off x="105156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Oval 382"/>
          <p:cNvSpPr/>
          <p:nvPr/>
        </p:nvSpPr>
        <p:spPr>
          <a:xfrm>
            <a:off x="105156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Oval 383"/>
          <p:cNvSpPr/>
          <p:nvPr/>
        </p:nvSpPr>
        <p:spPr>
          <a:xfrm>
            <a:off x="105156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Oval 384"/>
          <p:cNvSpPr/>
          <p:nvPr/>
        </p:nvSpPr>
        <p:spPr>
          <a:xfrm>
            <a:off x="105156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val 385"/>
          <p:cNvSpPr/>
          <p:nvPr/>
        </p:nvSpPr>
        <p:spPr>
          <a:xfrm>
            <a:off x="105156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Oval 386"/>
          <p:cNvSpPr/>
          <p:nvPr/>
        </p:nvSpPr>
        <p:spPr>
          <a:xfrm>
            <a:off x="109728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Oval 387"/>
          <p:cNvSpPr/>
          <p:nvPr/>
        </p:nvSpPr>
        <p:spPr>
          <a:xfrm>
            <a:off x="109728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Oval 388"/>
          <p:cNvSpPr/>
          <p:nvPr/>
        </p:nvSpPr>
        <p:spPr>
          <a:xfrm>
            <a:off x="109728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Oval 389"/>
          <p:cNvSpPr/>
          <p:nvPr/>
        </p:nvSpPr>
        <p:spPr>
          <a:xfrm>
            <a:off x="109728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Oval 390"/>
          <p:cNvSpPr/>
          <p:nvPr/>
        </p:nvSpPr>
        <p:spPr>
          <a:xfrm>
            <a:off x="109728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Oval 391"/>
          <p:cNvSpPr/>
          <p:nvPr/>
        </p:nvSpPr>
        <p:spPr>
          <a:xfrm>
            <a:off x="109728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Oval 392"/>
          <p:cNvSpPr/>
          <p:nvPr/>
        </p:nvSpPr>
        <p:spPr>
          <a:xfrm>
            <a:off x="109728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Oval 393"/>
          <p:cNvSpPr/>
          <p:nvPr/>
        </p:nvSpPr>
        <p:spPr>
          <a:xfrm>
            <a:off x="109728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val 394"/>
          <p:cNvSpPr/>
          <p:nvPr/>
        </p:nvSpPr>
        <p:spPr>
          <a:xfrm>
            <a:off x="109728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Oval 395"/>
          <p:cNvSpPr/>
          <p:nvPr/>
        </p:nvSpPr>
        <p:spPr>
          <a:xfrm>
            <a:off x="109728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Oval 396"/>
          <p:cNvSpPr/>
          <p:nvPr/>
        </p:nvSpPr>
        <p:spPr>
          <a:xfrm>
            <a:off x="109728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val 397"/>
          <p:cNvSpPr/>
          <p:nvPr/>
        </p:nvSpPr>
        <p:spPr>
          <a:xfrm>
            <a:off x="109728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Oval 398"/>
          <p:cNvSpPr/>
          <p:nvPr/>
        </p:nvSpPr>
        <p:spPr>
          <a:xfrm>
            <a:off x="109728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Oval 399"/>
          <p:cNvSpPr/>
          <p:nvPr/>
        </p:nvSpPr>
        <p:spPr>
          <a:xfrm>
            <a:off x="109728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val 400"/>
          <p:cNvSpPr/>
          <p:nvPr/>
        </p:nvSpPr>
        <p:spPr>
          <a:xfrm>
            <a:off x="109728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Oval 401"/>
          <p:cNvSpPr/>
          <p:nvPr/>
        </p:nvSpPr>
        <p:spPr>
          <a:xfrm>
            <a:off x="109728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Oval 402"/>
          <p:cNvSpPr/>
          <p:nvPr/>
        </p:nvSpPr>
        <p:spPr>
          <a:xfrm>
            <a:off x="114300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Oval 403"/>
          <p:cNvSpPr/>
          <p:nvPr/>
        </p:nvSpPr>
        <p:spPr>
          <a:xfrm>
            <a:off x="114300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Oval 404"/>
          <p:cNvSpPr/>
          <p:nvPr/>
        </p:nvSpPr>
        <p:spPr>
          <a:xfrm>
            <a:off x="114300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Oval 405"/>
          <p:cNvSpPr/>
          <p:nvPr/>
        </p:nvSpPr>
        <p:spPr>
          <a:xfrm>
            <a:off x="114300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Oval 406"/>
          <p:cNvSpPr/>
          <p:nvPr/>
        </p:nvSpPr>
        <p:spPr>
          <a:xfrm>
            <a:off x="114300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Oval 407"/>
          <p:cNvSpPr/>
          <p:nvPr/>
        </p:nvSpPr>
        <p:spPr>
          <a:xfrm>
            <a:off x="114300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Oval 408"/>
          <p:cNvSpPr/>
          <p:nvPr/>
        </p:nvSpPr>
        <p:spPr>
          <a:xfrm>
            <a:off x="114300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Oval 409"/>
          <p:cNvSpPr/>
          <p:nvPr/>
        </p:nvSpPr>
        <p:spPr>
          <a:xfrm>
            <a:off x="114300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Oval 410"/>
          <p:cNvSpPr/>
          <p:nvPr/>
        </p:nvSpPr>
        <p:spPr>
          <a:xfrm>
            <a:off x="114300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Oval 411"/>
          <p:cNvSpPr/>
          <p:nvPr/>
        </p:nvSpPr>
        <p:spPr>
          <a:xfrm>
            <a:off x="114300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Oval 412"/>
          <p:cNvSpPr/>
          <p:nvPr/>
        </p:nvSpPr>
        <p:spPr>
          <a:xfrm>
            <a:off x="114300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Oval 413"/>
          <p:cNvSpPr/>
          <p:nvPr/>
        </p:nvSpPr>
        <p:spPr>
          <a:xfrm>
            <a:off x="114300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Oval 414"/>
          <p:cNvSpPr/>
          <p:nvPr/>
        </p:nvSpPr>
        <p:spPr>
          <a:xfrm>
            <a:off x="114300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Oval 415"/>
          <p:cNvSpPr/>
          <p:nvPr/>
        </p:nvSpPr>
        <p:spPr>
          <a:xfrm>
            <a:off x="114300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Oval 416"/>
          <p:cNvSpPr/>
          <p:nvPr/>
        </p:nvSpPr>
        <p:spPr>
          <a:xfrm>
            <a:off x="114300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Oval 417"/>
          <p:cNvSpPr/>
          <p:nvPr/>
        </p:nvSpPr>
        <p:spPr>
          <a:xfrm>
            <a:off x="114300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Oval 418"/>
          <p:cNvSpPr/>
          <p:nvPr/>
        </p:nvSpPr>
        <p:spPr>
          <a:xfrm>
            <a:off x="11887200" y="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Oval 419"/>
          <p:cNvSpPr/>
          <p:nvPr/>
        </p:nvSpPr>
        <p:spPr>
          <a:xfrm>
            <a:off x="11887200" y="457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Oval 420"/>
          <p:cNvSpPr/>
          <p:nvPr/>
        </p:nvSpPr>
        <p:spPr>
          <a:xfrm>
            <a:off x="11887200" y="914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Oval 421"/>
          <p:cNvSpPr/>
          <p:nvPr/>
        </p:nvSpPr>
        <p:spPr>
          <a:xfrm>
            <a:off x="11887200" y="1371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Oval 422"/>
          <p:cNvSpPr/>
          <p:nvPr/>
        </p:nvSpPr>
        <p:spPr>
          <a:xfrm>
            <a:off x="11887200" y="1828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Oval 423"/>
          <p:cNvSpPr/>
          <p:nvPr/>
        </p:nvSpPr>
        <p:spPr>
          <a:xfrm>
            <a:off x="11887200" y="2286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Oval 424"/>
          <p:cNvSpPr/>
          <p:nvPr/>
        </p:nvSpPr>
        <p:spPr>
          <a:xfrm>
            <a:off x="11887200" y="2743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Oval 425"/>
          <p:cNvSpPr/>
          <p:nvPr/>
        </p:nvSpPr>
        <p:spPr>
          <a:xfrm>
            <a:off x="11887200" y="3200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Oval 426"/>
          <p:cNvSpPr/>
          <p:nvPr/>
        </p:nvSpPr>
        <p:spPr>
          <a:xfrm>
            <a:off x="11887200" y="3657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Oval 427"/>
          <p:cNvSpPr/>
          <p:nvPr/>
        </p:nvSpPr>
        <p:spPr>
          <a:xfrm>
            <a:off x="11887200" y="4114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Oval 428"/>
          <p:cNvSpPr/>
          <p:nvPr/>
        </p:nvSpPr>
        <p:spPr>
          <a:xfrm>
            <a:off x="11887200" y="4572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Oval 429"/>
          <p:cNvSpPr/>
          <p:nvPr/>
        </p:nvSpPr>
        <p:spPr>
          <a:xfrm>
            <a:off x="11887200" y="50292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11887200" y="54864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11887200" y="59436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11887200" y="64008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11887200" y="6858000"/>
            <a:ext cx="45720" cy="45720"/>
          </a:xfrm>
          <a:prstGeom prst="ellipse">
            <a:avLst/>
          </a:prstGeom>
          <a:solidFill>
            <a:srgbClr val="16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Right Triangle 434"/>
          <p:cNvSpPr/>
          <p:nvPr/>
        </p:nvSpPr>
        <p:spPr>
          <a:xfrm>
            <a:off x="7162495" y="3200400"/>
            <a:ext cx="5029200" cy="3657600"/>
          </a:xfrm>
          <a:prstGeom prst="rtTriangle">
            <a:avLst/>
          </a:prstGeom>
          <a:solidFill>
            <a:srgbClr val="0C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7955280" y="1097280"/>
            <a:ext cx="3291840" cy="3291840"/>
          </a:xfrm>
          <a:prstGeom prst="ellipse">
            <a:avLst/>
          </a:prstGeom>
          <a:noFill/>
          <a:ln w="9525">
            <a:solidFill>
              <a:srgbClr val="1836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7498080" y="640080"/>
            <a:ext cx="4206240" cy="4206240"/>
          </a:xfrm>
          <a:prstGeom prst="ellipse">
            <a:avLst/>
          </a:prstGeom>
          <a:noFill/>
          <a:ln w="9525">
            <a:solidFill>
              <a:srgbClr val="1836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7040880" y="182880"/>
            <a:ext cx="5120640" cy="5120640"/>
          </a:xfrm>
          <a:prstGeom prst="ellipse">
            <a:avLst/>
          </a:prstGeom>
          <a:noFill/>
          <a:ln w="9525">
            <a:solidFill>
              <a:srgbClr val="1836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8321040" y="1463040"/>
            <a:ext cx="2560320" cy="2560320"/>
          </a:xfrm>
          <a:prstGeom prst="ellipse">
            <a:avLst/>
          </a:prstGeom>
          <a:no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Hexagon 439"/>
          <p:cNvSpPr/>
          <p:nvPr/>
        </p:nvSpPr>
        <p:spPr>
          <a:xfrm>
            <a:off x="8366760" y="1508760"/>
            <a:ext cx="2468880" cy="2468880"/>
          </a:xfrm>
          <a:prstGeom prst="hexagon">
            <a:avLst/>
          </a:prstGeom>
          <a:noFill/>
          <a:ln w="317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Hexagon 440"/>
          <p:cNvSpPr/>
          <p:nvPr/>
        </p:nvSpPr>
        <p:spPr>
          <a:xfrm>
            <a:off x="8641080" y="1783080"/>
            <a:ext cx="1920240" cy="1920240"/>
          </a:xfrm>
          <a:prstGeom prst="hexagon">
            <a:avLst/>
          </a:prstGeom>
          <a:solidFill>
            <a:srgbClr val="0C121F"/>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2" name="Picture 441" descr="logo.png"/>
          <p:cNvPicPr>
            <a:picLocks noChangeAspect="1"/>
          </p:cNvPicPr>
          <p:nvPr/>
        </p:nvPicPr>
        <p:blipFill>
          <a:blip r:embed="rId2"/>
          <a:stretch>
            <a:fillRect/>
          </a:stretch>
        </p:blipFill>
        <p:spPr>
          <a:xfrm>
            <a:off x="8823960" y="2286000"/>
            <a:ext cx="1554480" cy="581412"/>
          </a:xfrm>
          <a:prstGeom prst="rect">
            <a:avLst/>
          </a:prstGeom>
        </p:spPr>
      </p:pic>
      <p:sp>
        <p:nvSpPr>
          <p:cNvPr id="443" name="Oval 442"/>
          <p:cNvSpPr/>
          <p:nvPr/>
        </p:nvSpPr>
        <p:spPr>
          <a:xfrm>
            <a:off x="10597104" y="3287267"/>
            <a:ext cx="146304" cy="14630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Oval 443"/>
          <p:cNvSpPr/>
          <p:nvPr/>
        </p:nvSpPr>
        <p:spPr>
          <a:xfrm>
            <a:off x="8458992" y="3287267"/>
            <a:ext cx="146304" cy="14630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Oval 444"/>
          <p:cNvSpPr/>
          <p:nvPr/>
        </p:nvSpPr>
        <p:spPr>
          <a:xfrm>
            <a:off x="8458992" y="2052828"/>
            <a:ext cx="146304" cy="14630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Oval 445"/>
          <p:cNvSpPr/>
          <p:nvPr/>
        </p:nvSpPr>
        <p:spPr>
          <a:xfrm>
            <a:off x="10597104" y="2052828"/>
            <a:ext cx="146304" cy="14630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Rounded Rectangle 446"/>
          <p:cNvSpPr/>
          <p:nvPr/>
        </p:nvSpPr>
        <p:spPr>
          <a:xfrm>
            <a:off x="8732520" y="1051560"/>
            <a:ext cx="1737360" cy="310896"/>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10B981"/>
                </a:solidFill>
                <a:latin typeface="Calibri"/>
              </a:rPr>
              <a:t>● MONITORING ACTIVE</a:t>
            </a:r>
          </a:p>
        </p:txBody>
      </p:sp>
      <p:sp>
        <p:nvSpPr>
          <p:cNvPr id="448" name="Rounded Rectangle 447"/>
          <p:cNvSpPr/>
          <p:nvPr/>
        </p:nvSpPr>
        <p:spPr>
          <a:xfrm>
            <a:off x="8503920" y="4206240"/>
            <a:ext cx="2194560" cy="310896"/>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3B82F6"/>
                </a:solidFill>
                <a:latin typeface="Calibri"/>
              </a:rPr>
              <a:t>DEFENSIVE MODE  •  OSINT ONLY</a:t>
            </a:r>
          </a:p>
        </p:txBody>
      </p:sp>
      <p:sp>
        <p:nvSpPr>
          <p:cNvPr id="449" name="TextBox 448"/>
          <p:cNvSpPr txBox="1"/>
          <p:nvPr/>
        </p:nvSpPr>
        <p:spPr>
          <a:xfrm>
            <a:off x="548640" y="502920"/>
            <a:ext cx="7315200" cy="320040"/>
          </a:xfrm>
          <a:prstGeom prst="rect">
            <a:avLst/>
          </a:prstGeom>
          <a:noFill/>
        </p:spPr>
        <p:txBody>
          <a:bodyPr wrap="square" lIns="0" rIns="0" tIns="0" bIns="0" anchor="t">
            <a:spAutoFit/>
          </a:bodyPr>
          <a:lstStyle/>
          <a:p>
            <a:pPr algn="l"/>
            <a:r>
              <a:rPr sz="1000" b="1" i="0">
                <a:solidFill>
                  <a:srgbClr val="3B82F6"/>
                </a:solidFill>
                <a:latin typeface="Consolas"/>
              </a:rPr>
              <a:t>[  2025 — 2026  /  PROJET DE FIN DE MODULE  ]</a:t>
            </a:r>
          </a:p>
        </p:txBody>
      </p:sp>
      <p:cxnSp>
        <p:nvCxnSpPr>
          <p:cNvPr id="450" name="Connector 449"/>
          <p:cNvCxnSpPr/>
          <p:nvPr/>
        </p:nvCxnSpPr>
        <p:spPr>
          <a:xfrm>
            <a:off x="548640" y="868680"/>
            <a:ext cx="548640" cy="0"/>
          </a:xfrm>
          <a:prstGeom prst="line">
            <a:avLst/>
          </a:prstGeom>
          <a:ln w="31750">
            <a:solidFill>
              <a:srgbClr val="3B82F6"/>
            </a:solidFill>
          </a:ln>
        </p:spPr>
        <p:style>
          <a:lnRef idx="2">
            <a:schemeClr val="accent1"/>
          </a:lnRef>
          <a:fillRef idx="0">
            <a:schemeClr val="accent1"/>
          </a:fillRef>
          <a:effectRef idx="1">
            <a:schemeClr val="accent1"/>
          </a:effectRef>
          <a:fontRef idx="minor">
            <a:schemeClr val="tx1"/>
          </a:fontRef>
        </p:style>
      </p:cxnSp>
      <p:sp>
        <p:nvSpPr>
          <p:cNvPr id="451" name="Oval 450"/>
          <p:cNvSpPr/>
          <p:nvPr/>
        </p:nvSpPr>
        <p:spPr>
          <a:xfrm>
            <a:off x="1143000" y="832104"/>
            <a:ext cx="91440" cy="9144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TextBox 451"/>
          <p:cNvSpPr txBox="1"/>
          <p:nvPr/>
        </p:nvSpPr>
        <p:spPr>
          <a:xfrm>
            <a:off x="548640" y="1188720"/>
            <a:ext cx="8229600" cy="1280160"/>
          </a:xfrm>
          <a:prstGeom prst="rect">
            <a:avLst/>
          </a:prstGeom>
          <a:noFill/>
        </p:spPr>
        <p:txBody>
          <a:bodyPr wrap="square" lIns="0" rIns="0" tIns="0" bIns="0" anchor="t">
            <a:spAutoFit/>
          </a:bodyPr>
          <a:lstStyle/>
          <a:p>
            <a:pPr algn="l"/>
            <a:r>
              <a:rPr sz="7200" b="1" i="0">
                <a:solidFill>
                  <a:srgbClr val="F8FAFC"/>
                </a:solidFill>
                <a:latin typeface="Calibri"/>
              </a:rPr>
              <a:t>Data Breach</a:t>
            </a:r>
          </a:p>
        </p:txBody>
      </p:sp>
      <p:sp>
        <p:nvSpPr>
          <p:cNvPr id="453" name="TextBox 452"/>
          <p:cNvSpPr txBox="1"/>
          <p:nvPr/>
        </p:nvSpPr>
        <p:spPr>
          <a:xfrm>
            <a:off x="548640" y="2286000"/>
            <a:ext cx="8229600" cy="914400"/>
          </a:xfrm>
          <a:prstGeom prst="rect">
            <a:avLst/>
          </a:prstGeom>
          <a:noFill/>
        </p:spPr>
        <p:txBody>
          <a:bodyPr wrap="square" lIns="0" rIns="0" tIns="0" bIns="0" anchor="t">
            <a:spAutoFit/>
          </a:bodyPr>
          <a:lstStyle/>
          <a:p>
            <a:pPr algn="l"/>
            <a:r>
              <a:rPr sz="4200" b="1" i="0">
                <a:solidFill>
                  <a:srgbClr val="94A3B8"/>
                </a:solidFill>
                <a:latin typeface="Calibri"/>
              </a:rPr>
              <a:t>&amp; Threat Intelligence</a:t>
            </a:r>
          </a:p>
        </p:txBody>
      </p:sp>
      <p:sp>
        <p:nvSpPr>
          <p:cNvPr id="454" name="TextBox 453"/>
          <p:cNvSpPr txBox="1"/>
          <p:nvPr/>
        </p:nvSpPr>
        <p:spPr>
          <a:xfrm>
            <a:off x="548640" y="3108960"/>
            <a:ext cx="365760" cy="640080"/>
          </a:xfrm>
          <a:prstGeom prst="rect">
            <a:avLst/>
          </a:prstGeom>
          <a:noFill/>
        </p:spPr>
        <p:txBody>
          <a:bodyPr wrap="square" lIns="0" rIns="0" tIns="0" bIns="0" anchor="t">
            <a:spAutoFit/>
          </a:bodyPr>
          <a:lstStyle/>
          <a:p>
            <a:pPr algn="l"/>
            <a:r>
              <a:rPr sz="3600" b="1" i="0">
                <a:solidFill>
                  <a:srgbClr val="3B82F6"/>
                </a:solidFill>
                <a:latin typeface="Calibri"/>
              </a:rPr>
              <a:t>▌</a:t>
            </a:r>
          </a:p>
        </p:txBody>
      </p:sp>
      <p:sp>
        <p:nvSpPr>
          <p:cNvPr id="455" name="TextBox 454"/>
          <p:cNvSpPr txBox="1"/>
          <p:nvPr/>
        </p:nvSpPr>
        <p:spPr>
          <a:xfrm>
            <a:off x="822960" y="3108960"/>
            <a:ext cx="8229600" cy="640080"/>
          </a:xfrm>
          <a:prstGeom prst="rect">
            <a:avLst/>
          </a:prstGeom>
          <a:noFill/>
        </p:spPr>
        <p:txBody>
          <a:bodyPr wrap="square" lIns="0" rIns="0" tIns="0" bIns="0" anchor="t">
            <a:spAutoFit/>
          </a:bodyPr>
          <a:lstStyle/>
          <a:p>
            <a:pPr algn="l"/>
            <a:r>
              <a:rPr sz="3400" b="1" i="0">
                <a:solidFill>
                  <a:srgbClr val="3B82F6"/>
                </a:solidFill>
                <a:latin typeface="Calibri"/>
              </a:rPr>
              <a:t>Monitoring Platform</a:t>
            </a:r>
          </a:p>
        </p:txBody>
      </p:sp>
      <p:sp>
        <p:nvSpPr>
          <p:cNvPr id="456" name="TextBox 455"/>
          <p:cNvSpPr txBox="1"/>
          <p:nvPr/>
        </p:nvSpPr>
        <p:spPr>
          <a:xfrm>
            <a:off x="548640" y="3977639"/>
            <a:ext cx="7772400" cy="777240"/>
          </a:xfrm>
          <a:prstGeom prst="rect">
            <a:avLst/>
          </a:prstGeom>
          <a:noFill/>
        </p:spPr>
        <p:txBody>
          <a:bodyPr wrap="square" lIns="0" rIns="0" tIns="0" bIns="0" anchor="t">
            <a:spAutoFit/>
          </a:bodyPr>
          <a:lstStyle/>
          <a:p>
            <a:pPr algn="l">
              <a:lnSpc>
                <a:spcPct val="140000"/>
              </a:lnSpc>
            </a:pPr>
            <a:r>
              <a:rPr sz="1200" b="0" i="0">
                <a:solidFill>
                  <a:srgbClr val="94A3B8"/>
                </a:solidFill>
                <a:latin typeface="Calibri"/>
              </a:rPr>
              <a:t>Plateforme de veille cyber multi-sources — détection, qualification et</a:t>
            </a:r>
          </a:p>
          <a:p>
            <a:pPr algn="l">
              <a:lnSpc>
                <a:spcPct val="140000"/>
              </a:lnSpc>
            </a:pPr>
            <a:r>
              <a:rPr sz="1200" b="0" i="0">
                <a:solidFill>
                  <a:srgbClr val="94A3B8"/>
                </a:solidFill>
                <a:latin typeface="Calibri"/>
              </a:rPr>
              <a:t>visualisation des expositions publiques et signaux OSINT.</a:t>
            </a:r>
          </a:p>
        </p:txBody>
      </p:sp>
      <p:sp>
        <p:nvSpPr>
          <p:cNvPr id="457" name="Rounded Rectangle 456"/>
          <p:cNvSpPr/>
          <p:nvPr/>
        </p:nvSpPr>
        <p:spPr>
          <a:xfrm>
            <a:off x="548640" y="4800600"/>
            <a:ext cx="7772400" cy="45720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TextBox 457"/>
          <p:cNvSpPr txBox="1"/>
          <p:nvPr/>
        </p:nvSpPr>
        <p:spPr>
          <a:xfrm>
            <a:off x="731520" y="4800600"/>
            <a:ext cx="365760" cy="457200"/>
          </a:xfrm>
          <a:prstGeom prst="rect">
            <a:avLst/>
          </a:prstGeom>
          <a:noFill/>
        </p:spPr>
        <p:txBody>
          <a:bodyPr wrap="square" lIns="0" rIns="0" tIns="0" bIns="0" anchor="ctr">
            <a:spAutoFit/>
          </a:bodyPr>
          <a:lstStyle/>
          <a:p>
            <a:pPr algn="l"/>
            <a:r>
              <a:rPr sz="1400" b="1" i="0">
                <a:solidFill>
                  <a:srgbClr val="10B981"/>
                </a:solidFill>
                <a:latin typeface="Calibri"/>
              </a:rPr>
              <a:t>▸</a:t>
            </a:r>
          </a:p>
        </p:txBody>
      </p:sp>
      <p:sp>
        <p:nvSpPr>
          <p:cNvPr id="459" name="TextBox 458"/>
          <p:cNvSpPr txBox="1"/>
          <p:nvPr/>
        </p:nvSpPr>
        <p:spPr>
          <a:xfrm>
            <a:off x="1051560" y="4800600"/>
            <a:ext cx="7132320" cy="457200"/>
          </a:xfrm>
          <a:prstGeom prst="rect">
            <a:avLst/>
          </a:prstGeom>
          <a:noFill/>
        </p:spPr>
        <p:txBody>
          <a:bodyPr wrap="square" lIns="0" rIns="0" tIns="0" bIns="0" anchor="ctr">
            <a:spAutoFit/>
          </a:bodyPr>
          <a:lstStyle/>
          <a:p>
            <a:pPr algn="l"/>
            <a:r>
              <a:rPr sz="1000" b="0" i="0">
                <a:solidFill>
                  <a:srgbClr val="F8FAFC"/>
                </a:solidFill>
                <a:latin typeface="Consolas"/>
              </a:rPr>
              <a:t>status: initialized   •   sources: 4   •   alerts: 16   •   dashboards: 3   •   layers: Bronze · Silver · Gold</a:t>
            </a:r>
          </a:p>
        </p:txBody>
      </p:sp>
      <p:sp>
        <p:nvSpPr>
          <p:cNvPr id="460" name="Rounded Rectangle 459"/>
          <p:cNvSpPr/>
          <p:nvPr/>
        </p:nvSpPr>
        <p:spPr>
          <a:xfrm>
            <a:off x="548640" y="5440680"/>
            <a:ext cx="1783080" cy="7772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Rectangle 460"/>
          <p:cNvSpPr/>
          <p:nvPr/>
        </p:nvSpPr>
        <p:spPr>
          <a:xfrm>
            <a:off x="548640" y="5440680"/>
            <a:ext cx="54864" cy="7772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TextBox 461"/>
          <p:cNvSpPr txBox="1"/>
          <p:nvPr/>
        </p:nvSpPr>
        <p:spPr>
          <a:xfrm>
            <a:off x="731520" y="5495544"/>
            <a:ext cx="1508760" cy="411480"/>
          </a:xfrm>
          <a:prstGeom prst="rect">
            <a:avLst/>
          </a:prstGeom>
          <a:noFill/>
        </p:spPr>
        <p:txBody>
          <a:bodyPr wrap="square" lIns="0" rIns="0" tIns="0" bIns="0" anchor="t">
            <a:spAutoFit/>
          </a:bodyPr>
          <a:lstStyle/>
          <a:p>
            <a:pPr algn="l"/>
            <a:r>
              <a:rPr sz="2200" b="1" i="0">
                <a:solidFill>
                  <a:srgbClr val="3B82F6"/>
                </a:solidFill>
                <a:latin typeface="Calibri"/>
              </a:rPr>
              <a:t>04</a:t>
            </a:r>
          </a:p>
        </p:txBody>
      </p:sp>
      <p:sp>
        <p:nvSpPr>
          <p:cNvPr id="463" name="TextBox 462"/>
          <p:cNvSpPr txBox="1"/>
          <p:nvPr/>
        </p:nvSpPr>
        <p:spPr>
          <a:xfrm>
            <a:off x="731520" y="5897880"/>
            <a:ext cx="1508760" cy="274320"/>
          </a:xfrm>
          <a:prstGeom prst="rect">
            <a:avLst/>
          </a:prstGeom>
          <a:noFill/>
        </p:spPr>
        <p:txBody>
          <a:bodyPr wrap="square" lIns="0" rIns="0" tIns="0" bIns="0" anchor="t">
            <a:spAutoFit/>
          </a:bodyPr>
          <a:lstStyle/>
          <a:p>
            <a:pPr algn="l"/>
            <a:r>
              <a:rPr sz="800" b="1" i="0">
                <a:solidFill>
                  <a:srgbClr val="64748B"/>
                </a:solidFill>
                <a:latin typeface="Consolas"/>
              </a:rPr>
              <a:t>SOURCES</a:t>
            </a:r>
          </a:p>
        </p:txBody>
      </p:sp>
      <p:sp>
        <p:nvSpPr>
          <p:cNvPr id="464" name="Rounded Rectangle 463"/>
          <p:cNvSpPr/>
          <p:nvPr/>
        </p:nvSpPr>
        <p:spPr>
          <a:xfrm>
            <a:off x="2468880" y="5440680"/>
            <a:ext cx="1783080" cy="7772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Rectangle 464"/>
          <p:cNvSpPr/>
          <p:nvPr/>
        </p:nvSpPr>
        <p:spPr>
          <a:xfrm>
            <a:off x="2468880" y="5440680"/>
            <a:ext cx="54864" cy="7772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TextBox 465"/>
          <p:cNvSpPr txBox="1"/>
          <p:nvPr/>
        </p:nvSpPr>
        <p:spPr>
          <a:xfrm>
            <a:off x="2651760" y="5495544"/>
            <a:ext cx="1508760" cy="411480"/>
          </a:xfrm>
          <a:prstGeom prst="rect">
            <a:avLst/>
          </a:prstGeom>
          <a:noFill/>
        </p:spPr>
        <p:txBody>
          <a:bodyPr wrap="square" lIns="0" rIns="0" tIns="0" bIns="0" anchor="t">
            <a:spAutoFit/>
          </a:bodyPr>
          <a:lstStyle/>
          <a:p>
            <a:pPr algn="l"/>
            <a:r>
              <a:rPr sz="2200" b="1" i="0">
                <a:solidFill>
                  <a:srgbClr val="14B8A6"/>
                </a:solidFill>
                <a:latin typeface="Calibri"/>
              </a:rPr>
              <a:t>16</a:t>
            </a:r>
          </a:p>
        </p:txBody>
      </p:sp>
      <p:sp>
        <p:nvSpPr>
          <p:cNvPr id="467" name="TextBox 466"/>
          <p:cNvSpPr txBox="1"/>
          <p:nvPr/>
        </p:nvSpPr>
        <p:spPr>
          <a:xfrm>
            <a:off x="2651760" y="5897880"/>
            <a:ext cx="1508760" cy="274320"/>
          </a:xfrm>
          <a:prstGeom prst="rect">
            <a:avLst/>
          </a:prstGeom>
          <a:noFill/>
        </p:spPr>
        <p:txBody>
          <a:bodyPr wrap="square" lIns="0" rIns="0" tIns="0" bIns="0" anchor="t">
            <a:spAutoFit/>
          </a:bodyPr>
          <a:lstStyle/>
          <a:p>
            <a:pPr algn="l"/>
            <a:r>
              <a:rPr sz="800" b="1" i="0">
                <a:solidFill>
                  <a:srgbClr val="64748B"/>
                </a:solidFill>
                <a:latin typeface="Consolas"/>
              </a:rPr>
              <a:t>ALERTS</a:t>
            </a:r>
          </a:p>
        </p:txBody>
      </p:sp>
      <p:sp>
        <p:nvSpPr>
          <p:cNvPr id="468" name="Rounded Rectangle 467"/>
          <p:cNvSpPr/>
          <p:nvPr/>
        </p:nvSpPr>
        <p:spPr>
          <a:xfrm>
            <a:off x="4389120" y="5440680"/>
            <a:ext cx="1783080" cy="7772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Rectangle 468"/>
          <p:cNvSpPr/>
          <p:nvPr/>
        </p:nvSpPr>
        <p:spPr>
          <a:xfrm>
            <a:off x="4389120" y="5440680"/>
            <a:ext cx="54864"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TextBox 469"/>
          <p:cNvSpPr txBox="1"/>
          <p:nvPr/>
        </p:nvSpPr>
        <p:spPr>
          <a:xfrm>
            <a:off x="4572000" y="5495544"/>
            <a:ext cx="1508760" cy="411480"/>
          </a:xfrm>
          <a:prstGeom prst="rect">
            <a:avLst/>
          </a:prstGeom>
          <a:noFill/>
        </p:spPr>
        <p:txBody>
          <a:bodyPr wrap="square" lIns="0" rIns="0" tIns="0" bIns="0" anchor="t">
            <a:spAutoFit/>
          </a:bodyPr>
          <a:lstStyle/>
          <a:p>
            <a:pPr algn="l"/>
            <a:r>
              <a:rPr sz="2200" b="1" i="0">
                <a:solidFill>
                  <a:srgbClr val="F59E0B"/>
                </a:solidFill>
                <a:latin typeface="Calibri"/>
              </a:rPr>
              <a:t>03</a:t>
            </a:r>
          </a:p>
        </p:txBody>
      </p:sp>
      <p:sp>
        <p:nvSpPr>
          <p:cNvPr id="471" name="TextBox 470"/>
          <p:cNvSpPr txBox="1"/>
          <p:nvPr/>
        </p:nvSpPr>
        <p:spPr>
          <a:xfrm>
            <a:off x="4572000" y="5897880"/>
            <a:ext cx="1508760" cy="274320"/>
          </a:xfrm>
          <a:prstGeom prst="rect">
            <a:avLst/>
          </a:prstGeom>
          <a:noFill/>
        </p:spPr>
        <p:txBody>
          <a:bodyPr wrap="square" lIns="0" rIns="0" tIns="0" bIns="0" anchor="t">
            <a:spAutoFit/>
          </a:bodyPr>
          <a:lstStyle/>
          <a:p>
            <a:pPr algn="l"/>
            <a:r>
              <a:rPr sz="800" b="1" i="0">
                <a:solidFill>
                  <a:srgbClr val="64748B"/>
                </a:solidFill>
                <a:latin typeface="Consolas"/>
              </a:rPr>
              <a:t>BI DASHBOARDS</a:t>
            </a:r>
          </a:p>
        </p:txBody>
      </p:sp>
      <p:sp>
        <p:nvSpPr>
          <p:cNvPr id="472" name="Rounded Rectangle 471"/>
          <p:cNvSpPr/>
          <p:nvPr/>
        </p:nvSpPr>
        <p:spPr>
          <a:xfrm>
            <a:off x="6309360" y="5440680"/>
            <a:ext cx="1783080" cy="7772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Rectangle 472"/>
          <p:cNvSpPr/>
          <p:nvPr/>
        </p:nvSpPr>
        <p:spPr>
          <a:xfrm>
            <a:off x="6309360" y="5440680"/>
            <a:ext cx="54864" cy="77724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TextBox 473"/>
          <p:cNvSpPr txBox="1"/>
          <p:nvPr/>
        </p:nvSpPr>
        <p:spPr>
          <a:xfrm>
            <a:off x="6492240" y="5495544"/>
            <a:ext cx="1508760" cy="411480"/>
          </a:xfrm>
          <a:prstGeom prst="rect">
            <a:avLst/>
          </a:prstGeom>
          <a:noFill/>
        </p:spPr>
        <p:txBody>
          <a:bodyPr wrap="square" lIns="0" rIns="0" tIns="0" bIns="0" anchor="t">
            <a:spAutoFit/>
          </a:bodyPr>
          <a:lstStyle/>
          <a:p>
            <a:pPr algn="l"/>
            <a:r>
              <a:rPr sz="2200" b="1" i="0">
                <a:solidFill>
                  <a:srgbClr val="8B5CF6"/>
                </a:solidFill>
                <a:latin typeface="Calibri"/>
              </a:rPr>
              <a:t>∞</a:t>
            </a:r>
          </a:p>
        </p:txBody>
      </p:sp>
      <p:sp>
        <p:nvSpPr>
          <p:cNvPr id="475" name="TextBox 474"/>
          <p:cNvSpPr txBox="1"/>
          <p:nvPr/>
        </p:nvSpPr>
        <p:spPr>
          <a:xfrm>
            <a:off x="6492240" y="5897880"/>
            <a:ext cx="1508760" cy="274320"/>
          </a:xfrm>
          <a:prstGeom prst="rect">
            <a:avLst/>
          </a:prstGeom>
          <a:noFill/>
        </p:spPr>
        <p:txBody>
          <a:bodyPr wrap="square" lIns="0" rIns="0" tIns="0" bIns="0" anchor="t">
            <a:spAutoFit/>
          </a:bodyPr>
          <a:lstStyle/>
          <a:p>
            <a:pPr algn="l"/>
            <a:r>
              <a:rPr sz="800" b="1" i="0">
                <a:solidFill>
                  <a:srgbClr val="64748B"/>
                </a:solidFill>
                <a:latin typeface="Consolas"/>
              </a:rPr>
              <a:t>CVE FEED</a:t>
            </a:r>
          </a:p>
        </p:txBody>
      </p:sp>
      <p:sp>
        <p:nvSpPr>
          <p:cNvPr id="476" name="Rectangle 475"/>
          <p:cNvSpPr/>
          <p:nvPr/>
        </p:nvSpPr>
        <p:spPr>
          <a:xfrm>
            <a:off x="0" y="6355080"/>
            <a:ext cx="12191695" cy="502920"/>
          </a:xfrm>
          <a:prstGeom prst="rect">
            <a:avLst/>
          </a:prstGeom>
          <a:solidFill>
            <a:srgbClr val="0C1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Rectangle 476"/>
          <p:cNvSpPr/>
          <p:nvPr/>
        </p:nvSpPr>
        <p:spPr>
          <a:xfrm>
            <a:off x="0" y="6355080"/>
            <a:ext cx="12191695" cy="1828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TextBox 477"/>
          <p:cNvSpPr txBox="1"/>
          <p:nvPr/>
        </p:nvSpPr>
        <p:spPr>
          <a:xfrm>
            <a:off x="548640" y="6492240"/>
            <a:ext cx="640080" cy="274320"/>
          </a:xfrm>
          <a:prstGeom prst="rect">
            <a:avLst/>
          </a:prstGeom>
          <a:noFill/>
        </p:spPr>
        <p:txBody>
          <a:bodyPr wrap="square" lIns="0" rIns="0" tIns="0" bIns="0" anchor="ctr">
            <a:spAutoFit/>
          </a:bodyPr>
          <a:lstStyle/>
          <a:p>
            <a:pPr algn="l"/>
            <a:r>
              <a:rPr sz="900" b="1" i="0">
                <a:solidFill>
                  <a:srgbClr val="3B82F6"/>
                </a:solidFill>
                <a:latin typeface="Consolas"/>
              </a:rPr>
              <a:t>TEAM ›</a:t>
            </a:r>
          </a:p>
        </p:txBody>
      </p:sp>
      <p:sp>
        <p:nvSpPr>
          <p:cNvPr id="479" name="Oval 478"/>
          <p:cNvSpPr/>
          <p:nvPr/>
        </p:nvSpPr>
        <p:spPr>
          <a:xfrm>
            <a:off x="1325880" y="6446520"/>
            <a:ext cx="329184" cy="329184"/>
          </a:xfrm>
          <a:prstGeom prst="ellipse">
            <a:avLst/>
          </a:prstGeom>
          <a:solidFill>
            <a:srgbClr val="131B2E"/>
          </a:solidFill>
          <a:ln w="254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500" b="1">
                <a:solidFill>
                  <a:srgbClr val="3B82F6"/>
                </a:solidFill>
              </a:rPr>
              <a:t>HB</a:t>
            </a:r>
          </a:p>
        </p:txBody>
      </p:sp>
      <p:sp>
        <p:nvSpPr>
          <p:cNvPr id="480" name="TextBox 479"/>
          <p:cNvSpPr txBox="1"/>
          <p:nvPr/>
        </p:nvSpPr>
        <p:spPr>
          <a:xfrm>
            <a:off x="1709928" y="6446520"/>
            <a:ext cx="1463040" cy="329184"/>
          </a:xfrm>
          <a:prstGeom prst="rect">
            <a:avLst/>
          </a:prstGeom>
          <a:noFill/>
        </p:spPr>
        <p:txBody>
          <a:bodyPr wrap="square" lIns="0" rIns="0" tIns="0" bIns="0" anchor="ctr">
            <a:spAutoFit/>
          </a:bodyPr>
          <a:lstStyle/>
          <a:p>
            <a:pPr algn="l"/>
            <a:r>
              <a:rPr sz="900" b="1" i="0">
                <a:solidFill>
                  <a:srgbClr val="F8FAFC"/>
                </a:solidFill>
                <a:latin typeface="Calibri"/>
              </a:rPr>
              <a:t>Hamza Bjibji</a:t>
            </a:r>
          </a:p>
        </p:txBody>
      </p:sp>
      <p:sp>
        <p:nvSpPr>
          <p:cNvPr id="481" name="Oval 480"/>
          <p:cNvSpPr/>
          <p:nvPr/>
        </p:nvSpPr>
        <p:spPr>
          <a:xfrm>
            <a:off x="3200399" y="6446520"/>
            <a:ext cx="329184" cy="329184"/>
          </a:xfrm>
          <a:prstGeom prst="ellipse">
            <a:avLst/>
          </a:prstGeom>
          <a:solidFill>
            <a:srgbClr val="131B2E"/>
          </a:solidFill>
          <a:ln w="2540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500" b="1">
                <a:solidFill>
                  <a:srgbClr val="14B8A6"/>
                </a:solidFill>
              </a:rPr>
              <a:t>CB</a:t>
            </a:r>
          </a:p>
        </p:txBody>
      </p:sp>
      <p:sp>
        <p:nvSpPr>
          <p:cNvPr id="482" name="TextBox 481"/>
          <p:cNvSpPr txBox="1"/>
          <p:nvPr/>
        </p:nvSpPr>
        <p:spPr>
          <a:xfrm>
            <a:off x="3584447" y="6446520"/>
            <a:ext cx="1463040" cy="329184"/>
          </a:xfrm>
          <a:prstGeom prst="rect">
            <a:avLst/>
          </a:prstGeom>
          <a:noFill/>
        </p:spPr>
        <p:txBody>
          <a:bodyPr wrap="square" lIns="0" rIns="0" tIns="0" bIns="0" anchor="ctr">
            <a:spAutoFit/>
          </a:bodyPr>
          <a:lstStyle/>
          <a:p>
            <a:pPr algn="l"/>
            <a:r>
              <a:rPr sz="900" b="1" i="0">
                <a:solidFill>
                  <a:srgbClr val="F8FAFC"/>
                </a:solidFill>
                <a:latin typeface="Calibri"/>
              </a:rPr>
              <a:t>Chaimae Ben Sbeh</a:t>
            </a:r>
          </a:p>
        </p:txBody>
      </p:sp>
      <p:sp>
        <p:nvSpPr>
          <p:cNvPr id="483" name="Oval 482"/>
          <p:cNvSpPr/>
          <p:nvPr/>
        </p:nvSpPr>
        <p:spPr>
          <a:xfrm>
            <a:off x="5074918" y="6446520"/>
            <a:ext cx="329184" cy="329184"/>
          </a:xfrm>
          <a:prstGeom prst="ellipse">
            <a:avLst/>
          </a:prstGeom>
          <a:solidFill>
            <a:srgbClr val="131B2E"/>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500" b="1">
                <a:solidFill>
                  <a:srgbClr val="F59E0B"/>
                </a:solidFill>
              </a:rPr>
              <a:t>YS</a:t>
            </a:r>
          </a:p>
        </p:txBody>
      </p:sp>
      <p:sp>
        <p:nvSpPr>
          <p:cNvPr id="484" name="TextBox 483"/>
          <p:cNvSpPr txBox="1"/>
          <p:nvPr/>
        </p:nvSpPr>
        <p:spPr>
          <a:xfrm>
            <a:off x="5458966" y="6446520"/>
            <a:ext cx="1463040" cy="329184"/>
          </a:xfrm>
          <a:prstGeom prst="rect">
            <a:avLst/>
          </a:prstGeom>
          <a:noFill/>
        </p:spPr>
        <p:txBody>
          <a:bodyPr wrap="square" lIns="0" rIns="0" tIns="0" bIns="0" anchor="ctr">
            <a:spAutoFit/>
          </a:bodyPr>
          <a:lstStyle/>
          <a:p>
            <a:pPr algn="l"/>
            <a:r>
              <a:rPr sz="900" b="1" i="0">
                <a:solidFill>
                  <a:srgbClr val="F8FAFC"/>
                </a:solidFill>
                <a:latin typeface="Calibri"/>
              </a:rPr>
              <a:t>Yassir Salim E.A.</a:t>
            </a:r>
          </a:p>
        </p:txBody>
      </p:sp>
      <p:sp>
        <p:nvSpPr>
          <p:cNvPr id="485" name="Oval 484"/>
          <p:cNvSpPr/>
          <p:nvPr/>
        </p:nvSpPr>
        <p:spPr>
          <a:xfrm>
            <a:off x="6949437" y="6446520"/>
            <a:ext cx="329184" cy="329184"/>
          </a:xfrm>
          <a:prstGeom prst="ellipse">
            <a:avLst/>
          </a:prstGeom>
          <a:solidFill>
            <a:srgbClr val="131B2E"/>
          </a:solid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500" b="1">
                <a:solidFill>
                  <a:srgbClr val="8B5CF6"/>
                </a:solidFill>
              </a:rPr>
              <a:t>IS</a:t>
            </a:r>
          </a:p>
        </p:txBody>
      </p:sp>
      <p:sp>
        <p:nvSpPr>
          <p:cNvPr id="486" name="TextBox 485"/>
          <p:cNvSpPr txBox="1"/>
          <p:nvPr/>
        </p:nvSpPr>
        <p:spPr>
          <a:xfrm>
            <a:off x="7333485" y="6446520"/>
            <a:ext cx="1463040" cy="329184"/>
          </a:xfrm>
          <a:prstGeom prst="rect">
            <a:avLst/>
          </a:prstGeom>
          <a:noFill/>
        </p:spPr>
        <p:txBody>
          <a:bodyPr wrap="square" lIns="0" rIns="0" tIns="0" bIns="0" anchor="ctr">
            <a:spAutoFit/>
          </a:bodyPr>
          <a:lstStyle/>
          <a:p>
            <a:pPr algn="l"/>
            <a:r>
              <a:rPr sz="900" b="1" i="0">
                <a:solidFill>
                  <a:srgbClr val="F8FAFC"/>
                </a:solidFill>
                <a:latin typeface="Calibri"/>
              </a:rPr>
              <a:t>Imane Sghiouar</a:t>
            </a:r>
          </a:p>
        </p:txBody>
      </p:sp>
      <p:sp>
        <p:nvSpPr>
          <p:cNvPr id="487" name="TextBox 486"/>
          <p:cNvSpPr txBox="1"/>
          <p:nvPr/>
        </p:nvSpPr>
        <p:spPr>
          <a:xfrm>
            <a:off x="8442656" y="6446520"/>
            <a:ext cx="3611880" cy="164592"/>
          </a:xfrm>
          <a:prstGeom prst="rect">
            <a:avLst/>
          </a:prstGeom>
          <a:noFill/>
        </p:spPr>
        <p:txBody>
          <a:bodyPr wrap="square" lIns="0" rIns="0" tIns="0" bIns="0" anchor="t">
            <a:spAutoFit/>
          </a:bodyPr>
          <a:lstStyle/>
          <a:p>
            <a:pPr algn="r"/>
            <a:r>
              <a:rPr sz="800" b="1" i="0">
                <a:solidFill>
                  <a:srgbClr val="3B82F6"/>
                </a:solidFill>
                <a:latin typeface="Consolas"/>
              </a:rPr>
              <a:t>ENCADRÉ PAR  ·  FILIÈRE</a:t>
            </a:r>
          </a:p>
        </p:txBody>
      </p:sp>
      <p:sp>
        <p:nvSpPr>
          <p:cNvPr id="488" name="TextBox 487"/>
          <p:cNvSpPr txBox="1"/>
          <p:nvPr/>
        </p:nvSpPr>
        <p:spPr>
          <a:xfrm>
            <a:off x="8442656" y="6601968"/>
            <a:ext cx="3611880" cy="274320"/>
          </a:xfrm>
          <a:prstGeom prst="rect">
            <a:avLst/>
          </a:prstGeom>
          <a:noFill/>
        </p:spPr>
        <p:txBody>
          <a:bodyPr wrap="square" lIns="0" rIns="0" tIns="0" bIns="0" anchor="t">
            <a:spAutoFit/>
          </a:bodyPr>
          <a:lstStyle/>
          <a:p>
            <a:pPr algn="r"/>
            <a:r>
              <a:rPr sz="1000" b="1" i="0">
                <a:solidFill>
                  <a:srgbClr val="F8FAFC"/>
                </a:solidFill>
                <a:latin typeface="Calibri"/>
              </a:rPr>
              <a:t>Prof. Younes Wadiai  ·  Big Data &amp; IA</a:t>
            </a:r>
          </a:p>
        </p:txBody>
      </p:sp>
      <p:cxnSp>
        <p:nvCxnSpPr>
          <p:cNvPr id="489" name="Connector 488"/>
          <p:cNvCxnSpPr/>
          <p:nvPr/>
        </p:nvCxnSpPr>
        <p:spPr>
          <a:xfrm flipV="1">
            <a:off x="8412480" y="640080"/>
            <a:ext cx="731520" cy="182880"/>
          </a:xfrm>
          <a:prstGeom prst="line">
            <a:avLst/>
          </a:prstGeom>
          <a:ln w="9525">
            <a:solidFill>
              <a:srgbClr val="3B82F6"/>
            </a:solidFill>
            <a:prstDash val="sysDash"/>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9144000" y="640080"/>
            <a:ext cx="548640" cy="365760"/>
          </a:xfrm>
          <a:prstGeom prst="line">
            <a:avLst/>
          </a:prstGeom>
          <a:ln w="9525">
            <a:solidFill>
              <a:srgbClr val="3B82F6"/>
            </a:solidFill>
            <a:prstDash val="sysDash"/>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V="1">
            <a:off x="9692640" y="731520"/>
            <a:ext cx="731520" cy="274320"/>
          </a:xfrm>
          <a:prstGeom prst="line">
            <a:avLst/>
          </a:prstGeom>
          <a:ln w="9525">
            <a:solidFill>
              <a:srgbClr val="3B82F6"/>
            </a:solidFill>
            <a:prstDash val="sysDash"/>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10424160" y="731520"/>
            <a:ext cx="731520" cy="182880"/>
          </a:xfrm>
          <a:prstGeom prst="line">
            <a:avLst/>
          </a:prstGeom>
          <a:ln w="9525">
            <a:solidFill>
              <a:srgbClr val="3B82F6"/>
            </a:solidFill>
            <a:prstDash val="sysDash"/>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flipV="1">
            <a:off x="11155680" y="640080"/>
            <a:ext cx="548640" cy="274320"/>
          </a:xfrm>
          <a:prstGeom prst="line">
            <a:avLst/>
          </a:prstGeom>
          <a:ln w="9525">
            <a:solidFill>
              <a:srgbClr val="3B82F6"/>
            </a:solidFill>
            <a:prstDash val="sysDash"/>
          </a:ln>
        </p:spPr>
        <p:style>
          <a:lnRef idx="2">
            <a:schemeClr val="accent1"/>
          </a:lnRef>
          <a:fillRef idx="0">
            <a:schemeClr val="accent1"/>
          </a:fillRef>
          <a:effectRef idx="1">
            <a:schemeClr val="accent1"/>
          </a:effectRef>
          <a:fontRef idx="minor">
            <a:schemeClr val="tx1"/>
          </a:fontRef>
        </p:style>
      </p:cxnSp>
      <p:sp>
        <p:nvSpPr>
          <p:cNvPr id="494" name="Oval 493"/>
          <p:cNvSpPr/>
          <p:nvPr/>
        </p:nvSpPr>
        <p:spPr>
          <a:xfrm>
            <a:off x="8366760" y="777240"/>
            <a:ext cx="91440" cy="9144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Oval 494"/>
          <p:cNvSpPr/>
          <p:nvPr/>
        </p:nvSpPr>
        <p:spPr>
          <a:xfrm>
            <a:off x="9098280" y="594360"/>
            <a:ext cx="91440" cy="9144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Oval 495"/>
          <p:cNvSpPr/>
          <p:nvPr/>
        </p:nvSpPr>
        <p:spPr>
          <a:xfrm>
            <a:off x="9646920" y="960120"/>
            <a:ext cx="91440" cy="9144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Oval 496"/>
          <p:cNvSpPr/>
          <p:nvPr/>
        </p:nvSpPr>
        <p:spPr>
          <a:xfrm>
            <a:off x="10378440" y="685800"/>
            <a:ext cx="91440" cy="9144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Oval 497"/>
          <p:cNvSpPr/>
          <p:nvPr/>
        </p:nvSpPr>
        <p:spPr>
          <a:xfrm>
            <a:off x="11109960" y="868680"/>
            <a:ext cx="91440" cy="9144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Oval 498"/>
          <p:cNvSpPr/>
          <p:nvPr/>
        </p:nvSpPr>
        <p:spPr>
          <a:xfrm>
            <a:off x="11658600" y="594360"/>
            <a:ext cx="91440" cy="9144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DATA BREACH &amp; THREAT INTELLIGENCE PLATFORM  /  EXECUTIVE BRIEFING</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Plan de la présentation</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06B6D4"/>
                </a:solidFill>
                <a:latin typeface="Calibri"/>
              </a:rPr>
              <a:t>HAMZA</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02 / 19</a:t>
            </a:r>
          </a:p>
        </p:txBody>
      </p:sp>
      <p:cxnSp>
        <p:nvCxnSpPr>
          <p:cNvPr id="55" name="Connector 54"/>
          <p:cNvCxnSpPr/>
          <p:nvPr/>
        </p:nvCxnSpPr>
        <p:spPr>
          <a:xfrm>
            <a:off x="914400" y="3657600"/>
            <a:ext cx="10362895" cy="0"/>
          </a:xfrm>
          <a:prstGeom prst="line">
            <a:avLst/>
          </a:prstGeom>
          <a:ln w="50800">
            <a:solidFill>
              <a:srgbClr val="273854"/>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209761.875" y="2286000"/>
            <a:ext cx="0.0" cy="137160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2118321" y="3566160"/>
            <a:ext cx="182880" cy="1828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752561" y="3291840"/>
            <a:ext cx="914400" cy="274320"/>
          </a:xfrm>
          <a:prstGeom prst="rect">
            <a:avLst/>
          </a:prstGeom>
          <a:noFill/>
        </p:spPr>
        <p:txBody>
          <a:bodyPr wrap="square" lIns="0" rIns="0" tIns="0" bIns="0" anchor="t">
            <a:spAutoFit/>
          </a:bodyPr>
          <a:lstStyle/>
          <a:p>
            <a:pPr algn="ctr"/>
            <a:r>
              <a:rPr sz="1400" b="1" i="0">
                <a:solidFill>
                  <a:srgbClr val="3B82F6"/>
                </a:solidFill>
                <a:latin typeface="Calibri"/>
              </a:rPr>
              <a:t>01</a:t>
            </a:r>
          </a:p>
        </p:txBody>
      </p:sp>
      <p:sp>
        <p:nvSpPr>
          <p:cNvPr id="59" name="TextBox 58"/>
          <p:cNvSpPr txBox="1"/>
          <p:nvPr/>
        </p:nvSpPr>
        <p:spPr>
          <a:xfrm>
            <a:off x="1021041" y="1371600"/>
            <a:ext cx="2377440" cy="365760"/>
          </a:xfrm>
          <a:prstGeom prst="rect">
            <a:avLst/>
          </a:prstGeom>
          <a:noFill/>
        </p:spPr>
        <p:txBody>
          <a:bodyPr wrap="square" lIns="0" rIns="0" tIns="0" bIns="0" anchor="t">
            <a:spAutoFit/>
          </a:bodyPr>
          <a:lstStyle/>
          <a:p>
            <a:pPr algn="ctr"/>
            <a:r>
              <a:rPr sz="1400" b="1" i="0">
                <a:solidFill>
                  <a:srgbClr val="F8FAFC"/>
                </a:solidFill>
                <a:latin typeface="Calibri"/>
              </a:rPr>
              <a:t>Introduction &amp; Architecture</a:t>
            </a:r>
          </a:p>
        </p:txBody>
      </p:sp>
      <p:sp>
        <p:nvSpPr>
          <p:cNvPr id="60" name="TextBox 59"/>
          <p:cNvSpPr txBox="1"/>
          <p:nvPr/>
        </p:nvSpPr>
        <p:spPr>
          <a:xfrm>
            <a:off x="1021041" y="1737360"/>
            <a:ext cx="2377440" cy="548640"/>
          </a:xfrm>
          <a:prstGeom prst="rect">
            <a:avLst/>
          </a:prstGeom>
          <a:noFill/>
        </p:spPr>
        <p:txBody>
          <a:bodyPr wrap="square" lIns="0" rIns="0" tIns="0" bIns="0" anchor="t">
            <a:spAutoFit/>
          </a:bodyPr>
          <a:lstStyle/>
          <a:p>
            <a:pPr algn="ctr"/>
            <a:r>
              <a:rPr sz="1000" b="0" i="0">
                <a:solidFill>
                  <a:srgbClr val="94A3B8"/>
                </a:solidFill>
                <a:latin typeface="Calibri"/>
              </a:rPr>
              <a:t>Contexte, objectifs, architecture</a:t>
            </a:r>
          </a:p>
          <a:p>
            <a:pPr algn="ctr"/>
            <a:r>
              <a:rPr sz="1000" b="0" i="0">
                <a:solidFill>
                  <a:srgbClr val="94A3B8"/>
                </a:solidFill>
                <a:latin typeface="Calibri"/>
              </a:rPr>
              <a:t>globale et démo de la plateforme</a:t>
            </a:r>
          </a:p>
        </p:txBody>
      </p:sp>
      <p:sp>
        <p:nvSpPr>
          <p:cNvPr id="61" name="Rounded Rectangle 60"/>
          <p:cNvSpPr/>
          <p:nvPr/>
        </p:nvSpPr>
        <p:spPr>
          <a:xfrm>
            <a:off x="1523961" y="2194560"/>
            <a:ext cx="1371600" cy="22860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800" b="1">
                <a:solidFill>
                  <a:srgbClr val="3B82F6"/>
                </a:solidFill>
                <a:latin typeface="Calibri"/>
              </a:rPr>
              <a:t>Hamza Bjibji</a:t>
            </a:r>
          </a:p>
        </p:txBody>
      </p:sp>
      <p:cxnSp>
        <p:nvCxnSpPr>
          <p:cNvPr id="62" name="Connector 61"/>
          <p:cNvCxnSpPr/>
          <p:nvPr/>
        </p:nvCxnSpPr>
        <p:spPr>
          <a:xfrm>
            <a:off x="4800485.625" y="3657600"/>
            <a:ext cx="0.0" cy="1371600"/>
          </a:xfrm>
          <a:prstGeom prst="line">
            <a:avLst/>
          </a:prstGeom>
          <a:ln w="25400">
            <a:solidFill>
              <a:srgbClr val="14B8A6"/>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4709045" y="3566160"/>
            <a:ext cx="182880" cy="18288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343285" y="3749040"/>
            <a:ext cx="914400" cy="274320"/>
          </a:xfrm>
          <a:prstGeom prst="rect">
            <a:avLst/>
          </a:prstGeom>
          <a:noFill/>
        </p:spPr>
        <p:txBody>
          <a:bodyPr wrap="square" lIns="0" rIns="0" tIns="0" bIns="0" anchor="t">
            <a:spAutoFit/>
          </a:bodyPr>
          <a:lstStyle/>
          <a:p>
            <a:pPr algn="ctr"/>
            <a:r>
              <a:rPr sz="1400" b="1" i="0">
                <a:solidFill>
                  <a:srgbClr val="14B8A6"/>
                </a:solidFill>
                <a:latin typeface="Calibri"/>
              </a:rPr>
              <a:t>02</a:t>
            </a:r>
          </a:p>
        </p:txBody>
      </p:sp>
      <p:sp>
        <p:nvSpPr>
          <p:cNvPr id="65" name="TextBox 64"/>
          <p:cNvSpPr txBox="1"/>
          <p:nvPr/>
        </p:nvSpPr>
        <p:spPr>
          <a:xfrm>
            <a:off x="3611765" y="4114800"/>
            <a:ext cx="2377440" cy="365760"/>
          </a:xfrm>
          <a:prstGeom prst="rect">
            <a:avLst/>
          </a:prstGeom>
          <a:noFill/>
        </p:spPr>
        <p:txBody>
          <a:bodyPr wrap="square" lIns="0" rIns="0" tIns="0" bIns="0" anchor="t">
            <a:spAutoFit/>
          </a:bodyPr>
          <a:lstStyle/>
          <a:p>
            <a:pPr algn="ctr"/>
            <a:r>
              <a:rPr sz="1400" b="1" i="0">
                <a:solidFill>
                  <a:srgbClr val="F8FAFC"/>
                </a:solidFill>
                <a:latin typeface="Calibri"/>
              </a:rPr>
              <a:t>GitHub Monitoring</a:t>
            </a:r>
          </a:p>
        </p:txBody>
      </p:sp>
      <p:sp>
        <p:nvSpPr>
          <p:cNvPr id="66" name="TextBox 65"/>
          <p:cNvSpPr txBox="1"/>
          <p:nvPr/>
        </p:nvSpPr>
        <p:spPr>
          <a:xfrm>
            <a:off x="3611765" y="4480560"/>
            <a:ext cx="2377440" cy="548640"/>
          </a:xfrm>
          <a:prstGeom prst="rect">
            <a:avLst/>
          </a:prstGeom>
          <a:noFill/>
        </p:spPr>
        <p:txBody>
          <a:bodyPr wrap="square" lIns="0" rIns="0" tIns="0" bIns="0" anchor="t">
            <a:spAutoFit/>
          </a:bodyPr>
          <a:lstStyle/>
          <a:p>
            <a:pPr algn="ctr"/>
            <a:r>
              <a:rPr sz="1000" b="0" i="0">
                <a:solidFill>
                  <a:srgbClr val="94A3B8"/>
                </a:solidFill>
                <a:latin typeface="Calibri"/>
              </a:rPr>
              <a:t>Détection de secrets exposés</a:t>
            </a:r>
          </a:p>
          <a:p>
            <a:pPr algn="ctr"/>
            <a:r>
              <a:rPr sz="1000" b="0" i="0">
                <a:solidFill>
                  <a:srgbClr val="94A3B8"/>
                </a:solidFill>
                <a:latin typeface="Calibri"/>
              </a:rPr>
              <a:t>dans les dépôts publics GitHub</a:t>
            </a:r>
          </a:p>
        </p:txBody>
      </p:sp>
      <p:sp>
        <p:nvSpPr>
          <p:cNvPr id="67" name="Rounded Rectangle 66"/>
          <p:cNvSpPr/>
          <p:nvPr/>
        </p:nvSpPr>
        <p:spPr>
          <a:xfrm>
            <a:off x="4114685" y="4937760"/>
            <a:ext cx="1371600" cy="22860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800" b="1">
                <a:solidFill>
                  <a:srgbClr val="14B8A6"/>
                </a:solidFill>
                <a:latin typeface="Calibri"/>
              </a:rPr>
              <a:t>Chaimae Ben Sbeh</a:t>
            </a:r>
          </a:p>
        </p:txBody>
      </p:sp>
      <p:cxnSp>
        <p:nvCxnSpPr>
          <p:cNvPr id="68" name="Connector 67"/>
          <p:cNvCxnSpPr/>
          <p:nvPr/>
        </p:nvCxnSpPr>
        <p:spPr>
          <a:xfrm flipV="1">
            <a:off x="7391209.375" y="2286000"/>
            <a:ext cx="0.0" cy="137160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7299769" y="3566160"/>
            <a:ext cx="182880" cy="18288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934009" y="3291840"/>
            <a:ext cx="914400" cy="274320"/>
          </a:xfrm>
          <a:prstGeom prst="rect">
            <a:avLst/>
          </a:prstGeom>
          <a:noFill/>
        </p:spPr>
        <p:txBody>
          <a:bodyPr wrap="square" lIns="0" rIns="0" tIns="0" bIns="0" anchor="t">
            <a:spAutoFit/>
          </a:bodyPr>
          <a:lstStyle/>
          <a:p>
            <a:pPr algn="ctr"/>
            <a:r>
              <a:rPr sz="1400" b="1" i="0">
                <a:solidFill>
                  <a:srgbClr val="F59E0B"/>
                </a:solidFill>
                <a:latin typeface="Calibri"/>
              </a:rPr>
              <a:t>03</a:t>
            </a:r>
          </a:p>
        </p:txBody>
      </p:sp>
      <p:sp>
        <p:nvSpPr>
          <p:cNvPr id="71" name="TextBox 70"/>
          <p:cNvSpPr txBox="1"/>
          <p:nvPr/>
        </p:nvSpPr>
        <p:spPr>
          <a:xfrm>
            <a:off x="6202489" y="1371600"/>
            <a:ext cx="2377440" cy="365760"/>
          </a:xfrm>
          <a:prstGeom prst="rect">
            <a:avLst/>
          </a:prstGeom>
          <a:noFill/>
        </p:spPr>
        <p:txBody>
          <a:bodyPr wrap="square" lIns="0" rIns="0" tIns="0" bIns="0" anchor="t">
            <a:spAutoFit/>
          </a:bodyPr>
          <a:lstStyle/>
          <a:p>
            <a:pPr algn="ctr"/>
            <a:r>
              <a:rPr sz="1400" b="1" i="0">
                <a:solidFill>
                  <a:srgbClr val="F8FAFC"/>
                </a:solidFill>
                <a:latin typeface="Calibri"/>
              </a:rPr>
              <a:t>Telegram &amp; Google Alerts</a:t>
            </a:r>
          </a:p>
        </p:txBody>
      </p:sp>
      <p:sp>
        <p:nvSpPr>
          <p:cNvPr id="72" name="TextBox 71"/>
          <p:cNvSpPr txBox="1"/>
          <p:nvPr/>
        </p:nvSpPr>
        <p:spPr>
          <a:xfrm>
            <a:off x="6202489" y="1737360"/>
            <a:ext cx="2377440" cy="548640"/>
          </a:xfrm>
          <a:prstGeom prst="rect">
            <a:avLst/>
          </a:prstGeom>
          <a:noFill/>
        </p:spPr>
        <p:txBody>
          <a:bodyPr wrap="square" lIns="0" rIns="0" tIns="0" bIns="0" anchor="t">
            <a:spAutoFit/>
          </a:bodyPr>
          <a:lstStyle/>
          <a:p>
            <a:pPr algn="ctr"/>
            <a:r>
              <a:rPr sz="1000" b="0" i="0">
                <a:solidFill>
                  <a:srgbClr val="94A3B8"/>
                </a:solidFill>
                <a:latin typeface="Calibri"/>
              </a:rPr>
              <a:t>Veille communautaire OSINT</a:t>
            </a:r>
          </a:p>
          <a:p>
            <a:pPr algn="ctr"/>
            <a:r>
              <a:rPr sz="1000" b="0" i="0">
                <a:solidFill>
                  <a:srgbClr val="94A3B8"/>
                </a:solidFill>
                <a:latin typeface="Calibri"/>
              </a:rPr>
              <a:t>et couverture médiatique</a:t>
            </a:r>
          </a:p>
        </p:txBody>
      </p:sp>
      <p:sp>
        <p:nvSpPr>
          <p:cNvPr id="73" name="Rounded Rectangle 72"/>
          <p:cNvSpPr/>
          <p:nvPr/>
        </p:nvSpPr>
        <p:spPr>
          <a:xfrm>
            <a:off x="6705409" y="2194560"/>
            <a:ext cx="1371600" cy="22860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800" b="1">
                <a:solidFill>
                  <a:srgbClr val="F59E0B"/>
                </a:solidFill>
                <a:latin typeface="Calibri"/>
              </a:rPr>
              <a:t>Yassir Salim El Akramine</a:t>
            </a:r>
          </a:p>
        </p:txBody>
      </p:sp>
      <p:cxnSp>
        <p:nvCxnSpPr>
          <p:cNvPr id="74" name="Connector 73"/>
          <p:cNvCxnSpPr/>
          <p:nvPr/>
        </p:nvCxnSpPr>
        <p:spPr>
          <a:xfrm>
            <a:off x="9981933.125" y="3657600"/>
            <a:ext cx="0.0" cy="1371600"/>
          </a:xfrm>
          <a:prstGeom prst="line">
            <a:avLst/>
          </a:prstGeom>
          <a:ln w="25400">
            <a:solidFill>
              <a:srgbClr val="8B5CF6"/>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9890493" y="3566160"/>
            <a:ext cx="182880" cy="1828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524733" y="3749040"/>
            <a:ext cx="914400" cy="274320"/>
          </a:xfrm>
          <a:prstGeom prst="rect">
            <a:avLst/>
          </a:prstGeom>
          <a:noFill/>
        </p:spPr>
        <p:txBody>
          <a:bodyPr wrap="square" lIns="0" rIns="0" tIns="0" bIns="0" anchor="t">
            <a:spAutoFit/>
          </a:bodyPr>
          <a:lstStyle/>
          <a:p>
            <a:pPr algn="ctr"/>
            <a:r>
              <a:rPr sz="1400" b="1" i="0">
                <a:solidFill>
                  <a:srgbClr val="8B5CF6"/>
                </a:solidFill>
                <a:latin typeface="Calibri"/>
              </a:rPr>
              <a:t>04</a:t>
            </a:r>
          </a:p>
        </p:txBody>
      </p:sp>
      <p:sp>
        <p:nvSpPr>
          <p:cNvPr id="77" name="TextBox 76"/>
          <p:cNvSpPr txBox="1"/>
          <p:nvPr/>
        </p:nvSpPr>
        <p:spPr>
          <a:xfrm>
            <a:off x="8793213" y="4114800"/>
            <a:ext cx="2377440" cy="365760"/>
          </a:xfrm>
          <a:prstGeom prst="rect">
            <a:avLst/>
          </a:prstGeom>
          <a:noFill/>
        </p:spPr>
        <p:txBody>
          <a:bodyPr wrap="square" lIns="0" rIns="0" tIns="0" bIns="0" anchor="t">
            <a:spAutoFit/>
          </a:bodyPr>
          <a:lstStyle/>
          <a:p>
            <a:pPr algn="ctr"/>
            <a:r>
              <a:rPr sz="1400" b="1" i="0">
                <a:solidFill>
                  <a:srgbClr val="F8FAFC"/>
                </a:solidFill>
                <a:latin typeface="Calibri"/>
              </a:rPr>
              <a:t>BI Threat Intel &amp; Conclusion</a:t>
            </a:r>
          </a:p>
        </p:txBody>
      </p:sp>
      <p:sp>
        <p:nvSpPr>
          <p:cNvPr id="78" name="TextBox 77"/>
          <p:cNvSpPr txBox="1"/>
          <p:nvPr/>
        </p:nvSpPr>
        <p:spPr>
          <a:xfrm>
            <a:off x="8793213" y="4480560"/>
            <a:ext cx="2377440" cy="548640"/>
          </a:xfrm>
          <a:prstGeom prst="rect">
            <a:avLst/>
          </a:prstGeom>
          <a:noFill/>
        </p:spPr>
        <p:txBody>
          <a:bodyPr wrap="square" lIns="0" rIns="0" tIns="0" bIns="0" anchor="t">
            <a:spAutoFit/>
          </a:bodyPr>
          <a:lstStyle/>
          <a:p>
            <a:pPr algn="ctr"/>
            <a:r>
              <a:rPr sz="1000" b="0" i="0">
                <a:solidFill>
                  <a:srgbClr val="94A3B8"/>
                </a:solidFill>
                <a:latin typeface="Calibri"/>
              </a:rPr>
              <a:t>Module CVE Bronze/Silver/Gold,</a:t>
            </a:r>
          </a:p>
          <a:p>
            <a:pPr algn="ctr"/>
            <a:r>
              <a:rPr sz="1000" b="0" i="0">
                <a:solidFill>
                  <a:srgbClr val="94A3B8"/>
                </a:solidFill>
                <a:latin typeface="Calibri"/>
              </a:rPr>
              <a:t>classification &amp; perspectives</a:t>
            </a:r>
          </a:p>
        </p:txBody>
      </p:sp>
      <p:sp>
        <p:nvSpPr>
          <p:cNvPr id="79" name="Rounded Rectangle 78"/>
          <p:cNvSpPr/>
          <p:nvPr/>
        </p:nvSpPr>
        <p:spPr>
          <a:xfrm>
            <a:off x="9296133" y="4937760"/>
            <a:ext cx="1371600" cy="22860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800" b="1">
                <a:solidFill>
                  <a:srgbClr val="8B5CF6"/>
                </a:solidFill>
                <a:latin typeface="Calibri"/>
              </a:rPr>
              <a:t>Imane Sghiouar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DATA BREACH &amp; THREAT INTELLIGENCE PLATFORM  /  EXECUTIVE BRIEFING</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Contexte &amp; problématique</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06B6D4"/>
                </a:solidFill>
                <a:latin typeface="Calibri"/>
              </a:rPr>
              <a:t>HAMZA</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03 / 19</a:t>
            </a:r>
          </a:p>
        </p:txBody>
      </p:sp>
      <p:sp>
        <p:nvSpPr>
          <p:cNvPr id="55" name="TextBox 54"/>
          <p:cNvSpPr txBox="1"/>
          <p:nvPr/>
        </p:nvSpPr>
        <p:spPr>
          <a:xfrm>
            <a:off x="640080" y="1280160"/>
            <a:ext cx="10972800" cy="731520"/>
          </a:xfrm>
          <a:prstGeom prst="rect">
            <a:avLst/>
          </a:prstGeom>
          <a:noFill/>
        </p:spPr>
        <p:txBody>
          <a:bodyPr wrap="square" lIns="0" rIns="0" tIns="0" bIns="0" anchor="t">
            <a:spAutoFit/>
          </a:bodyPr>
          <a:lstStyle/>
          <a:p>
            <a:pPr algn="l"/>
            <a:r>
              <a:rPr sz="2000" b="0" i="0">
                <a:solidFill>
                  <a:srgbClr val="F8FAFC"/>
                </a:solidFill>
                <a:latin typeface="Calibri Light"/>
              </a:rPr>
              <a:t>Chaque jour, une quantité massive d'informations sensibles</a:t>
            </a:r>
          </a:p>
          <a:p>
            <a:pPr algn="l"/>
            <a:r>
              <a:rPr sz="2000" b="0" i="0">
                <a:solidFill>
                  <a:srgbClr val="F8FAFC"/>
                </a:solidFill>
                <a:latin typeface="Calibri Light"/>
              </a:rPr>
              <a:t>apparaît publiquement sur le net, posant un risque majeur de sécurité.</a:t>
            </a:r>
          </a:p>
        </p:txBody>
      </p:sp>
      <p:sp>
        <p:nvSpPr>
          <p:cNvPr id="56" name="Rounded Rectangle 55"/>
          <p:cNvSpPr/>
          <p:nvPr/>
        </p:nvSpPr>
        <p:spPr>
          <a:xfrm>
            <a:off x="640080" y="2286000"/>
            <a:ext cx="5029200" cy="822960"/>
          </a:xfrm>
          <a:prstGeom prst="roundRect">
            <a:avLst>
              <a:gd name="adj" fmla="val 8000"/>
            </a:avLst>
          </a:prstGeom>
          <a:solidFill>
            <a:srgbClr val="0C121F"/>
          </a:solidFill>
          <a:ln w="9525">
            <a:solidFill>
              <a:srgbClr val="1C28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40080" y="2286000"/>
            <a:ext cx="45720" cy="8229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22960" y="2606040"/>
            <a:ext cx="182880" cy="182880"/>
          </a:xfrm>
          <a:prstGeom prst="ellipse">
            <a:avLst/>
          </a:prstGeom>
          <a:no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88720" y="2468880"/>
            <a:ext cx="4297680" cy="274320"/>
          </a:xfrm>
          <a:prstGeom prst="rect">
            <a:avLst/>
          </a:prstGeom>
          <a:noFill/>
        </p:spPr>
        <p:txBody>
          <a:bodyPr wrap="square" lIns="0" rIns="0" tIns="0" bIns="0" anchor="t">
            <a:spAutoFit/>
          </a:bodyPr>
          <a:lstStyle/>
          <a:p>
            <a:pPr algn="l"/>
            <a:r>
              <a:rPr sz="1200" b="1" i="0">
                <a:solidFill>
                  <a:srgbClr val="F8FAFC"/>
                </a:solidFill>
                <a:latin typeface="Consolas"/>
              </a:rPr>
              <a:t>SECRETS</a:t>
            </a:r>
          </a:p>
        </p:txBody>
      </p:sp>
      <p:sp>
        <p:nvSpPr>
          <p:cNvPr id="60" name="TextBox 59"/>
          <p:cNvSpPr txBox="1"/>
          <p:nvPr/>
        </p:nvSpPr>
        <p:spPr>
          <a:xfrm>
            <a:off x="1188720" y="2743200"/>
            <a:ext cx="4297680" cy="274320"/>
          </a:xfrm>
          <a:prstGeom prst="rect">
            <a:avLst/>
          </a:prstGeom>
          <a:noFill/>
        </p:spPr>
        <p:txBody>
          <a:bodyPr wrap="square" lIns="0" rIns="0" tIns="0" bIns="0" anchor="t">
            <a:spAutoFit/>
          </a:bodyPr>
          <a:lstStyle/>
          <a:p>
            <a:pPr algn="l"/>
            <a:r>
              <a:rPr sz="1000" b="0" i="0">
                <a:solidFill>
                  <a:srgbClr val="94A3B8"/>
                </a:solidFill>
                <a:latin typeface="Calibri"/>
              </a:rPr>
              <a:t>Tokens, clés API, .env dans GitHub</a:t>
            </a:r>
          </a:p>
        </p:txBody>
      </p:sp>
      <p:sp>
        <p:nvSpPr>
          <p:cNvPr id="61" name="Rounded Rectangle 60"/>
          <p:cNvSpPr/>
          <p:nvPr/>
        </p:nvSpPr>
        <p:spPr>
          <a:xfrm>
            <a:off x="5852160" y="2286000"/>
            <a:ext cx="5029200" cy="822960"/>
          </a:xfrm>
          <a:prstGeom prst="roundRect">
            <a:avLst>
              <a:gd name="adj" fmla="val 8000"/>
            </a:avLst>
          </a:prstGeom>
          <a:solidFill>
            <a:srgbClr val="0C121F"/>
          </a:solidFill>
          <a:ln w="9525">
            <a:solidFill>
              <a:srgbClr val="1C28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852160" y="2286000"/>
            <a:ext cx="45720" cy="82296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6035040" y="2606040"/>
            <a:ext cx="182880" cy="182880"/>
          </a:xfrm>
          <a:prstGeom prst="ellipse">
            <a:avLst/>
          </a:prstGeom>
          <a:no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00800" y="2468880"/>
            <a:ext cx="4297680" cy="274320"/>
          </a:xfrm>
          <a:prstGeom prst="rect">
            <a:avLst/>
          </a:prstGeom>
          <a:noFill/>
        </p:spPr>
        <p:txBody>
          <a:bodyPr wrap="square" lIns="0" rIns="0" tIns="0" bIns="0" anchor="t">
            <a:spAutoFit/>
          </a:bodyPr>
          <a:lstStyle/>
          <a:p>
            <a:pPr algn="l"/>
            <a:r>
              <a:rPr sz="1200" b="1" i="0">
                <a:solidFill>
                  <a:srgbClr val="F8FAFC"/>
                </a:solidFill>
                <a:latin typeface="Consolas"/>
              </a:rPr>
              <a:t>FUITES</a:t>
            </a:r>
          </a:p>
        </p:txBody>
      </p:sp>
      <p:sp>
        <p:nvSpPr>
          <p:cNvPr id="65" name="TextBox 64"/>
          <p:cNvSpPr txBox="1"/>
          <p:nvPr/>
        </p:nvSpPr>
        <p:spPr>
          <a:xfrm>
            <a:off x="6400800" y="2743200"/>
            <a:ext cx="4297680" cy="274320"/>
          </a:xfrm>
          <a:prstGeom prst="rect">
            <a:avLst/>
          </a:prstGeom>
          <a:noFill/>
        </p:spPr>
        <p:txBody>
          <a:bodyPr wrap="square" lIns="0" rIns="0" tIns="0" bIns="0" anchor="t">
            <a:spAutoFit/>
          </a:bodyPr>
          <a:lstStyle/>
          <a:p>
            <a:pPr algn="l"/>
            <a:r>
              <a:rPr sz="1000" b="0" i="0">
                <a:solidFill>
                  <a:srgbClr val="94A3B8"/>
                </a:solidFill>
                <a:latin typeface="Calibri"/>
              </a:rPr>
              <a:t>Annonces sur Telegram / Forums</a:t>
            </a:r>
          </a:p>
        </p:txBody>
      </p:sp>
      <p:sp>
        <p:nvSpPr>
          <p:cNvPr id="66" name="Rounded Rectangle 65"/>
          <p:cNvSpPr/>
          <p:nvPr/>
        </p:nvSpPr>
        <p:spPr>
          <a:xfrm>
            <a:off x="640080" y="3291840"/>
            <a:ext cx="5029200" cy="822960"/>
          </a:xfrm>
          <a:prstGeom prst="roundRect">
            <a:avLst>
              <a:gd name="adj" fmla="val 8000"/>
            </a:avLst>
          </a:prstGeom>
          <a:solidFill>
            <a:srgbClr val="0C121F"/>
          </a:solidFill>
          <a:ln w="9525">
            <a:solidFill>
              <a:srgbClr val="1C28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40080" y="3291840"/>
            <a:ext cx="4572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822960" y="3611880"/>
            <a:ext cx="182880" cy="182880"/>
          </a:xfrm>
          <a:prstGeom prst="ellipse">
            <a:avLst/>
          </a:prstGeom>
          <a:no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88720" y="3474720"/>
            <a:ext cx="4297680" cy="274320"/>
          </a:xfrm>
          <a:prstGeom prst="rect">
            <a:avLst/>
          </a:prstGeom>
          <a:noFill/>
        </p:spPr>
        <p:txBody>
          <a:bodyPr wrap="square" lIns="0" rIns="0" tIns="0" bIns="0" anchor="t">
            <a:spAutoFit/>
          </a:bodyPr>
          <a:lstStyle/>
          <a:p>
            <a:pPr algn="l"/>
            <a:r>
              <a:rPr sz="1200" b="1" i="0">
                <a:solidFill>
                  <a:srgbClr val="F8FAFC"/>
                </a:solidFill>
                <a:latin typeface="Consolas"/>
              </a:rPr>
              <a:t>CVE</a:t>
            </a:r>
          </a:p>
        </p:txBody>
      </p:sp>
      <p:sp>
        <p:nvSpPr>
          <p:cNvPr id="70" name="TextBox 69"/>
          <p:cNvSpPr txBox="1"/>
          <p:nvPr/>
        </p:nvSpPr>
        <p:spPr>
          <a:xfrm>
            <a:off x="1188720" y="3749040"/>
            <a:ext cx="4297680" cy="274320"/>
          </a:xfrm>
          <a:prstGeom prst="rect">
            <a:avLst/>
          </a:prstGeom>
          <a:noFill/>
        </p:spPr>
        <p:txBody>
          <a:bodyPr wrap="square" lIns="0" rIns="0" tIns="0" bIns="0" anchor="t">
            <a:spAutoFit/>
          </a:bodyPr>
          <a:lstStyle/>
          <a:p>
            <a:pPr algn="l"/>
            <a:r>
              <a:rPr sz="1000" b="0" i="0">
                <a:solidFill>
                  <a:srgbClr val="94A3B8"/>
                </a:solidFill>
                <a:latin typeface="Calibri"/>
              </a:rPr>
              <a:t>Vulnérabilités critiques 0-day</a:t>
            </a:r>
          </a:p>
        </p:txBody>
      </p:sp>
      <p:sp>
        <p:nvSpPr>
          <p:cNvPr id="71" name="Rounded Rectangle 70"/>
          <p:cNvSpPr/>
          <p:nvPr/>
        </p:nvSpPr>
        <p:spPr>
          <a:xfrm>
            <a:off x="5852160" y="3291840"/>
            <a:ext cx="5029200" cy="822960"/>
          </a:xfrm>
          <a:prstGeom prst="roundRect">
            <a:avLst>
              <a:gd name="adj" fmla="val 8000"/>
            </a:avLst>
          </a:prstGeom>
          <a:solidFill>
            <a:srgbClr val="0C121F"/>
          </a:solidFill>
          <a:ln w="9525">
            <a:solidFill>
              <a:srgbClr val="1C28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852160" y="3291840"/>
            <a:ext cx="45720" cy="82296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6035040" y="3611880"/>
            <a:ext cx="182880" cy="182880"/>
          </a:xfrm>
          <a:prstGeom prst="ellipse">
            <a:avLst/>
          </a:prstGeom>
          <a:no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400800" y="3474720"/>
            <a:ext cx="4297680" cy="274320"/>
          </a:xfrm>
          <a:prstGeom prst="rect">
            <a:avLst/>
          </a:prstGeom>
          <a:noFill/>
        </p:spPr>
        <p:txBody>
          <a:bodyPr wrap="square" lIns="0" rIns="0" tIns="0" bIns="0" anchor="t">
            <a:spAutoFit/>
          </a:bodyPr>
          <a:lstStyle/>
          <a:p>
            <a:pPr algn="l"/>
            <a:r>
              <a:rPr sz="1200" b="1" i="0">
                <a:solidFill>
                  <a:srgbClr val="F8FAFC"/>
                </a:solidFill>
                <a:latin typeface="Consolas"/>
              </a:rPr>
              <a:t>NEWS</a:t>
            </a:r>
          </a:p>
        </p:txBody>
      </p:sp>
      <p:sp>
        <p:nvSpPr>
          <p:cNvPr id="75" name="TextBox 74"/>
          <p:cNvSpPr txBox="1"/>
          <p:nvPr/>
        </p:nvSpPr>
        <p:spPr>
          <a:xfrm>
            <a:off x="6400800" y="3749040"/>
            <a:ext cx="4297680" cy="274320"/>
          </a:xfrm>
          <a:prstGeom prst="rect">
            <a:avLst/>
          </a:prstGeom>
          <a:noFill/>
        </p:spPr>
        <p:txBody>
          <a:bodyPr wrap="square" lIns="0" rIns="0" tIns="0" bIns="0" anchor="t">
            <a:spAutoFit/>
          </a:bodyPr>
          <a:lstStyle/>
          <a:p>
            <a:pPr algn="l"/>
            <a:r>
              <a:rPr sz="1000" b="0" i="0">
                <a:solidFill>
                  <a:srgbClr val="94A3B8"/>
                </a:solidFill>
                <a:latin typeface="Calibri"/>
              </a:rPr>
              <a:t>Couverture d'incidents cyber</a:t>
            </a:r>
          </a:p>
        </p:txBody>
      </p:sp>
      <p:sp>
        <p:nvSpPr>
          <p:cNvPr id="76" name="Rounded Rectangle 75"/>
          <p:cNvSpPr/>
          <p:nvPr/>
        </p:nvSpPr>
        <p:spPr>
          <a:xfrm>
            <a:off x="640080" y="4572000"/>
            <a:ext cx="10927080" cy="1645920"/>
          </a:xfrm>
          <a:prstGeom prst="roundRect">
            <a:avLst>
              <a:gd name="adj" fmla="val 8000"/>
            </a:avLst>
          </a:prstGeom>
          <a:solidFill>
            <a:srgbClr val="131B2E"/>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40080" y="4572000"/>
            <a:ext cx="137160" cy="164592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97280" y="4846320"/>
            <a:ext cx="10058400" cy="274320"/>
          </a:xfrm>
          <a:prstGeom prst="rect">
            <a:avLst/>
          </a:prstGeom>
          <a:noFill/>
        </p:spPr>
        <p:txBody>
          <a:bodyPr wrap="square" lIns="0" rIns="0" tIns="0" bIns="0" anchor="t">
            <a:spAutoFit/>
          </a:bodyPr>
          <a:lstStyle/>
          <a:p>
            <a:pPr algn="l"/>
            <a:r>
              <a:rPr sz="1000" b="1" i="0">
                <a:solidFill>
                  <a:srgbClr val="EF4444"/>
                </a:solidFill>
                <a:latin typeface="Consolas"/>
              </a:rPr>
              <a:t>EXECUTIVE INSIGHT  /  LE PROBLÈME</a:t>
            </a:r>
          </a:p>
        </p:txBody>
      </p:sp>
      <p:sp>
        <p:nvSpPr>
          <p:cNvPr id="79" name="TextBox 78"/>
          <p:cNvSpPr txBox="1"/>
          <p:nvPr/>
        </p:nvSpPr>
        <p:spPr>
          <a:xfrm>
            <a:off x="1097280" y="5212080"/>
            <a:ext cx="10058400" cy="731520"/>
          </a:xfrm>
          <a:prstGeom prst="rect">
            <a:avLst/>
          </a:prstGeom>
          <a:noFill/>
        </p:spPr>
        <p:txBody>
          <a:bodyPr wrap="square" lIns="0" rIns="0" tIns="0" bIns="0" anchor="t">
            <a:spAutoFit/>
          </a:bodyPr>
          <a:lstStyle/>
          <a:p>
            <a:pPr algn="l"/>
            <a:r>
              <a:rPr sz="1600" b="0" i="1">
                <a:solidFill>
                  <a:srgbClr val="F8FAFC"/>
                </a:solidFill>
                <a:latin typeface="Calibri Light"/>
              </a:rPr>
              <a:t>Les signaux sont partout, mais dispersés en silos. Aucune plateforme ne centralise les expositions techniques (GitHub) et les signaux OSINT déclaratifs (Telegram/News).</a:t>
            </a:r>
          </a:p>
          <a:p>
            <a:pPr algn="l"/>
            <a:r>
              <a:rPr sz="1600" b="0" i="1">
                <a:solidFill>
                  <a:srgbClr val="F8FAFC"/>
                </a:solidFill>
                <a:latin typeface="Calibri Light"/>
              </a:rPr>
              <a:t>Notre projet répond précisément à ce constat.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DATA BREACH &amp; THREAT INTELLIGENCE PLATFORM  /  EXECUTIVE BRIEFING</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Objectifs &amp; public cible</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06B6D4"/>
                </a:solidFill>
                <a:latin typeface="Calibri"/>
              </a:rPr>
              <a:t>HAMZA</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04 / 19</a:t>
            </a:r>
          </a:p>
        </p:txBody>
      </p:sp>
      <p:sp>
        <p:nvSpPr>
          <p:cNvPr id="55" name="TextBox 54"/>
          <p:cNvSpPr txBox="1"/>
          <p:nvPr/>
        </p:nvSpPr>
        <p:spPr>
          <a:xfrm>
            <a:off x="640080" y="1417320"/>
            <a:ext cx="5486400" cy="365760"/>
          </a:xfrm>
          <a:prstGeom prst="rect">
            <a:avLst/>
          </a:prstGeom>
          <a:noFill/>
        </p:spPr>
        <p:txBody>
          <a:bodyPr wrap="square" lIns="0" rIns="0" tIns="0" bIns="0" anchor="t">
            <a:spAutoFit/>
          </a:bodyPr>
          <a:lstStyle/>
          <a:p>
            <a:pPr algn="l"/>
            <a:r>
              <a:rPr sz="1100" b="1" i="0">
                <a:solidFill>
                  <a:srgbClr val="3B82F6"/>
                </a:solidFill>
                <a:latin typeface="Calibri"/>
              </a:rPr>
              <a:t>OBJECTIF GLOBAL</a:t>
            </a:r>
          </a:p>
        </p:txBody>
      </p:sp>
      <p:sp>
        <p:nvSpPr>
          <p:cNvPr id="56" name="TextBox 55"/>
          <p:cNvSpPr txBox="1"/>
          <p:nvPr/>
        </p:nvSpPr>
        <p:spPr>
          <a:xfrm>
            <a:off x="640080" y="1783080"/>
            <a:ext cx="5486400" cy="1371600"/>
          </a:xfrm>
          <a:prstGeom prst="rect">
            <a:avLst/>
          </a:prstGeom>
          <a:noFill/>
        </p:spPr>
        <p:txBody>
          <a:bodyPr wrap="square" lIns="0" rIns="0" tIns="0" bIns="0" anchor="t">
            <a:spAutoFit/>
          </a:bodyPr>
          <a:lstStyle/>
          <a:p>
            <a:pPr algn="l"/>
            <a:r>
              <a:rPr sz="1800" b="1" i="0">
                <a:solidFill>
                  <a:srgbClr val="F8FAFC"/>
                </a:solidFill>
                <a:latin typeface="Calibri"/>
              </a:rPr>
              <a:t>Collecter, normaliser, filtrer</a:t>
            </a:r>
          </a:p>
          <a:p>
            <a:pPr algn="l"/>
            <a:r>
              <a:rPr sz="1800" b="1" i="0">
                <a:solidFill>
                  <a:srgbClr val="F8FAFC"/>
                </a:solidFill>
                <a:latin typeface="Calibri"/>
              </a:rPr>
              <a:t>et restituer les signaux cyber</a:t>
            </a:r>
          </a:p>
          <a:p>
            <a:pPr algn="l"/>
            <a:r>
              <a:rPr sz="1800" b="1" i="0">
                <a:solidFill>
                  <a:srgbClr val="F8FAFC"/>
                </a:solidFill>
                <a:latin typeface="Calibri"/>
              </a:rPr>
              <a:t>issus de sources ouvertes.</a:t>
            </a:r>
          </a:p>
        </p:txBody>
      </p:sp>
      <p:sp>
        <p:nvSpPr>
          <p:cNvPr id="57" name="Rounded Rectangle 56"/>
          <p:cNvSpPr/>
          <p:nvPr/>
        </p:nvSpPr>
        <p:spPr>
          <a:xfrm>
            <a:off x="640080" y="3291840"/>
            <a:ext cx="1234440" cy="548640"/>
          </a:xfrm>
          <a:prstGeom prst="roundRect">
            <a:avLst>
              <a:gd name="adj" fmla="val 8000"/>
            </a:avLst>
          </a:prstGeom>
          <a:solidFill>
            <a:srgbClr val="131B2E"/>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0080" y="3291840"/>
            <a:ext cx="1234440" cy="548640"/>
          </a:xfrm>
          <a:prstGeom prst="rect">
            <a:avLst/>
          </a:prstGeom>
          <a:noFill/>
        </p:spPr>
        <p:txBody>
          <a:bodyPr wrap="square" lIns="0" rIns="0" tIns="0" bIns="0" anchor="ctr">
            <a:spAutoFit/>
          </a:bodyPr>
          <a:lstStyle/>
          <a:p>
            <a:pPr algn="ctr"/>
            <a:r>
              <a:rPr sz="1200" b="1" i="0">
                <a:solidFill>
                  <a:srgbClr val="3B82F6"/>
                </a:solidFill>
                <a:latin typeface="Calibri"/>
              </a:rPr>
              <a:t>Collecter</a:t>
            </a:r>
          </a:p>
        </p:txBody>
      </p:sp>
      <p:sp>
        <p:nvSpPr>
          <p:cNvPr id="59" name="Rounded Rectangle 58"/>
          <p:cNvSpPr/>
          <p:nvPr/>
        </p:nvSpPr>
        <p:spPr>
          <a:xfrm>
            <a:off x="1965960" y="3291840"/>
            <a:ext cx="1234440" cy="548640"/>
          </a:xfrm>
          <a:prstGeom prst="roundRect">
            <a:avLst>
              <a:gd name="adj" fmla="val 8000"/>
            </a:avLst>
          </a:prstGeom>
          <a:solidFill>
            <a:srgbClr val="131B2E"/>
          </a:solidFill>
          <a:ln w="1524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965960" y="3291840"/>
            <a:ext cx="1234440" cy="548640"/>
          </a:xfrm>
          <a:prstGeom prst="rect">
            <a:avLst/>
          </a:prstGeom>
          <a:noFill/>
        </p:spPr>
        <p:txBody>
          <a:bodyPr wrap="square" lIns="0" rIns="0" tIns="0" bIns="0" anchor="ctr">
            <a:spAutoFit/>
          </a:bodyPr>
          <a:lstStyle/>
          <a:p>
            <a:pPr algn="ctr"/>
            <a:r>
              <a:rPr sz="1200" b="1" i="0">
                <a:solidFill>
                  <a:srgbClr val="14B8A6"/>
                </a:solidFill>
                <a:latin typeface="Calibri"/>
              </a:rPr>
              <a:t>Normaliser</a:t>
            </a:r>
          </a:p>
        </p:txBody>
      </p:sp>
      <p:sp>
        <p:nvSpPr>
          <p:cNvPr id="61" name="Rounded Rectangle 60"/>
          <p:cNvSpPr/>
          <p:nvPr/>
        </p:nvSpPr>
        <p:spPr>
          <a:xfrm>
            <a:off x="3291840" y="3291840"/>
            <a:ext cx="1234440" cy="548640"/>
          </a:xfrm>
          <a:prstGeom prst="roundRect">
            <a:avLst>
              <a:gd name="adj" fmla="val 8000"/>
            </a:avLst>
          </a:prstGeom>
          <a:solidFill>
            <a:srgbClr val="131B2E"/>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291840" y="3291840"/>
            <a:ext cx="1234440" cy="548640"/>
          </a:xfrm>
          <a:prstGeom prst="rect">
            <a:avLst/>
          </a:prstGeom>
          <a:noFill/>
        </p:spPr>
        <p:txBody>
          <a:bodyPr wrap="square" lIns="0" rIns="0" tIns="0" bIns="0" anchor="ctr">
            <a:spAutoFit/>
          </a:bodyPr>
          <a:lstStyle/>
          <a:p>
            <a:pPr algn="ctr"/>
            <a:r>
              <a:rPr sz="1200" b="1" i="0">
                <a:solidFill>
                  <a:srgbClr val="F59E0B"/>
                </a:solidFill>
                <a:latin typeface="Calibri"/>
              </a:rPr>
              <a:t>Filtrer</a:t>
            </a:r>
          </a:p>
        </p:txBody>
      </p:sp>
      <p:sp>
        <p:nvSpPr>
          <p:cNvPr id="63" name="Rounded Rectangle 62"/>
          <p:cNvSpPr/>
          <p:nvPr/>
        </p:nvSpPr>
        <p:spPr>
          <a:xfrm>
            <a:off x="4617720" y="3291840"/>
            <a:ext cx="1234440" cy="548640"/>
          </a:xfrm>
          <a:prstGeom prst="roundRect">
            <a:avLst>
              <a:gd name="adj" fmla="val 8000"/>
            </a:avLst>
          </a:prstGeom>
          <a:solidFill>
            <a:srgbClr val="131B2E"/>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617720" y="3291840"/>
            <a:ext cx="1234440" cy="548640"/>
          </a:xfrm>
          <a:prstGeom prst="rect">
            <a:avLst/>
          </a:prstGeom>
          <a:noFill/>
        </p:spPr>
        <p:txBody>
          <a:bodyPr wrap="square" lIns="0" rIns="0" tIns="0" bIns="0" anchor="ctr">
            <a:spAutoFit/>
          </a:bodyPr>
          <a:lstStyle/>
          <a:p>
            <a:pPr algn="ctr"/>
            <a:r>
              <a:rPr sz="1200" b="1" i="0">
                <a:solidFill>
                  <a:srgbClr val="8B5CF6"/>
                </a:solidFill>
                <a:latin typeface="Calibri"/>
              </a:rPr>
              <a:t>Restituer</a:t>
            </a:r>
          </a:p>
        </p:txBody>
      </p:sp>
      <p:sp>
        <p:nvSpPr>
          <p:cNvPr id="65" name="Rounded Rectangle 64"/>
          <p:cNvSpPr/>
          <p:nvPr/>
        </p:nvSpPr>
        <p:spPr>
          <a:xfrm>
            <a:off x="640080" y="4206240"/>
            <a:ext cx="5486400" cy="2011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914400" y="4407408"/>
            <a:ext cx="201168" cy="20116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88720" y="4389120"/>
            <a:ext cx="4663440" cy="365760"/>
          </a:xfrm>
          <a:prstGeom prst="rect">
            <a:avLst/>
          </a:prstGeom>
          <a:noFill/>
        </p:spPr>
        <p:txBody>
          <a:bodyPr wrap="square" lIns="0" rIns="0" tIns="0" bIns="0" anchor="t">
            <a:spAutoFit/>
          </a:bodyPr>
          <a:lstStyle/>
          <a:p>
            <a:pPr algn="l"/>
            <a:r>
              <a:rPr sz="1100" b="1" i="0">
                <a:solidFill>
                  <a:srgbClr val="10B981"/>
                </a:solidFill>
                <a:latin typeface="Calibri"/>
              </a:rPr>
              <a:t>APPROCHE DÉFENSIVE</a:t>
            </a:r>
          </a:p>
        </p:txBody>
      </p:sp>
      <p:sp>
        <p:nvSpPr>
          <p:cNvPr id="68" name="TextBox 67"/>
          <p:cNvSpPr txBox="1"/>
          <p:nvPr/>
        </p:nvSpPr>
        <p:spPr>
          <a:xfrm>
            <a:off x="914400" y="4754880"/>
            <a:ext cx="4937760" cy="1371600"/>
          </a:xfrm>
          <a:prstGeom prst="rect">
            <a:avLst/>
          </a:prstGeom>
          <a:noFill/>
        </p:spPr>
        <p:txBody>
          <a:bodyPr wrap="square" lIns="0" rIns="0" tIns="0" bIns="0" anchor="t">
            <a:spAutoFit/>
          </a:bodyPr>
          <a:lstStyle/>
          <a:p>
            <a:pPr algn="l">
              <a:lnSpc>
                <a:spcPct val="135000"/>
              </a:lnSpc>
            </a:pPr>
            <a:r>
              <a:rPr sz="1200" b="0" i="0">
                <a:solidFill>
                  <a:srgbClr val="94A3B8"/>
                </a:solidFill>
                <a:latin typeface="Calibri"/>
              </a:rPr>
              <a:t>•  Pas d'actions offensives</a:t>
            </a:r>
          </a:p>
          <a:p>
            <a:pPr algn="l">
              <a:lnSpc>
                <a:spcPct val="135000"/>
              </a:lnSpc>
            </a:pPr>
            <a:r>
              <a:rPr sz="1200" b="0" i="0">
                <a:solidFill>
                  <a:srgbClr val="94A3B8"/>
                </a:solidFill>
                <a:latin typeface="Calibri"/>
              </a:rPr>
              <a:t>•  Pas de scraping de dark web</a:t>
            </a:r>
          </a:p>
          <a:p>
            <a:pPr algn="l">
              <a:lnSpc>
                <a:spcPct val="135000"/>
              </a:lnSpc>
            </a:pPr>
            <a:r>
              <a:rPr sz="1200" b="0" i="0">
                <a:solidFill>
                  <a:srgbClr val="94A3B8"/>
                </a:solidFill>
                <a:latin typeface="Calibri"/>
              </a:rPr>
              <a:t>•  Pas de données volées</a:t>
            </a:r>
          </a:p>
          <a:p>
            <a:pPr algn="l">
              <a:lnSpc>
                <a:spcPct val="135000"/>
              </a:lnSpc>
            </a:pPr>
            <a:r>
              <a:rPr sz="1200" b="0" i="0">
                <a:solidFill>
                  <a:srgbClr val="94A3B8"/>
                </a:solidFill>
                <a:latin typeface="Calibri"/>
              </a:rPr>
              <a:t>•  Sources ouvertes &amp; autorisées uniquement</a:t>
            </a:r>
          </a:p>
        </p:txBody>
      </p:sp>
      <p:sp>
        <p:nvSpPr>
          <p:cNvPr id="69" name="TextBox 68"/>
          <p:cNvSpPr txBox="1"/>
          <p:nvPr/>
        </p:nvSpPr>
        <p:spPr>
          <a:xfrm>
            <a:off x="6400800" y="1417320"/>
            <a:ext cx="5166360" cy="365760"/>
          </a:xfrm>
          <a:prstGeom prst="rect">
            <a:avLst/>
          </a:prstGeom>
          <a:noFill/>
        </p:spPr>
        <p:txBody>
          <a:bodyPr wrap="square" lIns="0" rIns="0" tIns="0" bIns="0" anchor="t">
            <a:spAutoFit/>
          </a:bodyPr>
          <a:lstStyle/>
          <a:p>
            <a:pPr algn="l"/>
            <a:r>
              <a:rPr sz="1100" b="1" i="0">
                <a:solidFill>
                  <a:srgbClr val="3B82F6"/>
                </a:solidFill>
                <a:latin typeface="Calibri"/>
              </a:rPr>
              <a:t>PUBLIC CIBLE</a:t>
            </a:r>
          </a:p>
        </p:txBody>
      </p:sp>
      <p:sp>
        <p:nvSpPr>
          <p:cNvPr id="70" name="Rounded Rectangle 69"/>
          <p:cNvSpPr/>
          <p:nvPr/>
        </p:nvSpPr>
        <p:spPr>
          <a:xfrm>
            <a:off x="6400800" y="1828800"/>
            <a:ext cx="5166360" cy="9601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400800" y="1828800"/>
            <a:ext cx="73152" cy="9601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675120" y="1965960"/>
            <a:ext cx="4617720" cy="365760"/>
          </a:xfrm>
          <a:prstGeom prst="rect">
            <a:avLst/>
          </a:prstGeom>
          <a:noFill/>
        </p:spPr>
        <p:txBody>
          <a:bodyPr wrap="square" lIns="0" rIns="0" tIns="0" bIns="0" anchor="t">
            <a:spAutoFit/>
          </a:bodyPr>
          <a:lstStyle/>
          <a:p>
            <a:pPr algn="l"/>
            <a:r>
              <a:rPr sz="1400" b="1" i="0">
                <a:solidFill>
                  <a:srgbClr val="F8FAFC"/>
                </a:solidFill>
                <a:latin typeface="Calibri"/>
              </a:rPr>
              <a:t>Analyste SOC</a:t>
            </a:r>
          </a:p>
        </p:txBody>
      </p:sp>
      <p:sp>
        <p:nvSpPr>
          <p:cNvPr id="73" name="TextBox 72"/>
          <p:cNvSpPr txBox="1"/>
          <p:nvPr/>
        </p:nvSpPr>
        <p:spPr>
          <a:xfrm>
            <a:off x="6675120" y="2331720"/>
            <a:ext cx="4617720" cy="365760"/>
          </a:xfrm>
          <a:prstGeom prst="rect">
            <a:avLst/>
          </a:prstGeom>
          <a:noFill/>
        </p:spPr>
        <p:txBody>
          <a:bodyPr wrap="square" lIns="0" rIns="0" tIns="0" bIns="0" anchor="t">
            <a:spAutoFit/>
          </a:bodyPr>
          <a:lstStyle/>
          <a:p>
            <a:pPr algn="l"/>
            <a:r>
              <a:rPr sz="1100" b="0" i="0">
                <a:solidFill>
                  <a:srgbClr val="94A3B8"/>
                </a:solidFill>
                <a:latin typeface="Calibri"/>
              </a:rPr>
              <a:t>Veille quotidienne et triage des signaux</a:t>
            </a:r>
          </a:p>
        </p:txBody>
      </p:sp>
      <p:sp>
        <p:nvSpPr>
          <p:cNvPr id="74" name="Rounded Rectangle 73"/>
          <p:cNvSpPr/>
          <p:nvPr/>
        </p:nvSpPr>
        <p:spPr>
          <a:xfrm>
            <a:off x="6400800" y="2907792"/>
            <a:ext cx="5166360" cy="9601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400800" y="2907792"/>
            <a:ext cx="73152" cy="9601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675120" y="3044952"/>
            <a:ext cx="4617720" cy="365760"/>
          </a:xfrm>
          <a:prstGeom prst="rect">
            <a:avLst/>
          </a:prstGeom>
          <a:noFill/>
        </p:spPr>
        <p:txBody>
          <a:bodyPr wrap="square" lIns="0" rIns="0" tIns="0" bIns="0" anchor="t">
            <a:spAutoFit/>
          </a:bodyPr>
          <a:lstStyle/>
          <a:p>
            <a:pPr algn="l"/>
            <a:r>
              <a:rPr sz="1400" b="1" i="0">
                <a:solidFill>
                  <a:srgbClr val="F8FAFC"/>
                </a:solidFill>
                <a:latin typeface="Calibri"/>
              </a:rPr>
              <a:t>Responsable RSSI</a:t>
            </a:r>
          </a:p>
        </p:txBody>
      </p:sp>
      <p:sp>
        <p:nvSpPr>
          <p:cNvPr id="77" name="TextBox 76"/>
          <p:cNvSpPr txBox="1"/>
          <p:nvPr/>
        </p:nvSpPr>
        <p:spPr>
          <a:xfrm>
            <a:off x="6675120" y="3410712"/>
            <a:ext cx="4617720" cy="365760"/>
          </a:xfrm>
          <a:prstGeom prst="rect">
            <a:avLst/>
          </a:prstGeom>
          <a:noFill/>
        </p:spPr>
        <p:txBody>
          <a:bodyPr wrap="square" lIns="0" rIns="0" tIns="0" bIns="0" anchor="t">
            <a:spAutoFit/>
          </a:bodyPr>
          <a:lstStyle/>
          <a:p>
            <a:pPr algn="l"/>
            <a:r>
              <a:rPr sz="1100" b="0" i="0">
                <a:solidFill>
                  <a:srgbClr val="94A3B8"/>
                </a:solidFill>
                <a:latin typeface="Calibri"/>
              </a:rPr>
              <a:t>Suivi d'indicateurs de risque</a:t>
            </a:r>
          </a:p>
        </p:txBody>
      </p:sp>
      <p:sp>
        <p:nvSpPr>
          <p:cNvPr id="78" name="Rounded Rectangle 77"/>
          <p:cNvSpPr/>
          <p:nvPr/>
        </p:nvSpPr>
        <p:spPr>
          <a:xfrm>
            <a:off x="6400800" y="3986784"/>
            <a:ext cx="5166360" cy="9601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400800" y="3986784"/>
            <a:ext cx="73152"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675120" y="4123944"/>
            <a:ext cx="4617720" cy="365760"/>
          </a:xfrm>
          <a:prstGeom prst="rect">
            <a:avLst/>
          </a:prstGeom>
          <a:noFill/>
        </p:spPr>
        <p:txBody>
          <a:bodyPr wrap="square" lIns="0" rIns="0" tIns="0" bIns="0" anchor="t">
            <a:spAutoFit/>
          </a:bodyPr>
          <a:lstStyle/>
          <a:p>
            <a:pPr algn="l"/>
            <a:r>
              <a:rPr sz="1400" b="1" i="0">
                <a:solidFill>
                  <a:srgbClr val="F8FAFC"/>
                </a:solidFill>
                <a:latin typeface="Calibri"/>
              </a:rPr>
              <a:t>Enseignant / Chercheur</a:t>
            </a:r>
          </a:p>
        </p:txBody>
      </p:sp>
      <p:sp>
        <p:nvSpPr>
          <p:cNvPr id="81" name="TextBox 80"/>
          <p:cNvSpPr txBox="1"/>
          <p:nvPr/>
        </p:nvSpPr>
        <p:spPr>
          <a:xfrm>
            <a:off x="6675120" y="4489704"/>
            <a:ext cx="4617720" cy="365760"/>
          </a:xfrm>
          <a:prstGeom prst="rect">
            <a:avLst/>
          </a:prstGeom>
          <a:noFill/>
        </p:spPr>
        <p:txBody>
          <a:bodyPr wrap="square" lIns="0" rIns="0" tIns="0" bIns="0" anchor="t">
            <a:spAutoFit/>
          </a:bodyPr>
          <a:lstStyle/>
          <a:p>
            <a:pPr algn="l"/>
            <a:r>
              <a:rPr sz="1100" b="0" i="0">
                <a:solidFill>
                  <a:srgbClr val="94A3B8"/>
                </a:solidFill>
                <a:latin typeface="Calibri"/>
              </a:rPr>
              <a:t>Illustrer une chaîne OSINT complète</a:t>
            </a:r>
          </a:p>
        </p:txBody>
      </p:sp>
      <p:sp>
        <p:nvSpPr>
          <p:cNvPr id="82" name="Rounded Rectangle 81"/>
          <p:cNvSpPr/>
          <p:nvPr/>
        </p:nvSpPr>
        <p:spPr>
          <a:xfrm>
            <a:off x="6400800" y="5065776"/>
            <a:ext cx="5166360" cy="9601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400800" y="5065776"/>
            <a:ext cx="73152" cy="960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675120" y="5202936"/>
            <a:ext cx="4617720" cy="365760"/>
          </a:xfrm>
          <a:prstGeom prst="rect">
            <a:avLst/>
          </a:prstGeom>
          <a:noFill/>
        </p:spPr>
        <p:txBody>
          <a:bodyPr wrap="square" lIns="0" rIns="0" tIns="0" bIns="0" anchor="t">
            <a:spAutoFit/>
          </a:bodyPr>
          <a:lstStyle/>
          <a:p>
            <a:pPr algn="l"/>
            <a:r>
              <a:rPr sz="1400" b="1" i="0">
                <a:solidFill>
                  <a:srgbClr val="F8FAFC"/>
                </a:solidFill>
                <a:latin typeface="Calibri"/>
              </a:rPr>
              <a:t>Équipe projet</a:t>
            </a:r>
          </a:p>
        </p:txBody>
      </p:sp>
      <p:sp>
        <p:nvSpPr>
          <p:cNvPr id="85" name="TextBox 84"/>
          <p:cNvSpPr txBox="1"/>
          <p:nvPr/>
        </p:nvSpPr>
        <p:spPr>
          <a:xfrm>
            <a:off x="6675120" y="5568696"/>
            <a:ext cx="4617720" cy="365760"/>
          </a:xfrm>
          <a:prstGeom prst="rect">
            <a:avLst/>
          </a:prstGeom>
          <a:noFill/>
        </p:spPr>
        <p:txBody>
          <a:bodyPr wrap="square" lIns="0" rIns="0" tIns="0" bIns="0" anchor="t">
            <a:spAutoFit/>
          </a:bodyPr>
          <a:lstStyle/>
          <a:p>
            <a:pPr algn="l"/>
            <a:r>
              <a:rPr sz="1100" b="0" i="0">
                <a:solidFill>
                  <a:srgbClr val="94A3B8"/>
                </a:solidFill>
                <a:latin typeface="Calibri"/>
              </a:rPr>
              <a:t>Architecture de veille expérimentale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DATA BREACH &amp; THREAT INTELLIGENCE PLATFORM  /  EXECUTIVE BRIEFING</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Architecture &amp; sources intégrées</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06B6D4"/>
                </a:solidFill>
                <a:latin typeface="Calibri"/>
              </a:rPr>
              <a:t>HAMZA</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05 / 19</a:t>
            </a:r>
          </a:p>
        </p:txBody>
      </p:sp>
      <p:sp>
        <p:nvSpPr>
          <p:cNvPr id="55" name="TextBox 54"/>
          <p:cNvSpPr txBox="1"/>
          <p:nvPr/>
        </p:nvSpPr>
        <p:spPr>
          <a:xfrm>
            <a:off x="640080" y="1417320"/>
            <a:ext cx="6400800" cy="365760"/>
          </a:xfrm>
          <a:prstGeom prst="rect">
            <a:avLst/>
          </a:prstGeom>
          <a:noFill/>
        </p:spPr>
        <p:txBody>
          <a:bodyPr wrap="square" lIns="0" rIns="0" tIns="0" bIns="0" anchor="t">
            <a:spAutoFit/>
          </a:bodyPr>
          <a:lstStyle/>
          <a:p>
            <a:pPr algn="l"/>
            <a:r>
              <a:rPr sz="1000" b="1" i="0">
                <a:solidFill>
                  <a:srgbClr val="3B82F6"/>
                </a:solidFill>
                <a:latin typeface="Calibri"/>
              </a:rPr>
              <a:t>PIPELINE GLOBAL</a:t>
            </a:r>
          </a:p>
        </p:txBody>
      </p:sp>
      <p:sp>
        <p:nvSpPr>
          <p:cNvPr id="56" name="Rounded Rectangle 55"/>
          <p:cNvSpPr/>
          <p:nvPr/>
        </p:nvSpPr>
        <p:spPr>
          <a:xfrm>
            <a:off x="640080" y="1783080"/>
            <a:ext cx="7315200" cy="4114800"/>
          </a:xfrm>
          <a:prstGeom prst="roundRect">
            <a:avLst>
              <a:gd name="adj" fmla="val 8000"/>
            </a:avLst>
          </a:prstGeom>
          <a:solidFill>
            <a:srgbClr val="0C121F"/>
          </a:solidFill>
          <a:ln w="9525">
            <a:solidFill>
              <a:srgbClr val="1C28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diagramme_concep.png"/>
          <p:cNvPicPr>
            <a:picLocks noChangeAspect="1"/>
          </p:cNvPicPr>
          <p:nvPr/>
        </p:nvPicPr>
        <p:blipFill>
          <a:blip r:embed="rId2"/>
          <a:stretch>
            <a:fillRect/>
          </a:stretch>
        </p:blipFill>
        <p:spPr>
          <a:xfrm>
            <a:off x="731520" y="1874519"/>
            <a:ext cx="7132320" cy="4754880"/>
          </a:xfrm>
          <a:prstGeom prst="rect">
            <a:avLst/>
          </a:prstGeom>
        </p:spPr>
      </p:pic>
      <p:sp>
        <p:nvSpPr>
          <p:cNvPr id="58" name="TextBox 57"/>
          <p:cNvSpPr txBox="1"/>
          <p:nvPr/>
        </p:nvSpPr>
        <p:spPr>
          <a:xfrm>
            <a:off x="8229600" y="1417320"/>
            <a:ext cx="3474720" cy="365760"/>
          </a:xfrm>
          <a:prstGeom prst="rect">
            <a:avLst/>
          </a:prstGeom>
          <a:noFill/>
        </p:spPr>
        <p:txBody>
          <a:bodyPr wrap="square" lIns="0" rIns="0" tIns="0" bIns="0" anchor="t">
            <a:spAutoFit/>
          </a:bodyPr>
          <a:lstStyle/>
          <a:p>
            <a:pPr algn="l"/>
            <a:r>
              <a:rPr sz="1000" b="1" i="0">
                <a:solidFill>
                  <a:srgbClr val="3B82F6"/>
                </a:solidFill>
                <a:latin typeface="Calibri"/>
              </a:rPr>
              <a:t>SOURCES</a:t>
            </a:r>
          </a:p>
        </p:txBody>
      </p:sp>
      <p:sp>
        <p:nvSpPr>
          <p:cNvPr id="59" name="Rounded Rectangle 58"/>
          <p:cNvSpPr/>
          <p:nvPr/>
        </p:nvSpPr>
        <p:spPr>
          <a:xfrm>
            <a:off x="8229600" y="1783080"/>
            <a:ext cx="3474720" cy="77724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29600" y="1783080"/>
            <a:ext cx="54864" cy="7772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58200" y="1920240"/>
            <a:ext cx="3017520" cy="274320"/>
          </a:xfrm>
          <a:prstGeom prst="rect">
            <a:avLst/>
          </a:prstGeom>
          <a:noFill/>
        </p:spPr>
        <p:txBody>
          <a:bodyPr wrap="square" lIns="0" rIns="0" tIns="0" bIns="0" anchor="t">
            <a:spAutoFit/>
          </a:bodyPr>
          <a:lstStyle/>
          <a:p>
            <a:pPr algn="l"/>
            <a:r>
              <a:rPr sz="1300" b="1" i="0">
                <a:solidFill>
                  <a:srgbClr val="3B82F6"/>
                </a:solidFill>
                <a:latin typeface="Calibri"/>
              </a:rPr>
              <a:t>GitHub</a:t>
            </a:r>
          </a:p>
        </p:txBody>
      </p:sp>
      <p:sp>
        <p:nvSpPr>
          <p:cNvPr id="62" name="TextBox 61"/>
          <p:cNvSpPr txBox="1"/>
          <p:nvPr/>
        </p:nvSpPr>
        <p:spPr>
          <a:xfrm>
            <a:off x="8458200" y="2194560"/>
            <a:ext cx="3017520" cy="274320"/>
          </a:xfrm>
          <a:prstGeom prst="rect">
            <a:avLst/>
          </a:prstGeom>
          <a:noFill/>
        </p:spPr>
        <p:txBody>
          <a:bodyPr wrap="square" lIns="0" rIns="0" tIns="0" bIns="0" anchor="t">
            <a:spAutoFit/>
          </a:bodyPr>
          <a:lstStyle/>
          <a:p>
            <a:pPr algn="l"/>
            <a:r>
              <a:rPr sz="1000" b="0" i="0">
                <a:solidFill>
                  <a:srgbClr val="94A3B8"/>
                </a:solidFill>
                <a:latin typeface="Calibri"/>
              </a:rPr>
              <a:t>Preuves techniques</a:t>
            </a:r>
          </a:p>
        </p:txBody>
      </p:sp>
      <p:sp>
        <p:nvSpPr>
          <p:cNvPr id="63" name="Rounded Rectangle 62"/>
          <p:cNvSpPr/>
          <p:nvPr/>
        </p:nvSpPr>
        <p:spPr>
          <a:xfrm>
            <a:off x="8229600" y="2651760"/>
            <a:ext cx="3474720" cy="77724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229600" y="2651760"/>
            <a:ext cx="54864" cy="7772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58200" y="2788920"/>
            <a:ext cx="3017520" cy="274320"/>
          </a:xfrm>
          <a:prstGeom prst="rect">
            <a:avLst/>
          </a:prstGeom>
          <a:noFill/>
        </p:spPr>
        <p:txBody>
          <a:bodyPr wrap="square" lIns="0" rIns="0" tIns="0" bIns="0" anchor="t">
            <a:spAutoFit/>
          </a:bodyPr>
          <a:lstStyle/>
          <a:p>
            <a:pPr algn="l"/>
            <a:r>
              <a:rPr sz="1300" b="1" i="0">
                <a:solidFill>
                  <a:srgbClr val="14B8A6"/>
                </a:solidFill>
                <a:latin typeface="Calibri"/>
              </a:rPr>
              <a:t>Telegram</a:t>
            </a:r>
          </a:p>
        </p:txBody>
      </p:sp>
      <p:sp>
        <p:nvSpPr>
          <p:cNvPr id="66" name="TextBox 65"/>
          <p:cNvSpPr txBox="1"/>
          <p:nvPr/>
        </p:nvSpPr>
        <p:spPr>
          <a:xfrm>
            <a:off x="8458200" y="3063240"/>
            <a:ext cx="3017520" cy="274320"/>
          </a:xfrm>
          <a:prstGeom prst="rect">
            <a:avLst/>
          </a:prstGeom>
          <a:noFill/>
        </p:spPr>
        <p:txBody>
          <a:bodyPr wrap="square" lIns="0" rIns="0" tIns="0" bIns="0" anchor="t">
            <a:spAutoFit/>
          </a:bodyPr>
          <a:lstStyle/>
          <a:p>
            <a:pPr algn="l"/>
            <a:r>
              <a:rPr sz="1000" b="0" i="0">
                <a:solidFill>
                  <a:srgbClr val="94A3B8"/>
                </a:solidFill>
                <a:latin typeface="Calibri"/>
              </a:rPr>
              <a:t>Signaux OSINT</a:t>
            </a:r>
          </a:p>
        </p:txBody>
      </p:sp>
      <p:sp>
        <p:nvSpPr>
          <p:cNvPr id="67" name="Rounded Rectangle 66"/>
          <p:cNvSpPr/>
          <p:nvPr/>
        </p:nvSpPr>
        <p:spPr>
          <a:xfrm>
            <a:off x="8229600" y="3520440"/>
            <a:ext cx="3474720" cy="77724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229600" y="3520440"/>
            <a:ext cx="54864"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58200" y="3657600"/>
            <a:ext cx="3017520" cy="274320"/>
          </a:xfrm>
          <a:prstGeom prst="rect">
            <a:avLst/>
          </a:prstGeom>
          <a:noFill/>
        </p:spPr>
        <p:txBody>
          <a:bodyPr wrap="square" lIns="0" rIns="0" tIns="0" bIns="0" anchor="t">
            <a:spAutoFit/>
          </a:bodyPr>
          <a:lstStyle/>
          <a:p>
            <a:pPr algn="l"/>
            <a:r>
              <a:rPr sz="1300" b="1" i="0">
                <a:solidFill>
                  <a:srgbClr val="F59E0B"/>
                </a:solidFill>
                <a:latin typeface="Calibri"/>
              </a:rPr>
              <a:t>Google Alerts</a:t>
            </a:r>
          </a:p>
        </p:txBody>
      </p:sp>
      <p:sp>
        <p:nvSpPr>
          <p:cNvPr id="70" name="TextBox 69"/>
          <p:cNvSpPr txBox="1"/>
          <p:nvPr/>
        </p:nvSpPr>
        <p:spPr>
          <a:xfrm>
            <a:off x="8458200" y="3931920"/>
            <a:ext cx="3017520" cy="274320"/>
          </a:xfrm>
          <a:prstGeom prst="rect">
            <a:avLst/>
          </a:prstGeom>
          <a:noFill/>
        </p:spPr>
        <p:txBody>
          <a:bodyPr wrap="square" lIns="0" rIns="0" tIns="0" bIns="0" anchor="t">
            <a:spAutoFit/>
          </a:bodyPr>
          <a:lstStyle/>
          <a:p>
            <a:pPr algn="l"/>
            <a:r>
              <a:rPr sz="1000" b="0" i="0">
                <a:solidFill>
                  <a:srgbClr val="94A3B8"/>
                </a:solidFill>
                <a:latin typeface="Calibri"/>
              </a:rPr>
              <a:t>Veille médiatique</a:t>
            </a:r>
          </a:p>
        </p:txBody>
      </p:sp>
      <p:sp>
        <p:nvSpPr>
          <p:cNvPr id="71" name="Rounded Rectangle 70"/>
          <p:cNvSpPr/>
          <p:nvPr/>
        </p:nvSpPr>
        <p:spPr>
          <a:xfrm>
            <a:off x="8229600" y="4389120"/>
            <a:ext cx="3474720" cy="77724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229600" y="4389120"/>
            <a:ext cx="54864" cy="77724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58200" y="4526280"/>
            <a:ext cx="3017520" cy="274320"/>
          </a:xfrm>
          <a:prstGeom prst="rect">
            <a:avLst/>
          </a:prstGeom>
          <a:noFill/>
        </p:spPr>
        <p:txBody>
          <a:bodyPr wrap="square" lIns="0" rIns="0" tIns="0" bIns="0" anchor="t">
            <a:spAutoFit/>
          </a:bodyPr>
          <a:lstStyle/>
          <a:p>
            <a:pPr algn="l"/>
            <a:r>
              <a:rPr sz="1300" b="1" i="0">
                <a:solidFill>
                  <a:srgbClr val="8B5CF6"/>
                </a:solidFill>
                <a:latin typeface="Calibri"/>
              </a:rPr>
              <a:t>CVE / BI</a:t>
            </a:r>
          </a:p>
        </p:txBody>
      </p:sp>
      <p:sp>
        <p:nvSpPr>
          <p:cNvPr id="74" name="TextBox 73"/>
          <p:cNvSpPr txBox="1"/>
          <p:nvPr/>
        </p:nvSpPr>
        <p:spPr>
          <a:xfrm>
            <a:off x="8458200" y="4800600"/>
            <a:ext cx="3017520" cy="274320"/>
          </a:xfrm>
          <a:prstGeom prst="rect">
            <a:avLst/>
          </a:prstGeom>
          <a:noFill/>
        </p:spPr>
        <p:txBody>
          <a:bodyPr wrap="square" lIns="0" rIns="0" tIns="0" bIns="0" anchor="t">
            <a:spAutoFit/>
          </a:bodyPr>
          <a:lstStyle/>
          <a:p>
            <a:pPr algn="l"/>
            <a:r>
              <a:rPr sz="1000" b="0" i="0">
                <a:solidFill>
                  <a:srgbClr val="94A3B8"/>
                </a:solidFill>
                <a:latin typeface="Calibri"/>
              </a:rPr>
              <a:t>Vulnérabilités</a:t>
            </a:r>
          </a:p>
        </p:txBody>
      </p:sp>
      <p:sp>
        <p:nvSpPr>
          <p:cNvPr id="75" name="TextBox 74"/>
          <p:cNvSpPr txBox="1"/>
          <p:nvPr/>
        </p:nvSpPr>
        <p:spPr>
          <a:xfrm>
            <a:off x="8229600" y="5303520"/>
            <a:ext cx="3474720" cy="274320"/>
          </a:xfrm>
          <a:prstGeom prst="rect">
            <a:avLst/>
          </a:prstGeom>
          <a:noFill/>
        </p:spPr>
        <p:txBody>
          <a:bodyPr wrap="square" lIns="0" rIns="0" tIns="0" bIns="0" anchor="t">
            <a:spAutoFit/>
          </a:bodyPr>
          <a:lstStyle/>
          <a:p>
            <a:pPr algn="l"/>
            <a:r>
              <a:rPr sz="900" b="1" i="0">
                <a:solidFill>
                  <a:srgbClr val="64748B"/>
                </a:solidFill>
                <a:latin typeface="Calibri"/>
              </a:rPr>
              <a:t>PRINCIPES</a:t>
            </a:r>
          </a:p>
        </p:txBody>
      </p:sp>
      <p:sp>
        <p:nvSpPr>
          <p:cNvPr id="76" name="Rounded Rectangle 75"/>
          <p:cNvSpPr/>
          <p:nvPr/>
        </p:nvSpPr>
        <p:spPr>
          <a:xfrm>
            <a:off x="8229600" y="5577840"/>
            <a:ext cx="3474720" cy="256032"/>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800" b="0">
                <a:solidFill>
                  <a:srgbClr val="F8FAFC"/>
                </a:solidFill>
                <a:latin typeface="Calibri"/>
              </a:rPr>
              <a:t>Séparation des responsabilités</a:t>
            </a:r>
          </a:p>
        </p:txBody>
      </p:sp>
      <p:sp>
        <p:nvSpPr>
          <p:cNvPr id="77" name="Rounded Rectangle 76"/>
          <p:cNvSpPr/>
          <p:nvPr/>
        </p:nvSpPr>
        <p:spPr>
          <a:xfrm>
            <a:off x="8229600" y="5897880"/>
            <a:ext cx="3474720" cy="256032"/>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800" b="0">
                <a:solidFill>
                  <a:srgbClr val="F8FAFC"/>
                </a:solidFill>
                <a:latin typeface="Calibri"/>
              </a:rPr>
              <a:t>Config externalisée</a:t>
            </a:r>
          </a:p>
        </p:txBody>
      </p:sp>
      <p:sp>
        <p:nvSpPr>
          <p:cNvPr id="78" name="Rounded Rectangle 77"/>
          <p:cNvSpPr/>
          <p:nvPr/>
        </p:nvSpPr>
        <p:spPr>
          <a:xfrm>
            <a:off x="8229600" y="6217920"/>
            <a:ext cx="3474720" cy="256032"/>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800" b="0">
                <a:solidFill>
                  <a:srgbClr val="F8FAFC"/>
                </a:solidFill>
                <a:latin typeface="Calibri"/>
              </a:rPr>
              <a:t>Approche défensive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APERÇU EXCLUSIF</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Démo globale — la plateforme en action</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06B6D4"/>
                </a:solidFill>
                <a:latin typeface="Calibri"/>
              </a:rPr>
              <a:t>HAMZA</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06 / 19</a:t>
            </a:r>
          </a:p>
        </p:txBody>
      </p:sp>
      <p:sp>
        <p:nvSpPr>
          <p:cNvPr id="55" name="Rounded Rectangle 54"/>
          <p:cNvSpPr/>
          <p:nvPr/>
        </p:nvSpPr>
        <p:spPr>
          <a:xfrm>
            <a:off x="502920" y="1325880"/>
            <a:ext cx="1280160" cy="329184"/>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F8FAFC"/>
                </a:solidFill>
                <a:latin typeface="Calibri"/>
              </a:rPr>
              <a:t>● LIVE DEMO</a:t>
            </a:r>
          </a:p>
        </p:txBody>
      </p:sp>
      <p:sp>
        <p:nvSpPr>
          <p:cNvPr id="56" name="TextBox 55"/>
          <p:cNvSpPr txBox="1"/>
          <p:nvPr/>
        </p:nvSpPr>
        <p:spPr>
          <a:xfrm>
            <a:off x="1920240" y="1325880"/>
            <a:ext cx="7315200" cy="329184"/>
          </a:xfrm>
          <a:prstGeom prst="rect">
            <a:avLst/>
          </a:prstGeom>
          <a:noFill/>
        </p:spPr>
        <p:txBody>
          <a:bodyPr wrap="square" lIns="0" rIns="0" tIns="0" bIns="0" anchor="ctr">
            <a:spAutoFit/>
          </a:bodyPr>
          <a:lstStyle/>
          <a:p>
            <a:pPr algn="l"/>
            <a:r>
              <a:rPr sz="1300" b="0" i="1">
                <a:solidFill>
                  <a:srgbClr val="94A3B8"/>
                </a:solidFill>
                <a:latin typeface="Calibri"/>
              </a:rPr>
              <a:t>Environnement unifié pour l'analyste cyber</a:t>
            </a:r>
          </a:p>
        </p:txBody>
      </p:sp>
      <p:sp>
        <p:nvSpPr>
          <p:cNvPr id="57" name="Rounded Rectangle 56"/>
          <p:cNvSpPr/>
          <p:nvPr/>
        </p:nvSpPr>
        <p:spPr>
          <a:xfrm>
            <a:off x="365760" y="1783080"/>
            <a:ext cx="7269480" cy="42062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365760" y="1783080"/>
            <a:ext cx="7269480" cy="22860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75488" y="1856232"/>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612648" y="1856232"/>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49808" y="1856232"/>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14400" y="1783080"/>
            <a:ext cx="6629400" cy="228600"/>
          </a:xfrm>
          <a:prstGeom prst="rect">
            <a:avLst/>
          </a:prstGeom>
          <a:noFill/>
        </p:spPr>
        <p:txBody>
          <a:bodyPr wrap="square" lIns="0" rIns="0" tIns="0" bIns="0" anchor="ctr">
            <a:spAutoFit/>
          </a:bodyPr>
          <a:lstStyle/>
          <a:p>
            <a:pPr algn="l"/>
            <a:r>
              <a:rPr sz="800" b="0" i="0">
                <a:solidFill>
                  <a:srgbClr val="64748B"/>
                </a:solidFill>
                <a:latin typeface="Consolas"/>
              </a:rPr>
              <a:t>dbm.soc.local/overview</a:t>
            </a:r>
          </a:p>
        </p:txBody>
      </p:sp>
      <p:pic>
        <p:nvPicPr>
          <p:cNvPr id="63" name="Picture 62" descr="overview.png"/>
          <p:cNvPicPr>
            <a:picLocks noChangeAspect="1"/>
          </p:cNvPicPr>
          <p:nvPr/>
        </p:nvPicPr>
        <p:blipFill>
          <a:blip r:embed="rId2"/>
          <a:stretch>
            <a:fillRect/>
          </a:stretch>
        </p:blipFill>
        <p:spPr>
          <a:xfrm>
            <a:off x="411480" y="2057400"/>
            <a:ext cx="7178040" cy="4032733"/>
          </a:xfrm>
          <a:prstGeom prst="rect">
            <a:avLst/>
          </a:prstGeom>
        </p:spPr>
      </p:pic>
      <p:sp>
        <p:nvSpPr>
          <p:cNvPr id="64" name="TextBox 63"/>
          <p:cNvSpPr txBox="1"/>
          <p:nvPr/>
        </p:nvSpPr>
        <p:spPr>
          <a:xfrm>
            <a:off x="365760" y="6035040"/>
            <a:ext cx="7269480" cy="274320"/>
          </a:xfrm>
          <a:prstGeom prst="rect">
            <a:avLst/>
          </a:prstGeom>
          <a:noFill/>
        </p:spPr>
        <p:txBody>
          <a:bodyPr wrap="square" lIns="0" rIns="0" tIns="0" bIns="0" anchor="t">
            <a:spAutoFit/>
          </a:bodyPr>
          <a:lstStyle/>
          <a:p>
            <a:pPr algn="ctr"/>
            <a:r>
              <a:rPr sz="900" b="0" i="1">
                <a:solidFill>
                  <a:srgbClr val="64748B"/>
                </a:solidFill>
                <a:latin typeface="Calibri"/>
              </a:rPr>
              <a:t>Vue d'ensemble — supervision unifiée des sources</a:t>
            </a:r>
          </a:p>
        </p:txBody>
      </p:sp>
      <p:sp>
        <p:nvSpPr>
          <p:cNvPr id="65" name="TextBox 64"/>
          <p:cNvSpPr txBox="1"/>
          <p:nvPr/>
        </p:nvSpPr>
        <p:spPr>
          <a:xfrm>
            <a:off x="7818120" y="1783080"/>
            <a:ext cx="4023360" cy="365760"/>
          </a:xfrm>
          <a:prstGeom prst="rect">
            <a:avLst/>
          </a:prstGeom>
          <a:noFill/>
        </p:spPr>
        <p:txBody>
          <a:bodyPr wrap="square" lIns="0" rIns="0" tIns="0" bIns="0" anchor="t">
            <a:spAutoFit/>
          </a:bodyPr>
          <a:lstStyle/>
          <a:p>
            <a:pPr algn="l"/>
            <a:r>
              <a:rPr sz="1000" b="1" i="0">
                <a:solidFill>
                  <a:srgbClr val="3B82F6"/>
                </a:solidFill>
                <a:latin typeface="Calibri"/>
              </a:rPr>
              <a:t>L'ANALYSTE PEUT :</a:t>
            </a:r>
          </a:p>
        </p:txBody>
      </p:sp>
      <p:sp>
        <p:nvSpPr>
          <p:cNvPr id="66" name="Rounded Rectangle 65"/>
          <p:cNvSpPr/>
          <p:nvPr/>
        </p:nvSpPr>
        <p:spPr>
          <a:xfrm>
            <a:off x="7818120" y="2194560"/>
            <a:ext cx="4023360" cy="7315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818120" y="2194560"/>
            <a:ext cx="73152" cy="7315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8046720" y="2395728"/>
            <a:ext cx="365760" cy="365760"/>
          </a:xfrm>
          <a:prstGeom prst="roundRect">
            <a:avLst>
              <a:gd name="adj" fmla="val 25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549640" y="2286000"/>
            <a:ext cx="3154680" cy="320040"/>
          </a:xfrm>
          <a:prstGeom prst="rect">
            <a:avLst/>
          </a:prstGeom>
          <a:noFill/>
        </p:spPr>
        <p:txBody>
          <a:bodyPr wrap="square" lIns="0" rIns="0" tIns="0" bIns="0" anchor="t">
            <a:spAutoFit/>
          </a:bodyPr>
          <a:lstStyle/>
          <a:p>
            <a:pPr algn="l"/>
            <a:r>
              <a:rPr sz="1100" b="1" i="0">
                <a:solidFill>
                  <a:srgbClr val="F8FAFC"/>
                </a:solidFill>
                <a:latin typeface="Calibri"/>
              </a:rPr>
              <a:t>Scanner les fuites de secrets</a:t>
            </a:r>
          </a:p>
        </p:txBody>
      </p:sp>
      <p:sp>
        <p:nvSpPr>
          <p:cNvPr id="70" name="TextBox 69"/>
          <p:cNvSpPr txBox="1"/>
          <p:nvPr/>
        </p:nvSpPr>
        <p:spPr>
          <a:xfrm>
            <a:off x="8549640" y="2578608"/>
            <a:ext cx="3154680" cy="292608"/>
          </a:xfrm>
          <a:prstGeom prst="rect">
            <a:avLst/>
          </a:prstGeom>
          <a:noFill/>
        </p:spPr>
        <p:txBody>
          <a:bodyPr wrap="square" lIns="0" rIns="0" tIns="0" bIns="0" anchor="t">
            <a:spAutoFit/>
          </a:bodyPr>
          <a:lstStyle/>
          <a:p>
            <a:pPr algn="l"/>
            <a:r>
              <a:rPr sz="900" b="0" i="0">
                <a:solidFill>
                  <a:srgbClr val="94A3B8"/>
                </a:solidFill>
                <a:latin typeface="Calibri"/>
              </a:rPr>
              <a:t>.env, tokens, clés API sur GitHub</a:t>
            </a:r>
          </a:p>
        </p:txBody>
      </p:sp>
      <p:sp>
        <p:nvSpPr>
          <p:cNvPr id="71" name="Rounded Rectangle 70"/>
          <p:cNvSpPr/>
          <p:nvPr/>
        </p:nvSpPr>
        <p:spPr>
          <a:xfrm>
            <a:off x="7818120" y="2980944"/>
            <a:ext cx="4023360" cy="7315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818120" y="2980944"/>
            <a:ext cx="73152" cy="7315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8046720" y="3182112"/>
            <a:ext cx="365760" cy="365760"/>
          </a:xfrm>
          <a:prstGeom prst="roundRect">
            <a:avLst>
              <a:gd name="adj" fmla="val 25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549640" y="3072384"/>
            <a:ext cx="3154680" cy="320040"/>
          </a:xfrm>
          <a:prstGeom prst="rect">
            <a:avLst/>
          </a:prstGeom>
          <a:noFill/>
        </p:spPr>
        <p:txBody>
          <a:bodyPr wrap="square" lIns="0" rIns="0" tIns="0" bIns="0" anchor="t">
            <a:spAutoFit/>
          </a:bodyPr>
          <a:lstStyle/>
          <a:p>
            <a:pPr algn="l"/>
            <a:r>
              <a:rPr sz="1100" b="1" i="0">
                <a:solidFill>
                  <a:srgbClr val="F8FAFC"/>
                </a:solidFill>
                <a:latin typeface="Calibri"/>
              </a:rPr>
              <a:t>Surveiller les canaux Telegram</a:t>
            </a:r>
          </a:p>
        </p:txBody>
      </p:sp>
      <p:sp>
        <p:nvSpPr>
          <p:cNvPr id="75" name="TextBox 74"/>
          <p:cNvSpPr txBox="1"/>
          <p:nvPr/>
        </p:nvSpPr>
        <p:spPr>
          <a:xfrm>
            <a:off x="8549640" y="3364992"/>
            <a:ext cx="3154680" cy="292608"/>
          </a:xfrm>
          <a:prstGeom prst="rect">
            <a:avLst/>
          </a:prstGeom>
          <a:noFill/>
        </p:spPr>
        <p:txBody>
          <a:bodyPr wrap="square" lIns="0" rIns="0" tIns="0" bIns="0" anchor="t">
            <a:spAutoFit/>
          </a:bodyPr>
          <a:lstStyle/>
          <a:p>
            <a:pPr algn="l"/>
            <a:r>
              <a:rPr sz="900" b="0" i="0">
                <a:solidFill>
                  <a:srgbClr val="94A3B8"/>
                </a:solidFill>
                <a:latin typeface="Calibri"/>
              </a:rPr>
              <a:t>CVE &amp; annonces de fuites publiques</a:t>
            </a:r>
          </a:p>
        </p:txBody>
      </p:sp>
      <p:sp>
        <p:nvSpPr>
          <p:cNvPr id="76" name="Rounded Rectangle 75"/>
          <p:cNvSpPr/>
          <p:nvPr/>
        </p:nvSpPr>
        <p:spPr>
          <a:xfrm>
            <a:off x="7818120" y="3767328"/>
            <a:ext cx="4023360" cy="7315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7818120" y="3767328"/>
            <a:ext cx="73152" cy="7315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8046720" y="3968496"/>
            <a:ext cx="365760" cy="365760"/>
          </a:xfrm>
          <a:prstGeom prst="roundRect">
            <a:avLst>
              <a:gd name="adj" fmla="val 2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549640" y="3858768"/>
            <a:ext cx="3154680" cy="320040"/>
          </a:xfrm>
          <a:prstGeom prst="rect">
            <a:avLst/>
          </a:prstGeom>
          <a:noFill/>
        </p:spPr>
        <p:txBody>
          <a:bodyPr wrap="square" lIns="0" rIns="0" tIns="0" bIns="0" anchor="t">
            <a:spAutoFit/>
          </a:bodyPr>
          <a:lstStyle/>
          <a:p>
            <a:pPr algn="l"/>
            <a:r>
              <a:rPr sz="1100" b="1" i="0">
                <a:solidFill>
                  <a:srgbClr val="F8FAFC"/>
                </a:solidFill>
                <a:latin typeface="Calibri"/>
              </a:rPr>
              <a:t>Visualiser les actualités cyber</a:t>
            </a:r>
          </a:p>
        </p:txBody>
      </p:sp>
      <p:sp>
        <p:nvSpPr>
          <p:cNvPr id="80" name="TextBox 79"/>
          <p:cNvSpPr txBox="1"/>
          <p:nvPr/>
        </p:nvSpPr>
        <p:spPr>
          <a:xfrm>
            <a:off x="8549640" y="4151376"/>
            <a:ext cx="3154680" cy="292608"/>
          </a:xfrm>
          <a:prstGeom prst="rect">
            <a:avLst/>
          </a:prstGeom>
          <a:noFill/>
        </p:spPr>
        <p:txBody>
          <a:bodyPr wrap="square" lIns="0" rIns="0" tIns="0" bIns="0" anchor="t">
            <a:spAutoFit/>
          </a:bodyPr>
          <a:lstStyle/>
          <a:p>
            <a:pPr algn="l"/>
            <a:r>
              <a:rPr sz="900" b="0" i="0">
                <a:solidFill>
                  <a:srgbClr val="94A3B8"/>
                </a:solidFill>
                <a:latin typeface="Calibri"/>
              </a:rPr>
              <a:t>16 alertes Google catégorisées</a:t>
            </a:r>
          </a:p>
        </p:txBody>
      </p:sp>
      <p:sp>
        <p:nvSpPr>
          <p:cNvPr id="81" name="Rounded Rectangle 80"/>
          <p:cNvSpPr/>
          <p:nvPr/>
        </p:nvSpPr>
        <p:spPr>
          <a:xfrm>
            <a:off x="7818120" y="4553712"/>
            <a:ext cx="4023360" cy="7315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818120" y="4553712"/>
            <a:ext cx="73152" cy="7315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8046720" y="4754880"/>
            <a:ext cx="365760" cy="365760"/>
          </a:xfrm>
          <a:prstGeom prst="roundRect">
            <a:avLst>
              <a:gd name="adj" fmla="val 25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549640" y="4645152"/>
            <a:ext cx="3154680" cy="320040"/>
          </a:xfrm>
          <a:prstGeom prst="rect">
            <a:avLst/>
          </a:prstGeom>
          <a:noFill/>
        </p:spPr>
        <p:txBody>
          <a:bodyPr wrap="square" lIns="0" rIns="0" tIns="0" bIns="0" anchor="t">
            <a:spAutoFit/>
          </a:bodyPr>
          <a:lstStyle/>
          <a:p>
            <a:pPr algn="l"/>
            <a:r>
              <a:rPr sz="1100" b="1" i="0">
                <a:solidFill>
                  <a:srgbClr val="F8FAFC"/>
                </a:solidFill>
                <a:latin typeface="Calibri"/>
              </a:rPr>
              <a:t>Explorer les CVE en BI</a:t>
            </a:r>
          </a:p>
        </p:txBody>
      </p:sp>
      <p:sp>
        <p:nvSpPr>
          <p:cNvPr id="85" name="TextBox 84"/>
          <p:cNvSpPr txBox="1"/>
          <p:nvPr/>
        </p:nvSpPr>
        <p:spPr>
          <a:xfrm>
            <a:off x="8549640" y="4937760"/>
            <a:ext cx="3154680" cy="292608"/>
          </a:xfrm>
          <a:prstGeom prst="rect">
            <a:avLst/>
          </a:prstGeom>
          <a:noFill/>
        </p:spPr>
        <p:txBody>
          <a:bodyPr wrap="square" lIns="0" rIns="0" tIns="0" bIns="0" anchor="t">
            <a:spAutoFit/>
          </a:bodyPr>
          <a:lstStyle/>
          <a:p>
            <a:pPr algn="l"/>
            <a:r>
              <a:rPr sz="900" b="0" i="0">
                <a:solidFill>
                  <a:srgbClr val="94A3B8"/>
                </a:solidFill>
                <a:latin typeface="Calibri"/>
              </a:rPr>
              <a:t>3 dashboards Power BI interactifs</a:t>
            </a:r>
          </a:p>
        </p:txBody>
      </p:sp>
      <p:sp>
        <p:nvSpPr>
          <p:cNvPr id="86" name="Rounded Rectangle 85"/>
          <p:cNvSpPr/>
          <p:nvPr/>
        </p:nvSpPr>
        <p:spPr>
          <a:xfrm>
            <a:off x="7818120" y="5340096"/>
            <a:ext cx="4023360" cy="7315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7818120" y="5340096"/>
            <a:ext cx="73152" cy="7315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8046720" y="5541264"/>
            <a:ext cx="365760" cy="365760"/>
          </a:xfrm>
          <a:prstGeom prst="roundRect">
            <a:avLst>
              <a:gd name="adj" fmla="val 25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549640" y="5431536"/>
            <a:ext cx="3154680" cy="320040"/>
          </a:xfrm>
          <a:prstGeom prst="rect">
            <a:avLst/>
          </a:prstGeom>
          <a:noFill/>
        </p:spPr>
        <p:txBody>
          <a:bodyPr wrap="square" lIns="0" rIns="0" tIns="0" bIns="0" anchor="t">
            <a:spAutoFit/>
          </a:bodyPr>
          <a:lstStyle/>
          <a:p>
            <a:pPr algn="l"/>
            <a:r>
              <a:rPr sz="1100" b="1" i="0">
                <a:solidFill>
                  <a:srgbClr val="F8FAFC"/>
                </a:solidFill>
                <a:latin typeface="Calibri"/>
              </a:rPr>
              <a:t>Superviser l'état des sources</a:t>
            </a:r>
          </a:p>
        </p:txBody>
      </p:sp>
      <p:sp>
        <p:nvSpPr>
          <p:cNvPr id="90" name="TextBox 89"/>
          <p:cNvSpPr txBox="1"/>
          <p:nvPr/>
        </p:nvSpPr>
        <p:spPr>
          <a:xfrm>
            <a:off x="8549640" y="5724144"/>
            <a:ext cx="3154680" cy="292608"/>
          </a:xfrm>
          <a:prstGeom prst="rect">
            <a:avLst/>
          </a:prstGeom>
          <a:noFill/>
        </p:spPr>
        <p:txBody>
          <a:bodyPr wrap="square" lIns="0" rIns="0" tIns="0" bIns="0" anchor="t">
            <a:spAutoFit/>
          </a:bodyPr>
          <a:lstStyle/>
          <a:p>
            <a:pPr algn="l"/>
            <a:r>
              <a:rPr sz="900" b="0" i="0">
                <a:solidFill>
                  <a:srgbClr val="94A3B8"/>
                </a:solidFill>
                <a:latin typeface="Calibri"/>
              </a:rPr>
              <a:t>Scans, erreurs, dédup, audit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DATA BREACH &amp; THREAT INTELLIGENCE PLATFORM  /  EXECUTIVE BRIEFING</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GitHub Monitoring — rôle de la source</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14B8A6"/>
                </a:solidFill>
                <a:latin typeface="Calibri"/>
              </a:rPr>
              <a:t>CHAIMAE</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07 / 19</a:t>
            </a:r>
          </a:p>
        </p:txBody>
      </p:sp>
      <p:sp>
        <p:nvSpPr>
          <p:cNvPr id="55" name="TextBox 54"/>
          <p:cNvSpPr txBox="1"/>
          <p:nvPr/>
        </p:nvSpPr>
        <p:spPr>
          <a:xfrm>
            <a:off x="640080" y="1417320"/>
            <a:ext cx="10972800" cy="548640"/>
          </a:xfrm>
          <a:prstGeom prst="rect">
            <a:avLst/>
          </a:prstGeom>
          <a:noFill/>
        </p:spPr>
        <p:txBody>
          <a:bodyPr wrap="square" lIns="0" rIns="0" tIns="0" bIns="0" anchor="t">
            <a:spAutoFit/>
          </a:bodyPr>
          <a:lstStyle/>
          <a:p>
            <a:pPr algn="l"/>
            <a:r>
              <a:rPr sz="1800" b="1" i="0">
                <a:solidFill>
                  <a:srgbClr val="F8FAFC"/>
                </a:solidFill>
                <a:latin typeface="Calibri"/>
              </a:rPr>
              <a:t>Source #1 : preuves techniques d'exposition publiques</a:t>
            </a:r>
          </a:p>
        </p:txBody>
      </p:sp>
      <p:sp>
        <p:nvSpPr>
          <p:cNvPr id="56" name="Rounded Rectangle 55"/>
          <p:cNvSpPr/>
          <p:nvPr/>
        </p:nvSpPr>
        <p:spPr>
          <a:xfrm>
            <a:off x="640080" y="2194560"/>
            <a:ext cx="5943600" cy="402336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4400" y="2377440"/>
            <a:ext cx="5394960" cy="365760"/>
          </a:xfrm>
          <a:prstGeom prst="rect">
            <a:avLst/>
          </a:prstGeom>
          <a:noFill/>
        </p:spPr>
        <p:txBody>
          <a:bodyPr wrap="square" lIns="0" rIns="0" tIns="0" bIns="0" anchor="t">
            <a:spAutoFit/>
          </a:bodyPr>
          <a:lstStyle/>
          <a:p>
            <a:pPr algn="l"/>
            <a:r>
              <a:rPr sz="1100" b="1" i="0">
                <a:solidFill>
                  <a:srgbClr val="14B8A6"/>
                </a:solidFill>
                <a:latin typeface="Calibri"/>
              </a:rPr>
              <a:t>POURQUOI GITHUB ?</a:t>
            </a:r>
          </a:p>
        </p:txBody>
      </p:sp>
      <p:sp>
        <p:nvSpPr>
          <p:cNvPr id="58" name="TextBox 57"/>
          <p:cNvSpPr txBox="1"/>
          <p:nvPr/>
        </p:nvSpPr>
        <p:spPr>
          <a:xfrm>
            <a:off x="914400" y="2788920"/>
            <a:ext cx="5394960" cy="3200400"/>
          </a:xfrm>
          <a:prstGeom prst="rect">
            <a:avLst/>
          </a:prstGeom>
          <a:noFill/>
        </p:spPr>
        <p:txBody>
          <a:bodyPr wrap="square" lIns="0" rIns="0" tIns="0" bIns="0" anchor="t">
            <a:spAutoFit/>
          </a:bodyPr>
          <a:lstStyle/>
          <a:p>
            <a:pPr algn="l">
              <a:lnSpc>
                <a:spcPct val="135000"/>
              </a:lnSpc>
            </a:pPr>
            <a:r>
              <a:rPr sz="1300" b="0" i="0">
                <a:solidFill>
                  <a:srgbClr val="94A3B8"/>
                </a:solidFill>
                <a:latin typeface="Calibri"/>
              </a:rPr>
              <a:t>GitHub permet d'identifier des preuves techniques d'exposition directement présentes dans des dépôts publics.</a:t>
            </a:r>
          </a:p>
          <a:p>
            <a:pPr algn="l">
              <a:lnSpc>
                <a:spcPct val="135000"/>
              </a:lnSpc>
            </a:pPr>
            <a:r>
              <a:rPr sz="1300" b="0" i="0">
                <a:solidFill>
                  <a:srgbClr val="94A3B8"/>
                </a:solidFill>
                <a:latin typeface="Calibri"/>
              </a:rPr>
              <a:t/>
            </a:r>
          </a:p>
          <a:p>
            <a:pPr algn="l">
              <a:lnSpc>
                <a:spcPct val="135000"/>
              </a:lnSpc>
            </a:pPr>
            <a:r>
              <a:rPr sz="1300" b="0" i="0">
                <a:solidFill>
                  <a:srgbClr val="94A3B8"/>
                </a:solidFill>
                <a:latin typeface="Calibri"/>
              </a:rPr>
              <a:t>De nombreux développeurs publient — souvent par erreur — des secrets applicatifs : tokens, clés API, fichiers de configuration, chaînes de connexion.</a:t>
            </a:r>
          </a:p>
          <a:p>
            <a:pPr algn="l">
              <a:lnSpc>
                <a:spcPct val="135000"/>
              </a:lnSpc>
            </a:pPr>
            <a:r>
              <a:rPr sz="1300" b="0" i="0">
                <a:solidFill>
                  <a:srgbClr val="94A3B8"/>
                </a:solidFill>
                <a:latin typeface="Calibri"/>
              </a:rPr>
              <a:t/>
            </a:r>
          </a:p>
          <a:p>
            <a:pPr algn="l">
              <a:lnSpc>
                <a:spcPct val="135000"/>
              </a:lnSpc>
            </a:pPr>
            <a:r>
              <a:rPr sz="1300" b="0" i="0">
                <a:solidFill>
                  <a:srgbClr val="94A3B8"/>
                </a:solidFill>
                <a:latin typeface="Calibri"/>
              </a:rPr>
              <a:t>Contrairement aux autres sources qui fournissent des indications déclaratives, GitHub fournit des preuves directement exploitables.</a:t>
            </a:r>
          </a:p>
        </p:txBody>
      </p:sp>
      <p:sp>
        <p:nvSpPr>
          <p:cNvPr id="59" name="TextBox 58"/>
          <p:cNvSpPr txBox="1"/>
          <p:nvPr/>
        </p:nvSpPr>
        <p:spPr>
          <a:xfrm>
            <a:off x="6858000" y="2194560"/>
            <a:ext cx="4846320" cy="365760"/>
          </a:xfrm>
          <a:prstGeom prst="rect">
            <a:avLst/>
          </a:prstGeom>
          <a:noFill/>
        </p:spPr>
        <p:txBody>
          <a:bodyPr wrap="square" lIns="0" rIns="0" tIns="0" bIns="0" anchor="t">
            <a:spAutoFit/>
          </a:bodyPr>
          <a:lstStyle/>
          <a:p>
            <a:pPr algn="l"/>
            <a:r>
              <a:rPr sz="1100" b="1" i="0">
                <a:solidFill>
                  <a:srgbClr val="14B8A6"/>
                </a:solidFill>
                <a:latin typeface="Calibri"/>
              </a:rPr>
              <a:t>TYPES DE SECRETS DÉTECTÉS</a:t>
            </a:r>
          </a:p>
        </p:txBody>
      </p:sp>
      <p:sp>
        <p:nvSpPr>
          <p:cNvPr id="60" name="Rounded Rectangle 59"/>
          <p:cNvSpPr/>
          <p:nvPr/>
        </p:nvSpPr>
        <p:spPr>
          <a:xfrm>
            <a:off x="6858000" y="2697480"/>
            <a:ext cx="4846320" cy="5029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040880" y="2880360"/>
            <a:ext cx="137160" cy="13716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15200" y="2788920"/>
            <a:ext cx="4297680" cy="365760"/>
          </a:xfrm>
          <a:prstGeom prst="rect">
            <a:avLst/>
          </a:prstGeom>
          <a:noFill/>
        </p:spPr>
        <p:txBody>
          <a:bodyPr wrap="square" lIns="0" rIns="0" tIns="0" bIns="0" anchor="ctr">
            <a:spAutoFit/>
          </a:bodyPr>
          <a:lstStyle/>
          <a:p>
            <a:pPr algn="l"/>
            <a:r>
              <a:rPr sz="1200" b="0" i="0">
                <a:solidFill>
                  <a:srgbClr val="F8FAFC"/>
                </a:solidFill>
                <a:latin typeface="Calibri"/>
              </a:rPr>
              <a:t>Fichiers .env et variables d'environnement</a:t>
            </a:r>
          </a:p>
        </p:txBody>
      </p:sp>
      <p:sp>
        <p:nvSpPr>
          <p:cNvPr id="63" name="Rounded Rectangle 62"/>
          <p:cNvSpPr/>
          <p:nvPr/>
        </p:nvSpPr>
        <p:spPr>
          <a:xfrm>
            <a:off x="6858000" y="3264408"/>
            <a:ext cx="4846320" cy="5029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7040880" y="3447288"/>
            <a:ext cx="137160" cy="13716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0" y="3355848"/>
            <a:ext cx="4297680" cy="365760"/>
          </a:xfrm>
          <a:prstGeom prst="rect">
            <a:avLst/>
          </a:prstGeom>
          <a:noFill/>
        </p:spPr>
        <p:txBody>
          <a:bodyPr wrap="square" lIns="0" rIns="0" tIns="0" bIns="0" anchor="ctr">
            <a:spAutoFit/>
          </a:bodyPr>
          <a:lstStyle/>
          <a:p>
            <a:pPr algn="l"/>
            <a:r>
              <a:rPr sz="1200" b="0" i="0">
                <a:solidFill>
                  <a:srgbClr val="F8FAFC"/>
                </a:solidFill>
                <a:latin typeface="Calibri"/>
              </a:rPr>
              <a:t>Identifiants PostgreSQL / MySQL / MongoDB</a:t>
            </a:r>
          </a:p>
        </p:txBody>
      </p:sp>
      <p:sp>
        <p:nvSpPr>
          <p:cNvPr id="66" name="Rounded Rectangle 65"/>
          <p:cNvSpPr/>
          <p:nvPr/>
        </p:nvSpPr>
        <p:spPr>
          <a:xfrm>
            <a:off x="6858000" y="3831336"/>
            <a:ext cx="4846320" cy="5029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7040880" y="4014216"/>
            <a:ext cx="137160" cy="13716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15200" y="3922776"/>
            <a:ext cx="4297680" cy="365760"/>
          </a:xfrm>
          <a:prstGeom prst="rect">
            <a:avLst/>
          </a:prstGeom>
          <a:noFill/>
        </p:spPr>
        <p:txBody>
          <a:bodyPr wrap="square" lIns="0" rIns="0" tIns="0" bIns="0" anchor="ctr">
            <a:spAutoFit/>
          </a:bodyPr>
          <a:lstStyle/>
          <a:p>
            <a:pPr algn="l"/>
            <a:r>
              <a:rPr sz="1200" b="0" i="0">
                <a:solidFill>
                  <a:srgbClr val="F8FAFC"/>
                </a:solidFill>
                <a:latin typeface="Calibri"/>
              </a:rPr>
              <a:t>Clés d'API et tokens applicatifs</a:t>
            </a:r>
          </a:p>
        </p:txBody>
      </p:sp>
      <p:sp>
        <p:nvSpPr>
          <p:cNvPr id="69" name="Rounded Rectangle 68"/>
          <p:cNvSpPr/>
          <p:nvPr/>
        </p:nvSpPr>
        <p:spPr>
          <a:xfrm>
            <a:off x="6858000" y="4398264"/>
            <a:ext cx="4846320" cy="5029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7040880" y="4581144"/>
            <a:ext cx="137160" cy="13716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15200" y="4489704"/>
            <a:ext cx="4297680" cy="365760"/>
          </a:xfrm>
          <a:prstGeom prst="rect">
            <a:avLst/>
          </a:prstGeom>
          <a:noFill/>
        </p:spPr>
        <p:txBody>
          <a:bodyPr wrap="square" lIns="0" rIns="0" tIns="0" bIns="0" anchor="ctr">
            <a:spAutoFit/>
          </a:bodyPr>
          <a:lstStyle/>
          <a:p>
            <a:pPr algn="l"/>
            <a:r>
              <a:rPr sz="1200" b="0" i="0">
                <a:solidFill>
                  <a:srgbClr val="F8FAFC"/>
                </a:solidFill>
                <a:latin typeface="Calibri"/>
              </a:rPr>
              <a:t>Secrets cloud AWS / Azure / GCP</a:t>
            </a:r>
          </a:p>
        </p:txBody>
      </p:sp>
      <p:sp>
        <p:nvSpPr>
          <p:cNvPr id="72" name="Rounded Rectangle 71"/>
          <p:cNvSpPr/>
          <p:nvPr/>
        </p:nvSpPr>
        <p:spPr>
          <a:xfrm>
            <a:off x="6858000" y="4965192"/>
            <a:ext cx="4846320" cy="5029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7040880" y="5148072"/>
            <a:ext cx="137160" cy="13716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315200" y="5056632"/>
            <a:ext cx="4297680" cy="365760"/>
          </a:xfrm>
          <a:prstGeom prst="rect">
            <a:avLst/>
          </a:prstGeom>
          <a:noFill/>
        </p:spPr>
        <p:txBody>
          <a:bodyPr wrap="square" lIns="0" rIns="0" tIns="0" bIns="0" anchor="ctr">
            <a:spAutoFit/>
          </a:bodyPr>
          <a:lstStyle/>
          <a:p>
            <a:pPr algn="l"/>
            <a:r>
              <a:rPr sz="1200" b="0" i="0">
                <a:solidFill>
                  <a:srgbClr val="F8FAFC"/>
                </a:solidFill>
                <a:latin typeface="Calibri"/>
              </a:rPr>
              <a:t>Tokens JWT et clés privées</a:t>
            </a:r>
          </a:p>
        </p:txBody>
      </p:sp>
      <p:sp>
        <p:nvSpPr>
          <p:cNvPr id="75" name="Rounded Rectangle 74"/>
          <p:cNvSpPr/>
          <p:nvPr/>
        </p:nvSpPr>
        <p:spPr>
          <a:xfrm>
            <a:off x="6858000" y="5532120"/>
            <a:ext cx="4846320" cy="5029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040880" y="5715000"/>
            <a:ext cx="137160" cy="13716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315200" y="5623560"/>
            <a:ext cx="4297680" cy="365760"/>
          </a:xfrm>
          <a:prstGeom prst="rect">
            <a:avLst/>
          </a:prstGeom>
          <a:noFill/>
        </p:spPr>
        <p:txBody>
          <a:bodyPr wrap="square" lIns="0" rIns="0" tIns="0" bIns="0" anchor="ctr">
            <a:spAutoFit/>
          </a:bodyPr>
          <a:lstStyle/>
          <a:p>
            <a:pPr algn="l"/>
            <a:r>
              <a:rPr sz="1200" b="0" i="0">
                <a:solidFill>
                  <a:srgbClr val="F8FAFC"/>
                </a:solidFill>
                <a:latin typeface="Calibri"/>
              </a:rPr>
              <a:t>Fichiers Docker / Kubernetes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DATA BREACH &amp; THREAT INTELLIGENCE PLATFORM  /  EXECUTIVE BRIEFING</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Mécanisme d'accès &amp; organisation des requêtes</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14B8A6"/>
                </a:solidFill>
                <a:latin typeface="Calibri"/>
              </a:rPr>
              <a:t>CHAIMAE</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08 / 19</a:t>
            </a:r>
          </a:p>
        </p:txBody>
      </p:sp>
      <p:sp>
        <p:nvSpPr>
          <p:cNvPr id="55" name="TextBox 54"/>
          <p:cNvSpPr txBox="1"/>
          <p:nvPr/>
        </p:nvSpPr>
        <p:spPr>
          <a:xfrm>
            <a:off x="640080" y="1417320"/>
            <a:ext cx="10972800" cy="365760"/>
          </a:xfrm>
          <a:prstGeom prst="rect">
            <a:avLst/>
          </a:prstGeom>
          <a:noFill/>
        </p:spPr>
        <p:txBody>
          <a:bodyPr wrap="square" lIns="0" rIns="0" tIns="0" bIns="0" anchor="t">
            <a:spAutoFit/>
          </a:bodyPr>
          <a:lstStyle/>
          <a:p>
            <a:pPr algn="l"/>
            <a:r>
              <a:rPr sz="1000" b="1" i="0">
                <a:solidFill>
                  <a:srgbClr val="14B8A6"/>
                </a:solidFill>
                <a:latin typeface="Calibri"/>
              </a:rPr>
              <a:t>FLUX DE COLLECTE</a:t>
            </a:r>
          </a:p>
        </p:txBody>
      </p:sp>
      <p:sp>
        <p:nvSpPr>
          <p:cNvPr id="56" name="Rounded Rectangle 55"/>
          <p:cNvSpPr/>
          <p:nvPr/>
        </p:nvSpPr>
        <p:spPr>
          <a:xfrm>
            <a:off x="640080" y="1828800"/>
            <a:ext cx="3383280" cy="1005840"/>
          </a:xfrm>
          <a:prstGeom prst="roundRect">
            <a:avLst>
              <a:gd name="adj" fmla="val 8000"/>
            </a:avLst>
          </a:prstGeom>
          <a:solidFill>
            <a:srgbClr val="0C121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0080" y="1965960"/>
            <a:ext cx="3383280" cy="457200"/>
          </a:xfrm>
          <a:prstGeom prst="rect">
            <a:avLst/>
          </a:prstGeom>
          <a:noFill/>
        </p:spPr>
        <p:txBody>
          <a:bodyPr wrap="square" lIns="0" rIns="0" tIns="0" bIns="0" anchor="t">
            <a:spAutoFit/>
          </a:bodyPr>
          <a:lstStyle/>
          <a:p>
            <a:pPr algn="ctr"/>
            <a:r>
              <a:rPr sz="1400" b="1" i="0">
                <a:solidFill>
                  <a:srgbClr val="3B82F6"/>
                </a:solidFill>
                <a:latin typeface="Calibri"/>
              </a:rPr>
              <a:t>Token GitHub</a:t>
            </a:r>
          </a:p>
        </p:txBody>
      </p:sp>
      <p:sp>
        <p:nvSpPr>
          <p:cNvPr id="58" name="TextBox 57"/>
          <p:cNvSpPr txBox="1"/>
          <p:nvPr/>
        </p:nvSpPr>
        <p:spPr>
          <a:xfrm>
            <a:off x="640080" y="2377440"/>
            <a:ext cx="3383280" cy="365760"/>
          </a:xfrm>
          <a:prstGeom prst="rect">
            <a:avLst/>
          </a:prstGeom>
          <a:noFill/>
        </p:spPr>
        <p:txBody>
          <a:bodyPr wrap="square" lIns="0" rIns="0" tIns="0" bIns="0" anchor="t">
            <a:spAutoFit/>
          </a:bodyPr>
          <a:lstStyle/>
          <a:p>
            <a:pPr algn="ctr"/>
            <a:r>
              <a:rPr sz="1100" b="0" i="0">
                <a:solidFill>
                  <a:srgbClr val="94A3B8"/>
                </a:solidFill>
                <a:latin typeface="Calibri"/>
              </a:rPr>
              <a:t>Auth + quota élevé</a:t>
            </a:r>
          </a:p>
        </p:txBody>
      </p:sp>
      <p:cxnSp>
        <p:nvCxnSpPr>
          <p:cNvPr id="59" name="Connector 58"/>
          <p:cNvCxnSpPr/>
          <p:nvPr/>
        </p:nvCxnSpPr>
        <p:spPr>
          <a:xfrm>
            <a:off x="4069080" y="2331720.0"/>
            <a:ext cx="320040" cy="0.0"/>
          </a:xfrm>
          <a:prstGeom prst="line">
            <a:avLst/>
          </a:prstGeom>
          <a:ln w="31750">
            <a:solidFill>
              <a:srgbClr val="14B8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4434840" y="1828800"/>
            <a:ext cx="3383280" cy="1005840"/>
          </a:xfrm>
          <a:prstGeom prst="roundRect">
            <a:avLst>
              <a:gd name="adj" fmla="val 8000"/>
            </a:avLst>
          </a:prstGeom>
          <a:solidFill>
            <a:srgbClr val="0C121F"/>
          </a:solidFill>
          <a:ln w="1905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34840" y="1965960"/>
            <a:ext cx="3383280" cy="457200"/>
          </a:xfrm>
          <a:prstGeom prst="rect">
            <a:avLst/>
          </a:prstGeom>
          <a:noFill/>
        </p:spPr>
        <p:txBody>
          <a:bodyPr wrap="square" lIns="0" rIns="0" tIns="0" bIns="0" anchor="t">
            <a:spAutoFit/>
          </a:bodyPr>
          <a:lstStyle/>
          <a:p>
            <a:pPr algn="ctr"/>
            <a:r>
              <a:rPr sz="1400" b="1" i="0">
                <a:solidFill>
                  <a:srgbClr val="14B8A6"/>
                </a:solidFill>
                <a:latin typeface="Calibri"/>
              </a:rPr>
              <a:t>GitHub Code Search</a:t>
            </a:r>
          </a:p>
        </p:txBody>
      </p:sp>
      <p:sp>
        <p:nvSpPr>
          <p:cNvPr id="62" name="TextBox 61"/>
          <p:cNvSpPr txBox="1"/>
          <p:nvPr/>
        </p:nvSpPr>
        <p:spPr>
          <a:xfrm>
            <a:off x="4434840" y="2377440"/>
            <a:ext cx="3383280" cy="365760"/>
          </a:xfrm>
          <a:prstGeom prst="rect">
            <a:avLst/>
          </a:prstGeom>
          <a:noFill/>
        </p:spPr>
        <p:txBody>
          <a:bodyPr wrap="square" lIns="0" rIns="0" tIns="0" bIns="0" anchor="t">
            <a:spAutoFit/>
          </a:bodyPr>
          <a:lstStyle/>
          <a:p>
            <a:pPr algn="ctr"/>
            <a:r>
              <a:rPr sz="1100" b="0" i="0">
                <a:solidFill>
                  <a:srgbClr val="94A3B8"/>
                </a:solidFill>
                <a:latin typeface="Calibri"/>
              </a:rPr>
              <a:t>API officielle</a:t>
            </a:r>
          </a:p>
        </p:txBody>
      </p:sp>
      <p:cxnSp>
        <p:nvCxnSpPr>
          <p:cNvPr id="63" name="Connector 62"/>
          <p:cNvCxnSpPr/>
          <p:nvPr/>
        </p:nvCxnSpPr>
        <p:spPr>
          <a:xfrm>
            <a:off x="7863840" y="2331720.0"/>
            <a:ext cx="320040" cy="0.0"/>
          </a:xfrm>
          <a:prstGeom prst="line">
            <a:avLst/>
          </a:prstGeom>
          <a:ln w="31750">
            <a:solidFill>
              <a:srgbClr val="14B8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8229600" y="1828800"/>
            <a:ext cx="3383280" cy="1005840"/>
          </a:xfrm>
          <a:prstGeom prst="roundRect">
            <a:avLst>
              <a:gd name="adj" fmla="val 8000"/>
            </a:avLst>
          </a:prstGeom>
          <a:solidFill>
            <a:srgbClr val="0C121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229600" y="1965960"/>
            <a:ext cx="3383280" cy="457200"/>
          </a:xfrm>
          <a:prstGeom prst="rect">
            <a:avLst/>
          </a:prstGeom>
          <a:noFill/>
        </p:spPr>
        <p:txBody>
          <a:bodyPr wrap="square" lIns="0" rIns="0" tIns="0" bIns="0" anchor="t">
            <a:spAutoFit/>
          </a:bodyPr>
          <a:lstStyle/>
          <a:p>
            <a:pPr algn="ctr"/>
            <a:r>
              <a:rPr sz="1400" b="1" i="0">
                <a:solidFill>
                  <a:srgbClr val="F59E0B"/>
                </a:solidFill>
                <a:latin typeface="Calibri"/>
              </a:rPr>
              <a:t>global_risks.yml</a:t>
            </a:r>
          </a:p>
        </p:txBody>
      </p:sp>
      <p:sp>
        <p:nvSpPr>
          <p:cNvPr id="66" name="TextBox 65"/>
          <p:cNvSpPr txBox="1"/>
          <p:nvPr/>
        </p:nvSpPr>
        <p:spPr>
          <a:xfrm>
            <a:off x="8229600" y="2377440"/>
            <a:ext cx="3383280" cy="365760"/>
          </a:xfrm>
          <a:prstGeom prst="rect">
            <a:avLst/>
          </a:prstGeom>
          <a:noFill/>
        </p:spPr>
        <p:txBody>
          <a:bodyPr wrap="square" lIns="0" rIns="0" tIns="0" bIns="0" anchor="t">
            <a:spAutoFit/>
          </a:bodyPr>
          <a:lstStyle/>
          <a:p>
            <a:pPr algn="ctr"/>
            <a:r>
              <a:rPr sz="1100" b="0" i="0">
                <a:solidFill>
                  <a:srgbClr val="94A3B8"/>
                </a:solidFill>
                <a:latin typeface="Calibri"/>
              </a:rPr>
              <a:t>Requêtes catégorisées</a:t>
            </a:r>
          </a:p>
        </p:txBody>
      </p:sp>
      <p:sp>
        <p:nvSpPr>
          <p:cNvPr id="67" name="TextBox 66"/>
          <p:cNvSpPr txBox="1"/>
          <p:nvPr/>
        </p:nvSpPr>
        <p:spPr>
          <a:xfrm>
            <a:off x="502920" y="3200400"/>
            <a:ext cx="6400800" cy="365760"/>
          </a:xfrm>
          <a:prstGeom prst="rect">
            <a:avLst/>
          </a:prstGeom>
          <a:noFill/>
        </p:spPr>
        <p:txBody>
          <a:bodyPr wrap="square" lIns="0" rIns="0" tIns="0" bIns="0" anchor="t">
            <a:spAutoFit/>
          </a:bodyPr>
          <a:lstStyle/>
          <a:p>
            <a:pPr algn="l"/>
            <a:r>
              <a:rPr sz="900" b="1" i="0">
                <a:solidFill>
                  <a:srgbClr val="14B8A6"/>
                </a:solidFill>
                <a:latin typeface="Calibri"/>
              </a:rPr>
              <a:t>CATÉGORIES DE RISQUES CONFIGURÉES</a:t>
            </a:r>
          </a:p>
        </p:txBody>
      </p:sp>
      <p:sp>
        <p:nvSpPr>
          <p:cNvPr id="68" name="Rounded Rectangle 67"/>
          <p:cNvSpPr/>
          <p:nvPr/>
        </p:nvSpPr>
        <p:spPr>
          <a:xfrm>
            <a:off x="502920" y="3611880"/>
            <a:ext cx="3154680" cy="9601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02920" y="3611880"/>
            <a:ext cx="73152" cy="9601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31520" y="3749040"/>
            <a:ext cx="2788920" cy="365760"/>
          </a:xfrm>
          <a:prstGeom prst="rect">
            <a:avLst/>
          </a:prstGeom>
          <a:noFill/>
        </p:spPr>
        <p:txBody>
          <a:bodyPr wrap="square" lIns="0" rIns="0" tIns="0" bIns="0" anchor="t">
            <a:spAutoFit/>
          </a:bodyPr>
          <a:lstStyle/>
          <a:p>
            <a:pPr algn="l"/>
            <a:r>
              <a:rPr sz="1200" b="1" i="0">
                <a:solidFill>
                  <a:srgbClr val="F8FAFC"/>
                </a:solidFill>
                <a:latin typeface="Calibri"/>
              </a:rPr>
              <a:t>Environment Files</a:t>
            </a:r>
          </a:p>
        </p:txBody>
      </p:sp>
      <p:sp>
        <p:nvSpPr>
          <p:cNvPr id="71" name="TextBox 70"/>
          <p:cNvSpPr txBox="1"/>
          <p:nvPr/>
        </p:nvSpPr>
        <p:spPr>
          <a:xfrm>
            <a:off x="731520" y="4114800"/>
            <a:ext cx="2788920" cy="365760"/>
          </a:xfrm>
          <a:prstGeom prst="rect">
            <a:avLst/>
          </a:prstGeom>
          <a:noFill/>
        </p:spPr>
        <p:txBody>
          <a:bodyPr wrap="square" lIns="0" rIns="0" tIns="0" bIns="0" anchor="t">
            <a:spAutoFit/>
          </a:bodyPr>
          <a:lstStyle/>
          <a:p>
            <a:pPr algn="l"/>
            <a:r>
              <a:rPr sz="1000" b="0" i="1">
                <a:solidFill>
                  <a:srgbClr val="94A3B8"/>
                </a:solidFill>
                <a:latin typeface="Calibri"/>
              </a:rPr>
              <a:t>.env, DATABASE_URL</a:t>
            </a:r>
          </a:p>
        </p:txBody>
      </p:sp>
      <p:sp>
        <p:nvSpPr>
          <p:cNvPr id="72" name="Rounded Rectangle 71"/>
          <p:cNvSpPr/>
          <p:nvPr/>
        </p:nvSpPr>
        <p:spPr>
          <a:xfrm>
            <a:off x="3749040" y="3611880"/>
            <a:ext cx="3154680" cy="9601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749040" y="3611880"/>
            <a:ext cx="73152" cy="9601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977640" y="3749040"/>
            <a:ext cx="2788920" cy="365760"/>
          </a:xfrm>
          <a:prstGeom prst="rect">
            <a:avLst/>
          </a:prstGeom>
          <a:noFill/>
        </p:spPr>
        <p:txBody>
          <a:bodyPr wrap="square" lIns="0" rIns="0" tIns="0" bIns="0" anchor="t">
            <a:spAutoFit/>
          </a:bodyPr>
          <a:lstStyle/>
          <a:p>
            <a:pPr algn="l"/>
            <a:r>
              <a:rPr sz="1200" b="1" i="0">
                <a:solidFill>
                  <a:srgbClr val="F8FAFC"/>
                </a:solidFill>
                <a:latin typeface="Calibri"/>
              </a:rPr>
              <a:t>Database Credentials</a:t>
            </a:r>
          </a:p>
        </p:txBody>
      </p:sp>
      <p:sp>
        <p:nvSpPr>
          <p:cNvPr id="75" name="TextBox 74"/>
          <p:cNvSpPr txBox="1"/>
          <p:nvPr/>
        </p:nvSpPr>
        <p:spPr>
          <a:xfrm>
            <a:off x="3977640" y="4114800"/>
            <a:ext cx="2788920" cy="365760"/>
          </a:xfrm>
          <a:prstGeom prst="rect">
            <a:avLst/>
          </a:prstGeom>
          <a:noFill/>
        </p:spPr>
        <p:txBody>
          <a:bodyPr wrap="square" lIns="0" rIns="0" tIns="0" bIns="0" anchor="t">
            <a:spAutoFit/>
          </a:bodyPr>
          <a:lstStyle/>
          <a:p>
            <a:pPr algn="l"/>
            <a:r>
              <a:rPr sz="1000" b="0" i="1">
                <a:solidFill>
                  <a:srgbClr val="94A3B8"/>
                </a:solidFill>
                <a:latin typeface="Calibri"/>
              </a:rPr>
              <a:t>PG, MySQL, Mongo, Supabase</a:t>
            </a:r>
          </a:p>
        </p:txBody>
      </p:sp>
      <p:sp>
        <p:nvSpPr>
          <p:cNvPr id="76" name="Rounded Rectangle 75"/>
          <p:cNvSpPr/>
          <p:nvPr/>
        </p:nvSpPr>
        <p:spPr>
          <a:xfrm>
            <a:off x="502920" y="4663440"/>
            <a:ext cx="3154680" cy="9601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02920" y="4663440"/>
            <a:ext cx="73152" cy="9601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31520" y="4800600"/>
            <a:ext cx="2788920" cy="365760"/>
          </a:xfrm>
          <a:prstGeom prst="rect">
            <a:avLst/>
          </a:prstGeom>
          <a:noFill/>
        </p:spPr>
        <p:txBody>
          <a:bodyPr wrap="square" lIns="0" rIns="0" tIns="0" bIns="0" anchor="t">
            <a:spAutoFit/>
          </a:bodyPr>
          <a:lstStyle/>
          <a:p>
            <a:pPr algn="l"/>
            <a:r>
              <a:rPr sz="1200" b="1" i="0">
                <a:solidFill>
                  <a:srgbClr val="F8FAFC"/>
                </a:solidFill>
                <a:latin typeface="Calibri"/>
              </a:rPr>
              <a:t>API Keys &amp; Tokens</a:t>
            </a:r>
          </a:p>
        </p:txBody>
      </p:sp>
      <p:sp>
        <p:nvSpPr>
          <p:cNvPr id="79" name="TextBox 78"/>
          <p:cNvSpPr txBox="1"/>
          <p:nvPr/>
        </p:nvSpPr>
        <p:spPr>
          <a:xfrm>
            <a:off x="731520" y="5166360"/>
            <a:ext cx="2788920" cy="365760"/>
          </a:xfrm>
          <a:prstGeom prst="rect">
            <a:avLst/>
          </a:prstGeom>
          <a:noFill/>
        </p:spPr>
        <p:txBody>
          <a:bodyPr wrap="square" lIns="0" rIns="0" tIns="0" bIns="0" anchor="t">
            <a:spAutoFit/>
          </a:bodyPr>
          <a:lstStyle/>
          <a:p>
            <a:pPr algn="l"/>
            <a:r>
              <a:rPr sz="1000" b="0" i="1">
                <a:solidFill>
                  <a:srgbClr val="94A3B8"/>
                </a:solidFill>
                <a:latin typeface="Calibri"/>
              </a:rPr>
              <a:t>Service tokens applicatifs</a:t>
            </a:r>
          </a:p>
        </p:txBody>
      </p:sp>
      <p:sp>
        <p:nvSpPr>
          <p:cNvPr id="80" name="Rounded Rectangle 79"/>
          <p:cNvSpPr/>
          <p:nvPr/>
        </p:nvSpPr>
        <p:spPr>
          <a:xfrm>
            <a:off x="3749040" y="4663440"/>
            <a:ext cx="3154680" cy="9601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749040" y="4663440"/>
            <a:ext cx="73152" cy="9601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977640" y="4800600"/>
            <a:ext cx="2788920" cy="365760"/>
          </a:xfrm>
          <a:prstGeom prst="rect">
            <a:avLst/>
          </a:prstGeom>
          <a:noFill/>
        </p:spPr>
        <p:txBody>
          <a:bodyPr wrap="square" lIns="0" rIns="0" tIns="0" bIns="0" anchor="t">
            <a:spAutoFit/>
          </a:bodyPr>
          <a:lstStyle/>
          <a:p>
            <a:pPr algn="l"/>
            <a:r>
              <a:rPr sz="1200" b="1" i="0">
                <a:solidFill>
                  <a:srgbClr val="F8FAFC"/>
                </a:solidFill>
                <a:latin typeface="Calibri"/>
              </a:rPr>
              <a:t>Cloud Secrets</a:t>
            </a:r>
          </a:p>
        </p:txBody>
      </p:sp>
      <p:sp>
        <p:nvSpPr>
          <p:cNvPr id="83" name="TextBox 82"/>
          <p:cNvSpPr txBox="1"/>
          <p:nvPr/>
        </p:nvSpPr>
        <p:spPr>
          <a:xfrm>
            <a:off x="3977640" y="5166360"/>
            <a:ext cx="2788920" cy="365760"/>
          </a:xfrm>
          <a:prstGeom prst="rect">
            <a:avLst/>
          </a:prstGeom>
          <a:noFill/>
        </p:spPr>
        <p:txBody>
          <a:bodyPr wrap="square" lIns="0" rIns="0" tIns="0" bIns="0" anchor="t">
            <a:spAutoFit/>
          </a:bodyPr>
          <a:lstStyle/>
          <a:p>
            <a:pPr algn="l"/>
            <a:r>
              <a:rPr sz="1000" b="0" i="1">
                <a:solidFill>
                  <a:srgbClr val="94A3B8"/>
                </a:solidFill>
                <a:latin typeface="Calibri"/>
              </a:rPr>
              <a:t>AWS, Azure, GCP</a:t>
            </a:r>
          </a:p>
        </p:txBody>
      </p:sp>
      <p:sp>
        <p:nvSpPr>
          <p:cNvPr id="84" name="Rounded Rectangle 83"/>
          <p:cNvSpPr/>
          <p:nvPr/>
        </p:nvSpPr>
        <p:spPr>
          <a:xfrm>
            <a:off x="502920" y="5715000"/>
            <a:ext cx="3154680" cy="9601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502920" y="5715000"/>
            <a:ext cx="73152" cy="9601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31520" y="5852160"/>
            <a:ext cx="2788920" cy="365760"/>
          </a:xfrm>
          <a:prstGeom prst="rect">
            <a:avLst/>
          </a:prstGeom>
          <a:noFill/>
        </p:spPr>
        <p:txBody>
          <a:bodyPr wrap="square" lIns="0" rIns="0" tIns="0" bIns="0" anchor="t">
            <a:spAutoFit/>
          </a:bodyPr>
          <a:lstStyle/>
          <a:p>
            <a:pPr algn="l"/>
            <a:r>
              <a:rPr sz="1200" b="1" i="0">
                <a:solidFill>
                  <a:srgbClr val="F8FAFC"/>
                </a:solidFill>
                <a:latin typeface="Calibri"/>
              </a:rPr>
              <a:t>JWT &amp; Private Keys</a:t>
            </a:r>
          </a:p>
        </p:txBody>
      </p:sp>
      <p:sp>
        <p:nvSpPr>
          <p:cNvPr id="87" name="TextBox 86"/>
          <p:cNvSpPr txBox="1"/>
          <p:nvPr/>
        </p:nvSpPr>
        <p:spPr>
          <a:xfrm>
            <a:off x="731520" y="6217920"/>
            <a:ext cx="2788920" cy="365760"/>
          </a:xfrm>
          <a:prstGeom prst="rect">
            <a:avLst/>
          </a:prstGeom>
          <a:noFill/>
        </p:spPr>
        <p:txBody>
          <a:bodyPr wrap="square" lIns="0" rIns="0" tIns="0" bIns="0" anchor="t">
            <a:spAutoFit/>
          </a:bodyPr>
          <a:lstStyle/>
          <a:p>
            <a:pPr algn="l"/>
            <a:r>
              <a:rPr sz="1000" b="0" i="1">
                <a:solidFill>
                  <a:srgbClr val="94A3B8"/>
                </a:solidFill>
                <a:latin typeface="Calibri"/>
              </a:rPr>
              <a:t>Signing keys, PEM files</a:t>
            </a:r>
          </a:p>
        </p:txBody>
      </p:sp>
      <p:sp>
        <p:nvSpPr>
          <p:cNvPr id="88" name="Rounded Rectangle 87"/>
          <p:cNvSpPr/>
          <p:nvPr/>
        </p:nvSpPr>
        <p:spPr>
          <a:xfrm>
            <a:off x="3749040" y="5715000"/>
            <a:ext cx="3154680" cy="9601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3749040" y="5715000"/>
            <a:ext cx="73152" cy="9601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977640" y="5852160"/>
            <a:ext cx="2788920" cy="365760"/>
          </a:xfrm>
          <a:prstGeom prst="rect">
            <a:avLst/>
          </a:prstGeom>
          <a:noFill/>
        </p:spPr>
        <p:txBody>
          <a:bodyPr wrap="square" lIns="0" rIns="0" tIns="0" bIns="0" anchor="t">
            <a:spAutoFit/>
          </a:bodyPr>
          <a:lstStyle/>
          <a:p>
            <a:pPr algn="l"/>
            <a:r>
              <a:rPr sz="1200" b="1" i="0">
                <a:solidFill>
                  <a:srgbClr val="F8FAFC"/>
                </a:solidFill>
                <a:latin typeface="Calibri"/>
              </a:rPr>
              <a:t>Docker / K8s Configs</a:t>
            </a:r>
          </a:p>
        </p:txBody>
      </p:sp>
      <p:sp>
        <p:nvSpPr>
          <p:cNvPr id="91" name="TextBox 90"/>
          <p:cNvSpPr txBox="1"/>
          <p:nvPr/>
        </p:nvSpPr>
        <p:spPr>
          <a:xfrm>
            <a:off x="3977640" y="6217920"/>
            <a:ext cx="2788920" cy="365760"/>
          </a:xfrm>
          <a:prstGeom prst="rect">
            <a:avLst/>
          </a:prstGeom>
          <a:noFill/>
        </p:spPr>
        <p:txBody>
          <a:bodyPr wrap="square" lIns="0" rIns="0" tIns="0" bIns="0" anchor="t">
            <a:spAutoFit/>
          </a:bodyPr>
          <a:lstStyle/>
          <a:p>
            <a:pPr algn="l"/>
            <a:r>
              <a:rPr sz="1000" b="0" i="1">
                <a:solidFill>
                  <a:srgbClr val="94A3B8"/>
                </a:solidFill>
                <a:latin typeface="Calibri"/>
              </a:rPr>
              <a:t>Compose, secrets, manifests</a:t>
            </a:r>
          </a:p>
        </p:txBody>
      </p:sp>
      <p:sp>
        <p:nvSpPr>
          <p:cNvPr id="92" name="TextBox 91"/>
          <p:cNvSpPr txBox="1"/>
          <p:nvPr/>
        </p:nvSpPr>
        <p:spPr>
          <a:xfrm>
            <a:off x="7178040" y="3200400"/>
            <a:ext cx="4572000" cy="365760"/>
          </a:xfrm>
          <a:prstGeom prst="rect">
            <a:avLst/>
          </a:prstGeom>
          <a:noFill/>
        </p:spPr>
        <p:txBody>
          <a:bodyPr wrap="square" lIns="0" rIns="0" tIns="0" bIns="0" anchor="t">
            <a:spAutoFit/>
          </a:bodyPr>
          <a:lstStyle/>
          <a:p>
            <a:pPr algn="l"/>
            <a:r>
              <a:rPr sz="900" b="1" i="0">
                <a:solidFill>
                  <a:srgbClr val="14B8A6"/>
                </a:solidFill>
                <a:latin typeface="Calibri"/>
              </a:rPr>
              <a:t>INTERFACE GITHUB INTELLIGENCE</a:t>
            </a:r>
          </a:p>
        </p:txBody>
      </p:sp>
      <p:sp>
        <p:nvSpPr>
          <p:cNvPr id="93" name="Rounded Rectangle 92"/>
          <p:cNvSpPr/>
          <p:nvPr/>
        </p:nvSpPr>
        <p:spPr>
          <a:xfrm>
            <a:off x="7040880" y="3566160"/>
            <a:ext cx="4800600" cy="274320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7040880" y="3566160"/>
            <a:ext cx="4800600" cy="22860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150608" y="3639312"/>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7287768" y="3639312"/>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424928" y="3639312"/>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589520" y="3566160"/>
            <a:ext cx="4160520" cy="228600"/>
          </a:xfrm>
          <a:prstGeom prst="rect">
            <a:avLst/>
          </a:prstGeom>
          <a:noFill/>
        </p:spPr>
        <p:txBody>
          <a:bodyPr wrap="square" lIns="0" rIns="0" tIns="0" bIns="0" anchor="ctr">
            <a:spAutoFit/>
          </a:bodyPr>
          <a:lstStyle/>
          <a:p>
            <a:pPr algn="l"/>
            <a:r>
              <a:rPr sz="800" b="0" i="0">
                <a:solidFill>
                  <a:srgbClr val="64748B"/>
                </a:solidFill>
                <a:latin typeface="Consolas"/>
              </a:rPr>
              <a:t>dbm.soc.local/github/scans</a:t>
            </a:r>
          </a:p>
        </p:txBody>
      </p:sp>
      <p:pic>
        <p:nvPicPr>
          <p:cNvPr id="99" name="Picture 98" descr="github_1.png"/>
          <p:cNvPicPr>
            <a:picLocks noChangeAspect="1"/>
          </p:cNvPicPr>
          <p:nvPr/>
        </p:nvPicPr>
        <p:blipFill>
          <a:blip r:embed="rId2"/>
          <a:stretch>
            <a:fillRect/>
          </a:stretch>
        </p:blipFill>
        <p:spPr>
          <a:xfrm>
            <a:off x="7086600" y="3840480"/>
            <a:ext cx="4709160" cy="264567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GITHUB MONITORING — CAS DÉTECTÉ</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Exemple réel d'exposition critique</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14B8A6"/>
                </a:solidFill>
                <a:latin typeface="Calibri"/>
              </a:rPr>
              <a:t>CHAIMAE</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09 / 19</a:t>
            </a:r>
          </a:p>
        </p:txBody>
      </p:sp>
      <p:sp>
        <p:nvSpPr>
          <p:cNvPr id="55" name="Rounded Rectangle 54"/>
          <p:cNvSpPr/>
          <p:nvPr/>
        </p:nvSpPr>
        <p:spPr>
          <a:xfrm>
            <a:off x="502920" y="1371600"/>
            <a:ext cx="914400" cy="329184"/>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F8FAFC"/>
                </a:solidFill>
                <a:latin typeface="Calibri"/>
              </a:rPr>
              <a:t>HIGH</a:t>
            </a:r>
          </a:p>
        </p:txBody>
      </p:sp>
      <p:sp>
        <p:nvSpPr>
          <p:cNvPr id="56" name="Rounded Rectangle 55"/>
          <p:cNvSpPr/>
          <p:nvPr/>
        </p:nvSpPr>
        <p:spPr>
          <a:xfrm>
            <a:off x="1508760" y="1371600"/>
            <a:ext cx="1554480" cy="329184"/>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EF4444"/>
                </a:solidFill>
                <a:latin typeface="Calibri"/>
              </a:rPr>
              <a:t>SECRET EXPOSURE</a:t>
            </a:r>
          </a:p>
        </p:txBody>
      </p:sp>
      <p:sp>
        <p:nvSpPr>
          <p:cNvPr id="57" name="TextBox 56"/>
          <p:cNvSpPr txBox="1"/>
          <p:nvPr/>
        </p:nvSpPr>
        <p:spPr>
          <a:xfrm>
            <a:off x="3200400" y="1371600"/>
            <a:ext cx="8229600" cy="329184"/>
          </a:xfrm>
          <a:prstGeom prst="rect">
            <a:avLst/>
          </a:prstGeom>
          <a:noFill/>
        </p:spPr>
        <p:txBody>
          <a:bodyPr wrap="square" lIns="0" rIns="0" tIns="0" bIns="0" anchor="ctr">
            <a:spAutoFit/>
          </a:bodyPr>
          <a:lstStyle/>
          <a:p>
            <a:pPr algn="l"/>
            <a:r>
              <a:rPr sz="1200" b="0" i="1">
                <a:solidFill>
                  <a:srgbClr val="94A3B8"/>
                </a:solidFill>
                <a:latin typeface="Calibri"/>
              </a:rPr>
              <a:t>Fichier de configuration applicatif exposé publiquement</a:t>
            </a:r>
          </a:p>
        </p:txBody>
      </p:sp>
      <p:sp>
        <p:nvSpPr>
          <p:cNvPr id="58" name="TextBox 57"/>
          <p:cNvSpPr txBox="1"/>
          <p:nvPr/>
        </p:nvSpPr>
        <p:spPr>
          <a:xfrm>
            <a:off x="502920" y="1828800"/>
            <a:ext cx="6675120" cy="365760"/>
          </a:xfrm>
          <a:prstGeom prst="rect">
            <a:avLst/>
          </a:prstGeom>
          <a:noFill/>
        </p:spPr>
        <p:txBody>
          <a:bodyPr wrap="square" lIns="0" rIns="0" tIns="0" bIns="0" anchor="t">
            <a:spAutoFit/>
          </a:bodyPr>
          <a:lstStyle/>
          <a:p>
            <a:pPr algn="l"/>
            <a:r>
              <a:rPr sz="900" b="1" i="0">
                <a:solidFill>
                  <a:srgbClr val="EF4444"/>
                </a:solidFill>
                <a:latin typeface="Calibri"/>
              </a:rPr>
              <a:t>CONTENU DÉTECTÉ DANS LE DÉPÔT</a:t>
            </a:r>
          </a:p>
        </p:txBody>
      </p:sp>
      <p:sp>
        <p:nvSpPr>
          <p:cNvPr id="59" name="Rounded Rectangle 58"/>
          <p:cNvSpPr/>
          <p:nvPr/>
        </p:nvSpPr>
        <p:spPr>
          <a:xfrm>
            <a:off x="365760" y="2194560"/>
            <a:ext cx="6949440" cy="411480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65760" y="2194560"/>
            <a:ext cx="6949440" cy="22860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75488" y="2267712"/>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12648" y="2267712"/>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49808" y="2267712"/>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14400" y="2194560"/>
            <a:ext cx="6309360" cy="228600"/>
          </a:xfrm>
          <a:prstGeom prst="rect">
            <a:avLst/>
          </a:prstGeom>
          <a:noFill/>
        </p:spPr>
        <p:txBody>
          <a:bodyPr wrap="square" lIns="0" rIns="0" tIns="0" bIns="0" anchor="ctr">
            <a:spAutoFit/>
          </a:bodyPr>
          <a:lstStyle/>
          <a:p>
            <a:pPr algn="l"/>
            <a:r>
              <a:rPr sz="800" b="0" i="0">
                <a:solidFill>
                  <a:srgbClr val="64748B"/>
                </a:solidFill>
                <a:latin typeface="Consolas"/>
              </a:rPr>
              <a:t>github.com/exposure/config.js</a:t>
            </a:r>
          </a:p>
        </p:txBody>
      </p:sp>
      <p:pic>
        <p:nvPicPr>
          <p:cNvPr id="65" name="Picture 64" descr="githubexposure.png"/>
          <p:cNvPicPr>
            <a:picLocks noChangeAspect="1"/>
          </p:cNvPicPr>
          <p:nvPr/>
        </p:nvPicPr>
        <p:blipFill>
          <a:blip r:embed="rId2"/>
          <a:stretch>
            <a:fillRect/>
          </a:stretch>
        </p:blipFill>
        <p:spPr>
          <a:xfrm>
            <a:off x="411480" y="2468880"/>
            <a:ext cx="6858000" cy="9007051"/>
          </a:xfrm>
          <a:prstGeom prst="rect">
            <a:avLst/>
          </a:prstGeom>
        </p:spPr>
      </p:pic>
      <p:sp>
        <p:nvSpPr>
          <p:cNvPr id="66" name="TextBox 65"/>
          <p:cNvSpPr txBox="1"/>
          <p:nvPr/>
        </p:nvSpPr>
        <p:spPr>
          <a:xfrm>
            <a:off x="7543800" y="1828800"/>
            <a:ext cx="4297680" cy="365760"/>
          </a:xfrm>
          <a:prstGeom prst="rect">
            <a:avLst/>
          </a:prstGeom>
          <a:noFill/>
        </p:spPr>
        <p:txBody>
          <a:bodyPr wrap="square" lIns="0" rIns="0" tIns="0" bIns="0" anchor="t">
            <a:spAutoFit/>
          </a:bodyPr>
          <a:lstStyle/>
          <a:p>
            <a:pPr algn="l"/>
            <a:r>
              <a:rPr sz="900" b="1" i="0">
                <a:solidFill>
                  <a:srgbClr val="14B8A6"/>
                </a:solidFill>
                <a:latin typeface="Calibri"/>
              </a:rPr>
              <a:t>ANALYSE DE L'INCIDENT</a:t>
            </a:r>
          </a:p>
        </p:txBody>
      </p:sp>
      <p:sp>
        <p:nvSpPr>
          <p:cNvPr id="67" name="Rounded Rectangle 66"/>
          <p:cNvSpPr/>
          <p:nvPr/>
        </p:nvSpPr>
        <p:spPr>
          <a:xfrm>
            <a:off x="7543800" y="2194560"/>
            <a:ext cx="4297680" cy="4114800"/>
          </a:xfrm>
          <a:prstGeom prst="roundRect">
            <a:avLst>
              <a:gd name="adj" fmla="val 8000"/>
            </a:avLst>
          </a:prstGeom>
          <a:solidFill>
            <a:srgbClr val="0C121F"/>
          </a:solidFill>
          <a:ln w="1524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772400" y="2331720"/>
            <a:ext cx="3840480" cy="365760"/>
          </a:xfrm>
          <a:prstGeom prst="rect">
            <a:avLst/>
          </a:prstGeom>
          <a:noFill/>
        </p:spPr>
        <p:txBody>
          <a:bodyPr wrap="square" lIns="0" rIns="0" tIns="0" bIns="0" anchor="t">
            <a:spAutoFit/>
          </a:bodyPr>
          <a:lstStyle/>
          <a:p>
            <a:pPr algn="l"/>
            <a:r>
              <a:rPr sz="1100" b="1" i="0">
                <a:solidFill>
                  <a:srgbClr val="F8FAFC"/>
                </a:solidFill>
                <a:latin typeface="Calibri"/>
              </a:rPr>
              <a:t>Informations sensibles détectées :</a:t>
            </a:r>
          </a:p>
        </p:txBody>
      </p:sp>
      <p:sp>
        <p:nvSpPr>
          <p:cNvPr id="69" name="Rounded Rectangle 68"/>
          <p:cNvSpPr/>
          <p:nvPr/>
        </p:nvSpPr>
        <p:spPr>
          <a:xfrm>
            <a:off x="7726680" y="2743200"/>
            <a:ext cx="3931920" cy="713232"/>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7836408" y="2880360"/>
            <a:ext cx="822960" cy="310896"/>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F8FAFC"/>
                </a:solidFill>
                <a:latin typeface="Calibri"/>
              </a:rPr>
              <a:t>SMTP</a:t>
            </a:r>
          </a:p>
        </p:txBody>
      </p:sp>
      <p:sp>
        <p:nvSpPr>
          <p:cNvPr id="71" name="TextBox 70"/>
          <p:cNvSpPr txBox="1"/>
          <p:nvPr/>
        </p:nvSpPr>
        <p:spPr>
          <a:xfrm>
            <a:off x="8778240" y="2834640"/>
            <a:ext cx="2880360" cy="594360"/>
          </a:xfrm>
          <a:prstGeom prst="rect">
            <a:avLst/>
          </a:prstGeom>
          <a:noFill/>
        </p:spPr>
        <p:txBody>
          <a:bodyPr wrap="square" lIns="0" rIns="0" tIns="0" bIns="0" anchor="t">
            <a:spAutoFit/>
          </a:bodyPr>
          <a:lstStyle/>
          <a:p>
            <a:pPr algn="l">
              <a:lnSpc>
                <a:spcPct val="125000"/>
              </a:lnSpc>
            </a:pPr>
            <a:r>
              <a:rPr sz="1000" b="0" i="0">
                <a:solidFill>
                  <a:srgbClr val="F8FAFC"/>
                </a:solidFill>
                <a:latin typeface="Calibri"/>
              </a:rPr>
              <a:t>Identifiants Gmail (envoi d'emails)</a:t>
            </a:r>
          </a:p>
        </p:txBody>
      </p:sp>
      <p:sp>
        <p:nvSpPr>
          <p:cNvPr id="72" name="Rounded Rectangle 71"/>
          <p:cNvSpPr/>
          <p:nvPr/>
        </p:nvSpPr>
        <p:spPr>
          <a:xfrm>
            <a:off x="7726680" y="3529584"/>
            <a:ext cx="3931920" cy="713232"/>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7836408" y="3666744"/>
            <a:ext cx="822960" cy="310896"/>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F8FAFC"/>
                </a:solidFill>
                <a:latin typeface="Calibri"/>
              </a:rPr>
              <a:t>DB URLs</a:t>
            </a:r>
          </a:p>
        </p:txBody>
      </p:sp>
      <p:sp>
        <p:nvSpPr>
          <p:cNvPr id="74" name="TextBox 73"/>
          <p:cNvSpPr txBox="1"/>
          <p:nvPr/>
        </p:nvSpPr>
        <p:spPr>
          <a:xfrm>
            <a:off x="8778240" y="3621024"/>
            <a:ext cx="2880360" cy="594360"/>
          </a:xfrm>
          <a:prstGeom prst="rect">
            <a:avLst/>
          </a:prstGeom>
          <a:noFill/>
        </p:spPr>
        <p:txBody>
          <a:bodyPr wrap="square" lIns="0" rIns="0" tIns="0" bIns="0" anchor="t">
            <a:spAutoFit/>
          </a:bodyPr>
          <a:lstStyle/>
          <a:p>
            <a:pPr algn="l">
              <a:lnSpc>
                <a:spcPct val="125000"/>
              </a:lnSpc>
            </a:pPr>
            <a:r>
              <a:rPr sz="1000" b="0" i="0">
                <a:solidFill>
                  <a:srgbClr val="F8FAFC"/>
                </a:solidFill>
                <a:latin typeface="Calibri"/>
              </a:rPr>
              <a:t>PostgreSQL / Supabase / Render</a:t>
            </a:r>
          </a:p>
          <a:p>
            <a:pPr algn="l">
              <a:lnSpc>
                <a:spcPct val="125000"/>
              </a:lnSpc>
            </a:pPr>
            <a:r>
              <a:rPr sz="1000" b="0" i="0">
                <a:solidFill>
                  <a:srgbClr val="F8FAFC"/>
                </a:solidFill>
                <a:latin typeface="Calibri"/>
              </a:rPr>
              <a:t>(user + password)</a:t>
            </a:r>
          </a:p>
        </p:txBody>
      </p:sp>
      <p:sp>
        <p:nvSpPr>
          <p:cNvPr id="75" name="Rounded Rectangle 74"/>
          <p:cNvSpPr/>
          <p:nvPr/>
        </p:nvSpPr>
        <p:spPr>
          <a:xfrm>
            <a:off x="7726680" y="4315968"/>
            <a:ext cx="3931920" cy="713232"/>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7836408" y="4453128"/>
            <a:ext cx="822960" cy="310896"/>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F8FAFC"/>
                </a:solidFill>
                <a:latin typeface="Calibri"/>
              </a:rPr>
              <a:t>OAuth</a:t>
            </a:r>
          </a:p>
        </p:txBody>
      </p:sp>
      <p:sp>
        <p:nvSpPr>
          <p:cNvPr id="77" name="TextBox 76"/>
          <p:cNvSpPr txBox="1"/>
          <p:nvPr/>
        </p:nvSpPr>
        <p:spPr>
          <a:xfrm>
            <a:off x="8778240" y="4407408"/>
            <a:ext cx="2880360" cy="594360"/>
          </a:xfrm>
          <a:prstGeom prst="rect">
            <a:avLst/>
          </a:prstGeom>
          <a:noFill/>
        </p:spPr>
        <p:txBody>
          <a:bodyPr wrap="square" lIns="0" rIns="0" tIns="0" bIns="0" anchor="t">
            <a:spAutoFit/>
          </a:bodyPr>
          <a:lstStyle/>
          <a:p>
            <a:pPr algn="l">
              <a:lnSpc>
                <a:spcPct val="125000"/>
              </a:lnSpc>
            </a:pPr>
            <a:r>
              <a:rPr sz="1000" b="0" i="0">
                <a:solidFill>
                  <a:srgbClr val="F8FAFC"/>
                </a:solidFill>
                <a:latin typeface="Calibri"/>
              </a:rPr>
              <a:t>Secret Google OAuth</a:t>
            </a:r>
          </a:p>
        </p:txBody>
      </p:sp>
      <p:sp>
        <p:nvSpPr>
          <p:cNvPr id="78" name="Rounded Rectangle 77"/>
          <p:cNvSpPr/>
          <p:nvPr/>
        </p:nvSpPr>
        <p:spPr>
          <a:xfrm>
            <a:off x="7726680" y="5102352"/>
            <a:ext cx="3931920" cy="713232"/>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7836408" y="5239512"/>
            <a:ext cx="822960" cy="310896"/>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F8FAFC"/>
                </a:solidFill>
                <a:latin typeface="Calibri"/>
              </a:rPr>
              <a:t>ENV</a:t>
            </a:r>
          </a:p>
        </p:txBody>
      </p:sp>
      <p:sp>
        <p:nvSpPr>
          <p:cNvPr id="80" name="TextBox 79"/>
          <p:cNvSpPr txBox="1"/>
          <p:nvPr/>
        </p:nvSpPr>
        <p:spPr>
          <a:xfrm>
            <a:off x="8778240" y="5193792"/>
            <a:ext cx="2880360" cy="594360"/>
          </a:xfrm>
          <a:prstGeom prst="rect">
            <a:avLst/>
          </a:prstGeom>
          <a:noFill/>
        </p:spPr>
        <p:txBody>
          <a:bodyPr wrap="square" lIns="0" rIns="0" tIns="0" bIns="0" anchor="t">
            <a:spAutoFit/>
          </a:bodyPr>
          <a:lstStyle/>
          <a:p>
            <a:pPr algn="l">
              <a:lnSpc>
                <a:spcPct val="125000"/>
              </a:lnSpc>
            </a:pPr>
            <a:r>
              <a:rPr sz="1000" b="0" i="0">
                <a:solidFill>
                  <a:srgbClr val="F8FAFC"/>
                </a:solidFill>
                <a:latin typeface="Calibri"/>
              </a:rPr>
              <a:t>HOST / PORT / USER / PASSWORD</a:t>
            </a:r>
          </a:p>
        </p:txBody>
      </p:sp>
      <p:sp>
        <p:nvSpPr>
          <p:cNvPr id="81" name="Rectangle 80"/>
          <p:cNvSpPr/>
          <p:nvPr/>
        </p:nvSpPr>
        <p:spPr>
          <a:xfrm>
            <a:off x="502920" y="6400800"/>
            <a:ext cx="11185855" cy="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02920" y="6355080"/>
            <a:ext cx="11247120" cy="320040"/>
          </a:xfrm>
          <a:prstGeom prst="rect">
            <a:avLst/>
          </a:prstGeom>
          <a:noFill/>
        </p:spPr>
        <p:txBody>
          <a:bodyPr wrap="square" lIns="0" rIns="0" tIns="0" bIns="0" anchor="t">
            <a:spAutoFit/>
          </a:bodyPr>
          <a:lstStyle/>
          <a:p>
            <a:pPr algn="l"/>
            <a:r>
              <a:rPr sz="1000" b="1" i="1">
                <a:solidFill>
                  <a:srgbClr val="F59E0B"/>
                </a:solidFill>
                <a:latin typeface="Calibri"/>
              </a:rPr>
              <a:t>IMPACT  →  accès aux services backend, à la base de données et aux services tiers liés à l'application.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SOURCE #2 — VEILLE COMMUNAUTAIRE &amp; OSINT</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Telegram Monitoring — rôle &amp; canaux</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F59E0B"/>
                </a:solidFill>
                <a:latin typeface="Calibri"/>
              </a:rPr>
              <a:t>YASSIR</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10 / 19</a:t>
            </a:r>
          </a:p>
        </p:txBody>
      </p:sp>
      <p:sp>
        <p:nvSpPr>
          <p:cNvPr id="55" name="Rounded Rectangle 54"/>
          <p:cNvSpPr/>
          <p:nvPr/>
        </p:nvSpPr>
        <p:spPr>
          <a:xfrm>
            <a:off x="495147" y="1417320"/>
            <a:ext cx="2697480" cy="7772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95147" y="1417320"/>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23747" y="1490472"/>
            <a:ext cx="2331720" cy="365760"/>
          </a:xfrm>
          <a:prstGeom prst="rect">
            <a:avLst/>
          </a:prstGeom>
          <a:noFill/>
        </p:spPr>
        <p:txBody>
          <a:bodyPr wrap="square" lIns="0" rIns="0" tIns="0" bIns="0" anchor="t">
            <a:spAutoFit/>
          </a:bodyPr>
          <a:lstStyle/>
          <a:p>
            <a:pPr algn="l"/>
            <a:r>
              <a:rPr sz="2000" b="1" i="0">
                <a:solidFill>
                  <a:srgbClr val="F59E0B"/>
                </a:solidFill>
                <a:latin typeface="Calibri"/>
              </a:rPr>
              <a:t>2</a:t>
            </a:r>
          </a:p>
        </p:txBody>
      </p:sp>
      <p:sp>
        <p:nvSpPr>
          <p:cNvPr id="58" name="TextBox 57"/>
          <p:cNvSpPr txBox="1"/>
          <p:nvPr/>
        </p:nvSpPr>
        <p:spPr>
          <a:xfrm>
            <a:off x="723747" y="1874520"/>
            <a:ext cx="2331720" cy="274320"/>
          </a:xfrm>
          <a:prstGeom prst="rect">
            <a:avLst/>
          </a:prstGeom>
          <a:noFill/>
        </p:spPr>
        <p:txBody>
          <a:bodyPr wrap="square" lIns="0" rIns="0" tIns="0" bIns="0" anchor="t">
            <a:spAutoFit/>
          </a:bodyPr>
          <a:lstStyle/>
          <a:p>
            <a:pPr algn="l"/>
            <a:r>
              <a:rPr sz="1000" b="0" i="0">
                <a:solidFill>
                  <a:srgbClr val="94A3B8"/>
                </a:solidFill>
                <a:latin typeface="Calibri"/>
              </a:rPr>
              <a:t>canaux publics suivis</a:t>
            </a:r>
          </a:p>
        </p:txBody>
      </p:sp>
      <p:sp>
        <p:nvSpPr>
          <p:cNvPr id="59" name="Rounded Rectangle 58"/>
          <p:cNvSpPr/>
          <p:nvPr/>
        </p:nvSpPr>
        <p:spPr>
          <a:xfrm>
            <a:off x="3329787" y="1417320"/>
            <a:ext cx="2697480" cy="7772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329787" y="1417320"/>
            <a:ext cx="73152" cy="7772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558387" y="1490472"/>
            <a:ext cx="2331720" cy="365760"/>
          </a:xfrm>
          <a:prstGeom prst="rect">
            <a:avLst/>
          </a:prstGeom>
          <a:noFill/>
        </p:spPr>
        <p:txBody>
          <a:bodyPr wrap="square" lIns="0" rIns="0" tIns="0" bIns="0" anchor="t">
            <a:spAutoFit/>
          </a:bodyPr>
          <a:lstStyle/>
          <a:p>
            <a:pPr algn="l"/>
            <a:r>
              <a:rPr sz="2000" b="1" i="0">
                <a:solidFill>
                  <a:srgbClr val="3B82F6"/>
                </a:solidFill>
                <a:latin typeface="Calibri"/>
              </a:rPr>
              <a:t>OSINT</a:t>
            </a:r>
          </a:p>
        </p:txBody>
      </p:sp>
      <p:sp>
        <p:nvSpPr>
          <p:cNvPr id="62" name="TextBox 61"/>
          <p:cNvSpPr txBox="1"/>
          <p:nvPr/>
        </p:nvSpPr>
        <p:spPr>
          <a:xfrm>
            <a:off x="3558387" y="1874520"/>
            <a:ext cx="2331720" cy="274320"/>
          </a:xfrm>
          <a:prstGeom prst="rect">
            <a:avLst/>
          </a:prstGeom>
          <a:noFill/>
        </p:spPr>
        <p:txBody>
          <a:bodyPr wrap="square" lIns="0" rIns="0" tIns="0" bIns="0" anchor="t">
            <a:spAutoFit/>
          </a:bodyPr>
          <a:lstStyle/>
          <a:p>
            <a:pPr algn="l"/>
            <a:r>
              <a:rPr sz="1000" b="0" i="0">
                <a:solidFill>
                  <a:srgbClr val="94A3B8"/>
                </a:solidFill>
                <a:latin typeface="Calibri"/>
              </a:rPr>
              <a:t>indications déclaratives</a:t>
            </a:r>
          </a:p>
        </p:txBody>
      </p:sp>
      <p:sp>
        <p:nvSpPr>
          <p:cNvPr id="63" name="Rounded Rectangle 62"/>
          <p:cNvSpPr/>
          <p:nvPr/>
        </p:nvSpPr>
        <p:spPr>
          <a:xfrm>
            <a:off x="6164427" y="1417320"/>
            <a:ext cx="2697480" cy="7772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64427" y="1417320"/>
            <a:ext cx="73152" cy="7772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93027" y="1490472"/>
            <a:ext cx="2331720" cy="365760"/>
          </a:xfrm>
          <a:prstGeom prst="rect">
            <a:avLst/>
          </a:prstGeom>
          <a:noFill/>
        </p:spPr>
        <p:txBody>
          <a:bodyPr wrap="square" lIns="0" rIns="0" tIns="0" bIns="0" anchor="t">
            <a:spAutoFit/>
          </a:bodyPr>
          <a:lstStyle/>
          <a:p>
            <a:pPr algn="l"/>
            <a:r>
              <a:rPr sz="2000" b="1" i="0">
                <a:solidFill>
                  <a:srgbClr val="14B8A6"/>
                </a:solidFill>
                <a:latin typeface="Calibri"/>
              </a:rPr>
              <a:t>CVE</a:t>
            </a:r>
          </a:p>
        </p:txBody>
      </p:sp>
      <p:sp>
        <p:nvSpPr>
          <p:cNvPr id="66" name="TextBox 65"/>
          <p:cNvSpPr txBox="1"/>
          <p:nvPr/>
        </p:nvSpPr>
        <p:spPr>
          <a:xfrm>
            <a:off x="6393027" y="1874520"/>
            <a:ext cx="2331720" cy="274320"/>
          </a:xfrm>
          <a:prstGeom prst="rect">
            <a:avLst/>
          </a:prstGeom>
          <a:noFill/>
        </p:spPr>
        <p:txBody>
          <a:bodyPr wrap="square" lIns="0" rIns="0" tIns="0" bIns="0" anchor="t">
            <a:spAutoFit/>
          </a:bodyPr>
          <a:lstStyle/>
          <a:p>
            <a:pPr algn="l"/>
            <a:r>
              <a:rPr sz="1000" b="0" i="0">
                <a:solidFill>
                  <a:srgbClr val="94A3B8"/>
                </a:solidFill>
                <a:latin typeface="Calibri"/>
              </a:rPr>
              <a:t>vulnérabilités techniques</a:t>
            </a:r>
          </a:p>
        </p:txBody>
      </p:sp>
      <p:sp>
        <p:nvSpPr>
          <p:cNvPr id="67" name="Rounded Rectangle 66"/>
          <p:cNvSpPr/>
          <p:nvPr/>
        </p:nvSpPr>
        <p:spPr>
          <a:xfrm>
            <a:off x="8999067" y="1417320"/>
            <a:ext cx="2697480" cy="7772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999067" y="1417320"/>
            <a:ext cx="73152" cy="77724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227667" y="1490472"/>
            <a:ext cx="2331720" cy="365760"/>
          </a:xfrm>
          <a:prstGeom prst="rect">
            <a:avLst/>
          </a:prstGeom>
          <a:noFill/>
        </p:spPr>
        <p:txBody>
          <a:bodyPr wrap="square" lIns="0" rIns="0" tIns="0" bIns="0" anchor="t">
            <a:spAutoFit/>
          </a:bodyPr>
          <a:lstStyle/>
          <a:p>
            <a:pPr algn="l"/>
            <a:r>
              <a:rPr sz="2000" b="1" i="0">
                <a:solidFill>
                  <a:srgbClr val="EF4444"/>
                </a:solidFill>
                <a:latin typeface="Calibri"/>
              </a:rPr>
              <a:t>Breaches</a:t>
            </a:r>
          </a:p>
        </p:txBody>
      </p:sp>
      <p:sp>
        <p:nvSpPr>
          <p:cNvPr id="70" name="TextBox 69"/>
          <p:cNvSpPr txBox="1"/>
          <p:nvPr/>
        </p:nvSpPr>
        <p:spPr>
          <a:xfrm>
            <a:off x="9227667" y="1874520"/>
            <a:ext cx="2331720" cy="274320"/>
          </a:xfrm>
          <a:prstGeom prst="rect">
            <a:avLst/>
          </a:prstGeom>
          <a:noFill/>
        </p:spPr>
        <p:txBody>
          <a:bodyPr wrap="square" lIns="0" rIns="0" tIns="0" bIns="0" anchor="t">
            <a:spAutoFit/>
          </a:bodyPr>
          <a:lstStyle/>
          <a:p>
            <a:pPr algn="l"/>
            <a:r>
              <a:rPr sz="1000" b="0" i="0">
                <a:solidFill>
                  <a:srgbClr val="94A3B8"/>
                </a:solidFill>
                <a:latin typeface="Calibri"/>
              </a:rPr>
              <a:t>annonces de fuites</a:t>
            </a:r>
          </a:p>
        </p:txBody>
      </p:sp>
      <p:sp>
        <p:nvSpPr>
          <p:cNvPr id="71" name="TextBox 70"/>
          <p:cNvSpPr txBox="1"/>
          <p:nvPr/>
        </p:nvSpPr>
        <p:spPr>
          <a:xfrm>
            <a:off x="502920" y="2423160"/>
            <a:ext cx="6858000" cy="365760"/>
          </a:xfrm>
          <a:prstGeom prst="rect">
            <a:avLst/>
          </a:prstGeom>
          <a:noFill/>
        </p:spPr>
        <p:txBody>
          <a:bodyPr wrap="square" lIns="0" rIns="0" tIns="0" bIns="0" anchor="t">
            <a:spAutoFit/>
          </a:bodyPr>
          <a:lstStyle/>
          <a:p>
            <a:pPr algn="l"/>
            <a:r>
              <a:rPr sz="900" b="1" i="0">
                <a:solidFill>
                  <a:srgbClr val="F59E0B"/>
                </a:solidFill>
                <a:latin typeface="Calibri"/>
              </a:rPr>
              <a:t>INTERFACE TELEGRAM MONITORING</a:t>
            </a:r>
          </a:p>
        </p:txBody>
      </p:sp>
      <p:sp>
        <p:nvSpPr>
          <p:cNvPr id="72" name="Rounded Rectangle 71"/>
          <p:cNvSpPr/>
          <p:nvPr/>
        </p:nvSpPr>
        <p:spPr>
          <a:xfrm>
            <a:off x="365760" y="2788920"/>
            <a:ext cx="7040880" cy="35204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365760" y="2788920"/>
            <a:ext cx="7040880" cy="22860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75488" y="2862072"/>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12648" y="2862072"/>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49808" y="2862072"/>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14400" y="2788920"/>
            <a:ext cx="6400800" cy="228600"/>
          </a:xfrm>
          <a:prstGeom prst="rect">
            <a:avLst/>
          </a:prstGeom>
          <a:noFill/>
        </p:spPr>
        <p:txBody>
          <a:bodyPr wrap="square" lIns="0" rIns="0" tIns="0" bIns="0" anchor="ctr">
            <a:spAutoFit/>
          </a:bodyPr>
          <a:lstStyle/>
          <a:p>
            <a:pPr algn="l"/>
            <a:r>
              <a:rPr sz="800" b="0" i="0">
                <a:solidFill>
                  <a:srgbClr val="64748B"/>
                </a:solidFill>
                <a:latin typeface="Consolas"/>
              </a:rPr>
              <a:t>dbm.soc.local/telegram/overview</a:t>
            </a:r>
          </a:p>
        </p:txBody>
      </p:sp>
      <p:pic>
        <p:nvPicPr>
          <p:cNvPr id="78" name="Picture 77" descr="tg_dash.png"/>
          <p:cNvPicPr>
            <a:picLocks noChangeAspect="1"/>
          </p:cNvPicPr>
          <p:nvPr/>
        </p:nvPicPr>
        <p:blipFill>
          <a:blip r:embed="rId2"/>
          <a:stretch>
            <a:fillRect/>
          </a:stretch>
        </p:blipFill>
        <p:spPr>
          <a:xfrm>
            <a:off x="411480" y="3063240"/>
            <a:ext cx="6949440" cy="3904302"/>
          </a:xfrm>
          <a:prstGeom prst="rect">
            <a:avLst/>
          </a:prstGeom>
        </p:spPr>
      </p:pic>
      <p:sp>
        <p:nvSpPr>
          <p:cNvPr id="79" name="TextBox 78"/>
          <p:cNvSpPr txBox="1"/>
          <p:nvPr/>
        </p:nvSpPr>
        <p:spPr>
          <a:xfrm>
            <a:off x="7589520" y="2423160"/>
            <a:ext cx="4251960" cy="365760"/>
          </a:xfrm>
          <a:prstGeom prst="rect">
            <a:avLst/>
          </a:prstGeom>
          <a:noFill/>
        </p:spPr>
        <p:txBody>
          <a:bodyPr wrap="square" lIns="0" rIns="0" tIns="0" bIns="0" anchor="t">
            <a:spAutoFit/>
          </a:bodyPr>
          <a:lstStyle/>
          <a:p>
            <a:pPr algn="l"/>
            <a:r>
              <a:rPr sz="900" b="1" i="0">
                <a:solidFill>
                  <a:srgbClr val="F59E0B"/>
                </a:solidFill>
                <a:latin typeface="Calibri"/>
              </a:rPr>
              <a:t>CANAUX PUBLICS SUIVIS</a:t>
            </a:r>
          </a:p>
        </p:txBody>
      </p:sp>
      <p:sp>
        <p:nvSpPr>
          <p:cNvPr id="80" name="Rounded Rectangle 79"/>
          <p:cNvSpPr/>
          <p:nvPr/>
        </p:nvSpPr>
        <p:spPr>
          <a:xfrm>
            <a:off x="7589520" y="2834640"/>
            <a:ext cx="4251960" cy="16916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7589520" y="2834640"/>
            <a:ext cx="73152" cy="16916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818120" y="2971800"/>
            <a:ext cx="3794760" cy="365760"/>
          </a:xfrm>
          <a:prstGeom prst="rect">
            <a:avLst/>
          </a:prstGeom>
          <a:noFill/>
        </p:spPr>
        <p:txBody>
          <a:bodyPr wrap="square" lIns="0" rIns="0" tIns="0" bIns="0" anchor="t">
            <a:spAutoFit/>
          </a:bodyPr>
          <a:lstStyle/>
          <a:p>
            <a:pPr algn="l"/>
            <a:r>
              <a:rPr sz="1500" b="1" i="0">
                <a:solidFill>
                  <a:srgbClr val="3B82F6"/>
                </a:solidFill>
                <a:latin typeface="Calibri"/>
              </a:rPr>
              <a:t>CVEDetector</a:t>
            </a:r>
          </a:p>
        </p:txBody>
      </p:sp>
      <p:sp>
        <p:nvSpPr>
          <p:cNvPr id="83" name="Rounded Rectangle 82"/>
          <p:cNvSpPr/>
          <p:nvPr/>
        </p:nvSpPr>
        <p:spPr>
          <a:xfrm>
            <a:off x="7818120" y="3429000"/>
            <a:ext cx="1645920" cy="27432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94A3B8"/>
                </a:solidFill>
                <a:latin typeface="Calibri"/>
              </a:rPr>
              <a:t>cve_intelligence</a:t>
            </a:r>
          </a:p>
        </p:txBody>
      </p:sp>
      <p:sp>
        <p:nvSpPr>
          <p:cNvPr id="84" name="TextBox 83"/>
          <p:cNvSpPr txBox="1"/>
          <p:nvPr/>
        </p:nvSpPr>
        <p:spPr>
          <a:xfrm>
            <a:off x="7818120" y="3794760"/>
            <a:ext cx="3794760" cy="640080"/>
          </a:xfrm>
          <a:prstGeom prst="rect">
            <a:avLst/>
          </a:prstGeom>
          <a:noFill/>
        </p:spPr>
        <p:txBody>
          <a:bodyPr wrap="square" lIns="0" rIns="0" tIns="0" bIns="0" anchor="t">
            <a:spAutoFit/>
          </a:bodyPr>
          <a:lstStyle/>
          <a:p>
            <a:pPr algn="l">
              <a:lnSpc>
                <a:spcPct val="130000"/>
              </a:lnSpc>
            </a:pPr>
            <a:r>
              <a:rPr sz="1000" b="0" i="0">
                <a:solidFill>
                  <a:srgbClr val="94A3B8"/>
                </a:solidFill>
                <a:latin typeface="Calibri"/>
              </a:rPr>
              <a:t>Veille sur les CVE,</a:t>
            </a:r>
          </a:p>
          <a:p>
            <a:pPr algn="l">
              <a:lnSpc>
                <a:spcPct val="130000"/>
              </a:lnSpc>
            </a:pPr>
            <a:r>
              <a:rPr sz="1000" b="0" i="0">
                <a:solidFill>
                  <a:srgbClr val="94A3B8"/>
                </a:solidFill>
                <a:latin typeface="Calibri"/>
              </a:rPr>
              <a:t>vulnérabilités &amp; alertes techniques.</a:t>
            </a:r>
          </a:p>
        </p:txBody>
      </p:sp>
      <p:sp>
        <p:nvSpPr>
          <p:cNvPr id="85" name="Rounded Rectangle 84"/>
          <p:cNvSpPr/>
          <p:nvPr/>
        </p:nvSpPr>
        <p:spPr>
          <a:xfrm>
            <a:off x="7589520" y="4617720"/>
            <a:ext cx="4251960" cy="16916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7589520" y="4617720"/>
            <a:ext cx="73152" cy="169164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818120" y="4754880"/>
            <a:ext cx="3794760" cy="365760"/>
          </a:xfrm>
          <a:prstGeom prst="rect">
            <a:avLst/>
          </a:prstGeom>
          <a:noFill/>
        </p:spPr>
        <p:txBody>
          <a:bodyPr wrap="square" lIns="0" rIns="0" tIns="0" bIns="0" anchor="t">
            <a:spAutoFit/>
          </a:bodyPr>
          <a:lstStyle/>
          <a:p>
            <a:pPr algn="l"/>
            <a:r>
              <a:rPr sz="1500" b="1" i="0">
                <a:solidFill>
                  <a:srgbClr val="EF4444"/>
                </a:solidFill>
                <a:latin typeface="Calibri"/>
              </a:rPr>
              <a:t>breachforums_cdn</a:t>
            </a:r>
          </a:p>
        </p:txBody>
      </p:sp>
      <p:sp>
        <p:nvSpPr>
          <p:cNvPr id="88" name="Rounded Rectangle 87"/>
          <p:cNvSpPr/>
          <p:nvPr/>
        </p:nvSpPr>
        <p:spPr>
          <a:xfrm>
            <a:off x="7818120" y="5212080"/>
            <a:ext cx="1645920" cy="27432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94A3B8"/>
                </a:solidFill>
                <a:latin typeface="Calibri"/>
              </a:rPr>
              <a:t>data_breaches</a:t>
            </a:r>
          </a:p>
        </p:txBody>
      </p:sp>
      <p:sp>
        <p:nvSpPr>
          <p:cNvPr id="89" name="TextBox 88"/>
          <p:cNvSpPr txBox="1"/>
          <p:nvPr/>
        </p:nvSpPr>
        <p:spPr>
          <a:xfrm>
            <a:off x="7818120" y="5577840"/>
            <a:ext cx="3794760" cy="640080"/>
          </a:xfrm>
          <a:prstGeom prst="rect">
            <a:avLst/>
          </a:prstGeom>
          <a:noFill/>
        </p:spPr>
        <p:txBody>
          <a:bodyPr wrap="square" lIns="0" rIns="0" tIns="0" bIns="0" anchor="t">
            <a:spAutoFit/>
          </a:bodyPr>
          <a:lstStyle/>
          <a:p>
            <a:pPr algn="l">
              <a:lnSpc>
                <a:spcPct val="130000"/>
              </a:lnSpc>
            </a:pPr>
            <a:r>
              <a:rPr sz="1000" b="0" i="0">
                <a:solidFill>
                  <a:srgbClr val="94A3B8"/>
                </a:solidFill>
                <a:latin typeface="Calibri"/>
              </a:rPr>
              <a:t>Annonces publiques</a:t>
            </a:r>
          </a:p>
          <a:p>
            <a:pPr algn="l">
              <a:lnSpc>
                <a:spcPct val="130000"/>
              </a:lnSpc>
            </a:pPr>
            <a:r>
              <a:rPr sz="1000" b="0" i="0">
                <a:solidFill>
                  <a:srgbClr val="94A3B8"/>
                </a:solidFill>
                <a:latin typeface="Calibri"/>
              </a:rPr>
              <a:t>liées aux fuites de données.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TELEGRAM — PIPELINE &amp; CAS RÉEL</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Logique de traitement &amp; exemple Telegram</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F59E0B"/>
                </a:solidFill>
                <a:latin typeface="Calibri"/>
              </a:rPr>
              <a:t>YASSIR</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11 / 19</a:t>
            </a:r>
          </a:p>
        </p:txBody>
      </p:sp>
      <p:sp>
        <p:nvSpPr>
          <p:cNvPr id="55" name="TextBox 54"/>
          <p:cNvSpPr txBox="1"/>
          <p:nvPr/>
        </p:nvSpPr>
        <p:spPr>
          <a:xfrm>
            <a:off x="502920" y="1371600"/>
            <a:ext cx="6400800" cy="365760"/>
          </a:xfrm>
          <a:prstGeom prst="rect">
            <a:avLst/>
          </a:prstGeom>
          <a:noFill/>
        </p:spPr>
        <p:txBody>
          <a:bodyPr wrap="square" lIns="0" rIns="0" tIns="0" bIns="0" anchor="t">
            <a:spAutoFit/>
          </a:bodyPr>
          <a:lstStyle/>
          <a:p>
            <a:pPr algn="l"/>
            <a:r>
              <a:rPr sz="900" b="1" i="0">
                <a:solidFill>
                  <a:srgbClr val="F59E0B"/>
                </a:solidFill>
                <a:latin typeface="Calibri"/>
              </a:rPr>
              <a:t>5 ÉTAPES DE TRAITEMENT D'UN MESSAGE</a:t>
            </a:r>
          </a:p>
        </p:txBody>
      </p:sp>
      <p:sp>
        <p:nvSpPr>
          <p:cNvPr id="56" name="Rounded Rectangle 55"/>
          <p:cNvSpPr/>
          <p:nvPr/>
        </p:nvSpPr>
        <p:spPr>
          <a:xfrm>
            <a:off x="502920" y="1783080"/>
            <a:ext cx="6583680" cy="749808"/>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85800" y="1947672"/>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8FAFC"/>
                </a:solidFill>
              </a:rPr>
              <a:t>1</a:t>
            </a:r>
          </a:p>
        </p:txBody>
      </p:sp>
      <p:sp>
        <p:nvSpPr>
          <p:cNvPr id="58" name="TextBox 57"/>
          <p:cNvSpPr txBox="1"/>
          <p:nvPr/>
        </p:nvSpPr>
        <p:spPr>
          <a:xfrm>
            <a:off x="1280160" y="1874520"/>
            <a:ext cx="5029200" cy="365760"/>
          </a:xfrm>
          <a:prstGeom prst="rect">
            <a:avLst/>
          </a:prstGeom>
          <a:noFill/>
        </p:spPr>
        <p:txBody>
          <a:bodyPr wrap="square" lIns="0" rIns="0" tIns="0" bIns="0" anchor="t">
            <a:spAutoFit/>
          </a:bodyPr>
          <a:lstStyle/>
          <a:p>
            <a:pPr algn="l"/>
            <a:r>
              <a:rPr sz="1400" b="1" i="0">
                <a:solidFill>
                  <a:srgbClr val="F8FAFC"/>
                </a:solidFill>
                <a:latin typeface="Calibri"/>
              </a:rPr>
              <a:t>Extraction</a:t>
            </a:r>
          </a:p>
        </p:txBody>
      </p:sp>
      <p:sp>
        <p:nvSpPr>
          <p:cNvPr id="59" name="TextBox 58"/>
          <p:cNvSpPr txBox="1"/>
          <p:nvPr/>
        </p:nvSpPr>
        <p:spPr>
          <a:xfrm>
            <a:off x="1280160" y="2167128"/>
            <a:ext cx="5029200" cy="365760"/>
          </a:xfrm>
          <a:prstGeom prst="rect">
            <a:avLst/>
          </a:prstGeom>
          <a:noFill/>
        </p:spPr>
        <p:txBody>
          <a:bodyPr wrap="square" lIns="0" rIns="0" tIns="0" bIns="0" anchor="t">
            <a:spAutoFit/>
          </a:bodyPr>
          <a:lstStyle/>
          <a:p>
            <a:pPr algn="l"/>
            <a:r>
              <a:rPr sz="1000" b="0" i="0">
                <a:solidFill>
                  <a:srgbClr val="94A3B8"/>
                </a:solidFill>
                <a:latin typeface="Calibri"/>
              </a:rPr>
              <a:t>titre, URLs, dates, CVE</a:t>
            </a:r>
          </a:p>
        </p:txBody>
      </p:sp>
      <p:sp>
        <p:nvSpPr>
          <p:cNvPr id="60" name="Rounded Rectangle 59"/>
          <p:cNvSpPr/>
          <p:nvPr/>
        </p:nvSpPr>
        <p:spPr>
          <a:xfrm>
            <a:off x="502920" y="2578608"/>
            <a:ext cx="6583680" cy="749808"/>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685800" y="2743200"/>
            <a:ext cx="420624" cy="420624"/>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8FAFC"/>
                </a:solidFill>
              </a:rPr>
              <a:t>2</a:t>
            </a:r>
          </a:p>
        </p:txBody>
      </p:sp>
      <p:sp>
        <p:nvSpPr>
          <p:cNvPr id="62" name="TextBox 61"/>
          <p:cNvSpPr txBox="1"/>
          <p:nvPr/>
        </p:nvSpPr>
        <p:spPr>
          <a:xfrm>
            <a:off x="1280160" y="2670048"/>
            <a:ext cx="5029200" cy="365760"/>
          </a:xfrm>
          <a:prstGeom prst="rect">
            <a:avLst/>
          </a:prstGeom>
          <a:noFill/>
        </p:spPr>
        <p:txBody>
          <a:bodyPr wrap="square" lIns="0" rIns="0" tIns="0" bIns="0" anchor="t">
            <a:spAutoFit/>
          </a:bodyPr>
          <a:lstStyle/>
          <a:p>
            <a:pPr algn="l"/>
            <a:r>
              <a:rPr sz="1400" b="1" i="0">
                <a:solidFill>
                  <a:srgbClr val="F8FAFC"/>
                </a:solidFill>
                <a:latin typeface="Calibri"/>
              </a:rPr>
              <a:t>Détection</a:t>
            </a:r>
          </a:p>
        </p:txBody>
      </p:sp>
      <p:sp>
        <p:nvSpPr>
          <p:cNvPr id="63" name="TextBox 62"/>
          <p:cNvSpPr txBox="1"/>
          <p:nvPr/>
        </p:nvSpPr>
        <p:spPr>
          <a:xfrm>
            <a:off x="1280160" y="2962656"/>
            <a:ext cx="5029200" cy="365760"/>
          </a:xfrm>
          <a:prstGeom prst="rect">
            <a:avLst/>
          </a:prstGeom>
          <a:noFill/>
        </p:spPr>
        <p:txBody>
          <a:bodyPr wrap="square" lIns="0" rIns="0" tIns="0" bIns="0" anchor="t">
            <a:spAutoFit/>
          </a:bodyPr>
          <a:lstStyle/>
          <a:p>
            <a:pPr algn="l"/>
            <a:r>
              <a:rPr sz="1000" b="0" i="0">
                <a:solidFill>
                  <a:srgbClr val="94A3B8"/>
                </a:solidFill>
                <a:latin typeface="Calibri"/>
              </a:rPr>
              <a:t>thématiques (fuite, vuln...)</a:t>
            </a:r>
          </a:p>
        </p:txBody>
      </p:sp>
      <p:sp>
        <p:nvSpPr>
          <p:cNvPr id="64" name="Rounded Rectangle 63"/>
          <p:cNvSpPr/>
          <p:nvPr/>
        </p:nvSpPr>
        <p:spPr>
          <a:xfrm>
            <a:off x="502920" y="3374136"/>
            <a:ext cx="6583680" cy="749808"/>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685800" y="3538728"/>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8FAFC"/>
                </a:solidFill>
              </a:rPr>
              <a:t>3</a:t>
            </a:r>
          </a:p>
        </p:txBody>
      </p:sp>
      <p:sp>
        <p:nvSpPr>
          <p:cNvPr id="66" name="TextBox 65"/>
          <p:cNvSpPr txBox="1"/>
          <p:nvPr/>
        </p:nvSpPr>
        <p:spPr>
          <a:xfrm>
            <a:off x="1280160" y="3465576"/>
            <a:ext cx="5029200" cy="365760"/>
          </a:xfrm>
          <a:prstGeom prst="rect">
            <a:avLst/>
          </a:prstGeom>
          <a:noFill/>
        </p:spPr>
        <p:txBody>
          <a:bodyPr wrap="square" lIns="0" rIns="0" tIns="0" bIns="0" anchor="t">
            <a:spAutoFit/>
          </a:bodyPr>
          <a:lstStyle/>
          <a:p>
            <a:pPr algn="l"/>
            <a:r>
              <a:rPr sz="1400" b="1" i="0">
                <a:solidFill>
                  <a:srgbClr val="F8FAFC"/>
                </a:solidFill>
                <a:latin typeface="Calibri"/>
              </a:rPr>
              <a:t>Classification</a:t>
            </a:r>
          </a:p>
        </p:txBody>
      </p:sp>
      <p:sp>
        <p:nvSpPr>
          <p:cNvPr id="67" name="TextBox 66"/>
          <p:cNvSpPr txBox="1"/>
          <p:nvPr/>
        </p:nvSpPr>
        <p:spPr>
          <a:xfrm>
            <a:off x="1280160" y="3758184"/>
            <a:ext cx="5029200" cy="365760"/>
          </a:xfrm>
          <a:prstGeom prst="rect">
            <a:avLst/>
          </a:prstGeom>
          <a:noFill/>
        </p:spPr>
        <p:txBody>
          <a:bodyPr wrap="square" lIns="0" rIns="0" tIns="0" bIns="0" anchor="t">
            <a:spAutoFit/>
          </a:bodyPr>
          <a:lstStyle/>
          <a:p>
            <a:pPr algn="l"/>
            <a:r>
              <a:rPr sz="1000" b="0" i="0">
                <a:solidFill>
                  <a:srgbClr val="94A3B8"/>
                </a:solidFill>
                <a:latin typeface="Calibri"/>
              </a:rPr>
              <a:t>selon la catégorie du canal</a:t>
            </a:r>
          </a:p>
        </p:txBody>
      </p:sp>
      <p:sp>
        <p:nvSpPr>
          <p:cNvPr id="68" name="Rounded Rectangle 67"/>
          <p:cNvSpPr/>
          <p:nvPr/>
        </p:nvSpPr>
        <p:spPr>
          <a:xfrm>
            <a:off x="502920" y="4169664"/>
            <a:ext cx="6583680" cy="749808"/>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685800" y="4334256"/>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8FAFC"/>
                </a:solidFill>
              </a:rPr>
              <a:t>4</a:t>
            </a:r>
          </a:p>
        </p:txBody>
      </p:sp>
      <p:sp>
        <p:nvSpPr>
          <p:cNvPr id="70" name="TextBox 69"/>
          <p:cNvSpPr txBox="1"/>
          <p:nvPr/>
        </p:nvSpPr>
        <p:spPr>
          <a:xfrm>
            <a:off x="1280160" y="4261104"/>
            <a:ext cx="5029200" cy="365760"/>
          </a:xfrm>
          <a:prstGeom prst="rect">
            <a:avLst/>
          </a:prstGeom>
          <a:noFill/>
        </p:spPr>
        <p:txBody>
          <a:bodyPr wrap="square" lIns="0" rIns="0" tIns="0" bIns="0" anchor="t">
            <a:spAutoFit/>
          </a:bodyPr>
          <a:lstStyle/>
          <a:p>
            <a:pPr algn="l"/>
            <a:r>
              <a:rPr sz="1400" b="1" i="0">
                <a:solidFill>
                  <a:srgbClr val="F8FAFC"/>
                </a:solidFill>
                <a:latin typeface="Calibri"/>
              </a:rPr>
              <a:t>Normalisation</a:t>
            </a:r>
          </a:p>
        </p:txBody>
      </p:sp>
      <p:sp>
        <p:nvSpPr>
          <p:cNvPr id="71" name="TextBox 70"/>
          <p:cNvSpPr txBox="1"/>
          <p:nvPr/>
        </p:nvSpPr>
        <p:spPr>
          <a:xfrm>
            <a:off x="1280160" y="4553712"/>
            <a:ext cx="5029200" cy="365760"/>
          </a:xfrm>
          <a:prstGeom prst="rect">
            <a:avLst/>
          </a:prstGeom>
          <a:noFill/>
        </p:spPr>
        <p:txBody>
          <a:bodyPr wrap="square" lIns="0" rIns="0" tIns="0" bIns="0" anchor="t">
            <a:spAutoFit/>
          </a:bodyPr>
          <a:lstStyle/>
          <a:p>
            <a:pPr algn="l"/>
            <a:r>
              <a:rPr sz="1000" b="0" i="0">
                <a:solidFill>
                  <a:srgbClr val="94A3B8"/>
                </a:solidFill>
                <a:latin typeface="Calibri"/>
              </a:rPr>
              <a:t>signal unifié pour la plateforme</a:t>
            </a:r>
          </a:p>
        </p:txBody>
      </p:sp>
      <p:sp>
        <p:nvSpPr>
          <p:cNvPr id="72" name="Rounded Rectangle 71"/>
          <p:cNvSpPr/>
          <p:nvPr/>
        </p:nvSpPr>
        <p:spPr>
          <a:xfrm>
            <a:off x="502920" y="4965192"/>
            <a:ext cx="6583680" cy="749808"/>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685800" y="512978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8FAFC"/>
                </a:solidFill>
              </a:rPr>
              <a:t>5</a:t>
            </a:r>
          </a:p>
        </p:txBody>
      </p:sp>
      <p:sp>
        <p:nvSpPr>
          <p:cNvPr id="74" name="TextBox 73"/>
          <p:cNvSpPr txBox="1"/>
          <p:nvPr/>
        </p:nvSpPr>
        <p:spPr>
          <a:xfrm>
            <a:off x="1280160" y="5056632"/>
            <a:ext cx="5029200" cy="365760"/>
          </a:xfrm>
          <a:prstGeom prst="rect">
            <a:avLst/>
          </a:prstGeom>
          <a:noFill/>
        </p:spPr>
        <p:txBody>
          <a:bodyPr wrap="square" lIns="0" rIns="0" tIns="0" bIns="0" anchor="t">
            <a:spAutoFit/>
          </a:bodyPr>
          <a:lstStyle/>
          <a:p>
            <a:pPr algn="l"/>
            <a:r>
              <a:rPr sz="1400" b="1" i="0">
                <a:solidFill>
                  <a:srgbClr val="F8FAFC"/>
                </a:solidFill>
                <a:latin typeface="Calibri"/>
              </a:rPr>
              <a:t>Masquage</a:t>
            </a:r>
          </a:p>
        </p:txBody>
      </p:sp>
      <p:sp>
        <p:nvSpPr>
          <p:cNvPr id="75" name="TextBox 74"/>
          <p:cNvSpPr txBox="1"/>
          <p:nvPr/>
        </p:nvSpPr>
        <p:spPr>
          <a:xfrm>
            <a:off x="1280160" y="5349240"/>
            <a:ext cx="5029200" cy="365760"/>
          </a:xfrm>
          <a:prstGeom prst="rect">
            <a:avLst/>
          </a:prstGeom>
          <a:noFill/>
        </p:spPr>
        <p:txBody>
          <a:bodyPr wrap="square" lIns="0" rIns="0" tIns="0" bIns="0" anchor="t">
            <a:spAutoFit/>
          </a:bodyPr>
          <a:lstStyle/>
          <a:p>
            <a:pPr algn="l"/>
            <a:r>
              <a:rPr sz="1000" b="0" i="0">
                <a:solidFill>
                  <a:srgbClr val="94A3B8"/>
                </a:solidFill>
                <a:latin typeface="Calibri"/>
              </a:rPr>
              <a:t>redaction du contenu sensible</a:t>
            </a:r>
          </a:p>
        </p:txBody>
      </p:sp>
      <p:sp>
        <p:nvSpPr>
          <p:cNvPr id="76" name="Rounded Rectangle 75"/>
          <p:cNvSpPr/>
          <p:nvPr/>
        </p:nvSpPr>
        <p:spPr>
          <a:xfrm>
            <a:off x="502920" y="5760720"/>
            <a:ext cx="6583680" cy="54864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77240" y="5852160"/>
            <a:ext cx="6035040" cy="365760"/>
          </a:xfrm>
          <a:prstGeom prst="rect">
            <a:avLst/>
          </a:prstGeom>
          <a:noFill/>
        </p:spPr>
        <p:txBody>
          <a:bodyPr wrap="square" lIns="0" rIns="0" tIns="0" bIns="0" anchor="ctr">
            <a:spAutoFit/>
          </a:bodyPr>
          <a:lstStyle/>
          <a:p>
            <a:pPr algn="l"/>
            <a:r>
              <a:rPr sz="1000" b="0" i="1">
                <a:solidFill>
                  <a:srgbClr val="F59E0B"/>
                </a:solidFill>
                <a:latin typeface="Calibri"/>
              </a:rPr>
              <a:t>Signal OSINT  →  à corroborer avec d'autres sources.</a:t>
            </a:r>
          </a:p>
        </p:txBody>
      </p:sp>
      <p:sp>
        <p:nvSpPr>
          <p:cNvPr id="78" name="TextBox 77"/>
          <p:cNvSpPr txBox="1"/>
          <p:nvPr/>
        </p:nvSpPr>
        <p:spPr>
          <a:xfrm>
            <a:off x="7315200" y="1371600"/>
            <a:ext cx="4526280" cy="365760"/>
          </a:xfrm>
          <a:prstGeom prst="rect">
            <a:avLst/>
          </a:prstGeom>
          <a:noFill/>
        </p:spPr>
        <p:txBody>
          <a:bodyPr wrap="square" lIns="0" rIns="0" tIns="0" bIns="0" anchor="t">
            <a:spAutoFit/>
          </a:bodyPr>
          <a:lstStyle/>
          <a:p>
            <a:pPr algn="l"/>
            <a:r>
              <a:rPr sz="900" b="1" i="0">
                <a:solidFill>
                  <a:srgbClr val="EF4444"/>
                </a:solidFill>
                <a:latin typeface="Calibri"/>
              </a:rPr>
              <a:t>EXEMPLE CONCRET — AVITO.MA</a:t>
            </a:r>
          </a:p>
        </p:txBody>
      </p:sp>
      <p:sp>
        <p:nvSpPr>
          <p:cNvPr id="79" name="Rounded Rectangle 78"/>
          <p:cNvSpPr/>
          <p:nvPr/>
        </p:nvSpPr>
        <p:spPr>
          <a:xfrm>
            <a:off x="7315200" y="1783080"/>
            <a:ext cx="4526280" cy="45262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7315200" y="1783080"/>
            <a:ext cx="4526280" cy="22860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424928" y="1856232"/>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562088" y="1856232"/>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7699248" y="1856232"/>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863840" y="1783080"/>
            <a:ext cx="3886200" cy="228600"/>
          </a:xfrm>
          <a:prstGeom prst="rect">
            <a:avLst/>
          </a:prstGeom>
          <a:noFill/>
        </p:spPr>
        <p:txBody>
          <a:bodyPr wrap="square" lIns="0" rIns="0" tIns="0" bIns="0" anchor="ctr">
            <a:spAutoFit/>
          </a:bodyPr>
          <a:lstStyle/>
          <a:p>
            <a:pPr algn="l"/>
            <a:r>
              <a:rPr sz="800" b="0" i="0">
                <a:solidFill>
                  <a:srgbClr val="64748B"/>
                </a:solidFill>
                <a:latin typeface="Consolas"/>
              </a:rPr>
              <a:t>t.me/breachforums_cdn</a:t>
            </a:r>
          </a:p>
        </p:txBody>
      </p:sp>
      <p:pic>
        <p:nvPicPr>
          <p:cNvPr id="85" name="Picture 84" descr="tg_exposure.png"/>
          <p:cNvPicPr>
            <a:picLocks noChangeAspect="1"/>
          </p:cNvPicPr>
          <p:nvPr/>
        </p:nvPicPr>
        <p:blipFill>
          <a:blip r:embed="rId2"/>
          <a:stretch>
            <a:fillRect/>
          </a:stretch>
        </p:blipFill>
        <p:spPr>
          <a:xfrm>
            <a:off x="7360920" y="2057400"/>
            <a:ext cx="4434840" cy="4265829"/>
          </a:xfrm>
          <a:prstGeom prst="rect">
            <a:avLst/>
          </a:prstGeom>
        </p:spPr>
      </p:pic>
      <p:cxnSp>
        <p:nvCxnSpPr>
          <p:cNvPr id="86" name="Connector 85"/>
          <p:cNvCxnSpPr/>
          <p:nvPr/>
        </p:nvCxnSpPr>
        <p:spPr>
          <a:xfrm>
            <a:off x="7543800" y="4572000"/>
            <a:ext cx="4069080" cy="0"/>
          </a:xfrm>
          <a:prstGeom prst="line">
            <a:avLst/>
          </a:prstGeom>
          <a:ln w="12700">
            <a:solidFill>
              <a:srgbClr val="273854"/>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7543800" y="4709160"/>
            <a:ext cx="1371600" cy="320040"/>
          </a:xfrm>
          <a:prstGeom prst="rect">
            <a:avLst/>
          </a:prstGeom>
          <a:noFill/>
        </p:spPr>
        <p:txBody>
          <a:bodyPr wrap="square" lIns="0" rIns="0" tIns="0" bIns="0" anchor="ctr">
            <a:spAutoFit/>
          </a:bodyPr>
          <a:lstStyle/>
          <a:p>
            <a:pPr algn="l"/>
            <a:r>
              <a:rPr sz="800" b="1" i="0">
                <a:solidFill>
                  <a:srgbClr val="64748B"/>
                </a:solidFill>
                <a:latin typeface="Calibri"/>
              </a:rPr>
              <a:t>SOURCE</a:t>
            </a:r>
          </a:p>
        </p:txBody>
      </p:sp>
      <p:sp>
        <p:nvSpPr>
          <p:cNvPr id="88" name="TextBox 87"/>
          <p:cNvSpPr txBox="1"/>
          <p:nvPr/>
        </p:nvSpPr>
        <p:spPr>
          <a:xfrm>
            <a:off x="8823960" y="4709160"/>
            <a:ext cx="2788920" cy="320040"/>
          </a:xfrm>
          <a:prstGeom prst="rect">
            <a:avLst/>
          </a:prstGeom>
          <a:noFill/>
        </p:spPr>
        <p:txBody>
          <a:bodyPr wrap="square" lIns="0" rIns="0" tIns="0" bIns="0" anchor="ctr">
            <a:spAutoFit/>
          </a:bodyPr>
          <a:lstStyle/>
          <a:p>
            <a:pPr algn="l"/>
            <a:r>
              <a:rPr sz="1000" b="1" i="0">
                <a:solidFill>
                  <a:srgbClr val="F8FAFC"/>
                </a:solidFill>
                <a:latin typeface="Calibri"/>
              </a:rPr>
              <a:t>breachforums_cdn</a:t>
            </a:r>
          </a:p>
        </p:txBody>
      </p:sp>
      <p:sp>
        <p:nvSpPr>
          <p:cNvPr id="89" name="TextBox 88"/>
          <p:cNvSpPr txBox="1"/>
          <p:nvPr/>
        </p:nvSpPr>
        <p:spPr>
          <a:xfrm>
            <a:off x="7543800" y="5093208"/>
            <a:ext cx="1371600" cy="320040"/>
          </a:xfrm>
          <a:prstGeom prst="rect">
            <a:avLst/>
          </a:prstGeom>
          <a:noFill/>
        </p:spPr>
        <p:txBody>
          <a:bodyPr wrap="square" lIns="0" rIns="0" tIns="0" bIns="0" anchor="ctr">
            <a:spAutoFit/>
          </a:bodyPr>
          <a:lstStyle/>
          <a:p>
            <a:pPr algn="l"/>
            <a:r>
              <a:rPr sz="800" b="1" i="0">
                <a:solidFill>
                  <a:srgbClr val="64748B"/>
                </a:solidFill>
                <a:latin typeface="Calibri"/>
              </a:rPr>
              <a:t>ORGANISATION</a:t>
            </a:r>
          </a:p>
        </p:txBody>
      </p:sp>
      <p:sp>
        <p:nvSpPr>
          <p:cNvPr id="90" name="TextBox 89"/>
          <p:cNvSpPr txBox="1"/>
          <p:nvPr/>
        </p:nvSpPr>
        <p:spPr>
          <a:xfrm>
            <a:off x="8823960" y="5093208"/>
            <a:ext cx="2788920" cy="320040"/>
          </a:xfrm>
          <a:prstGeom prst="rect">
            <a:avLst/>
          </a:prstGeom>
          <a:noFill/>
        </p:spPr>
        <p:txBody>
          <a:bodyPr wrap="square" lIns="0" rIns="0" tIns="0" bIns="0" anchor="ctr">
            <a:spAutoFit/>
          </a:bodyPr>
          <a:lstStyle/>
          <a:p>
            <a:pPr algn="l"/>
            <a:r>
              <a:rPr sz="1000" b="1" i="0">
                <a:solidFill>
                  <a:srgbClr val="F8FAFC"/>
                </a:solidFill>
                <a:latin typeface="Calibri"/>
              </a:rPr>
              <a:t>Avito.ma</a:t>
            </a:r>
          </a:p>
        </p:txBody>
      </p:sp>
      <p:sp>
        <p:nvSpPr>
          <p:cNvPr id="91" name="TextBox 90"/>
          <p:cNvSpPr txBox="1"/>
          <p:nvPr/>
        </p:nvSpPr>
        <p:spPr>
          <a:xfrm>
            <a:off x="7543800" y="5477256"/>
            <a:ext cx="1371600" cy="320040"/>
          </a:xfrm>
          <a:prstGeom prst="rect">
            <a:avLst/>
          </a:prstGeom>
          <a:noFill/>
        </p:spPr>
        <p:txBody>
          <a:bodyPr wrap="square" lIns="0" rIns="0" tIns="0" bIns="0" anchor="ctr">
            <a:spAutoFit/>
          </a:bodyPr>
          <a:lstStyle/>
          <a:p>
            <a:pPr algn="l"/>
            <a:r>
              <a:rPr sz="800" b="1" i="0">
                <a:solidFill>
                  <a:srgbClr val="64748B"/>
                </a:solidFill>
                <a:latin typeface="Calibri"/>
              </a:rPr>
              <a:t>VOLUME</a:t>
            </a:r>
          </a:p>
        </p:txBody>
      </p:sp>
      <p:sp>
        <p:nvSpPr>
          <p:cNvPr id="92" name="TextBox 91"/>
          <p:cNvSpPr txBox="1"/>
          <p:nvPr/>
        </p:nvSpPr>
        <p:spPr>
          <a:xfrm>
            <a:off x="8823960" y="5477256"/>
            <a:ext cx="2788920" cy="320040"/>
          </a:xfrm>
          <a:prstGeom prst="rect">
            <a:avLst/>
          </a:prstGeom>
          <a:noFill/>
        </p:spPr>
        <p:txBody>
          <a:bodyPr wrap="square" lIns="0" rIns="0" tIns="0" bIns="0" anchor="ctr">
            <a:spAutoFit/>
          </a:bodyPr>
          <a:lstStyle/>
          <a:p>
            <a:pPr algn="l"/>
            <a:r>
              <a:rPr sz="1000" b="1" i="0">
                <a:solidFill>
                  <a:srgbClr val="F8FAFC"/>
                </a:solidFill>
                <a:latin typeface="Calibri"/>
              </a:rPr>
              <a:t>~ 2 728 091 enregistrements</a:t>
            </a:r>
          </a:p>
        </p:txBody>
      </p:sp>
      <p:sp>
        <p:nvSpPr>
          <p:cNvPr id="93" name="TextBox 92"/>
          <p:cNvSpPr txBox="1"/>
          <p:nvPr/>
        </p:nvSpPr>
        <p:spPr>
          <a:xfrm>
            <a:off x="7543800" y="5861304"/>
            <a:ext cx="1371600" cy="320040"/>
          </a:xfrm>
          <a:prstGeom prst="rect">
            <a:avLst/>
          </a:prstGeom>
          <a:noFill/>
        </p:spPr>
        <p:txBody>
          <a:bodyPr wrap="square" lIns="0" rIns="0" tIns="0" bIns="0" anchor="ctr">
            <a:spAutoFit/>
          </a:bodyPr>
          <a:lstStyle/>
          <a:p>
            <a:pPr algn="l"/>
            <a:r>
              <a:rPr sz="800" b="1" i="0">
                <a:solidFill>
                  <a:srgbClr val="64748B"/>
                </a:solidFill>
                <a:latin typeface="Calibri"/>
              </a:rPr>
              <a:t>STATUT</a:t>
            </a:r>
          </a:p>
        </p:txBody>
      </p:sp>
      <p:sp>
        <p:nvSpPr>
          <p:cNvPr id="94" name="TextBox 93"/>
          <p:cNvSpPr txBox="1"/>
          <p:nvPr/>
        </p:nvSpPr>
        <p:spPr>
          <a:xfrm>
            <a:off x="8823960" y="5861304"/>
            <a:ext cx="2788920" cy="320040"/>
          </a:xfrm>
          <a:prstGeom prst="rect">
            <a:avLst/>
          </a:prstGeom>
          <a:noFill/>
        </p:spPr>
        <p:txBody>
          <a:bodyPr wrap="square" lIns="0" rIns="0" tIns="0" bIns="0" anchor="ctr">
            <a:spAutoFit/>
          </a:bodyPr>
          <a:lstStyle/>
          <a:p>
            <a:pPr algn="l"/>
            <a:r>
              <a:rPr sz="1000" b="1" i="0">
                <a:solidFill>
                  <a:srgbClr val="F8FAFC"/>
                </a:solidFill>
                <a:latin typeface="Calibri"/>
              </a:rPr>
              <a:t>À valider par corrélation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SOURCE #3 — VEILLE MÉDIATIQUE &amp; NEWS</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Google Alerts — configuration des alertes</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F59E0B"/>
                </a:solidFill>
                <a:latin typeface="Calibri"/>
              </a:rPr>
              <a:t>YASSIR</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12 / 19</a:t>
            </a:r>
          </a:p>
        </p:txBody>
      </p:sp>
      <p:sp>
        <p:nvSpPr>
          <p:cNvPr id="55" name="Rounded Rectangle 54"/>
          <p:cNvSpPr/>
          <p:nvPr/>
        </p:nvSpPr>
        <p:spPr>
          <a:xfrm>
            <a:off x="495147" y="1371600"/>
            <a:ext cx="2697480" cy="7772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95147" y="1371600"/>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23747" y="1444752"/>
            <a:ext cx="2331720" cy="365760"/>
          </a:xfrm>
          <a:prstGeom prst="rect">
            <a:avLst/>
          </a:prstGeom>
          <a:noFill/>
        </p:spPr>
        <p:txBody>
          <a:bodyPr wrap="square" lIns="0" rIns="0" tIns="0" bIns="0" anchor="t">
            <a:spAutoFit/>
          </a:bodyPr>
          <a:lstStyle/>
          <a:p>
            <a:pPr algn="l"/>
            <a:r>
              <a:rPr sz="2000" b="1" i="0">
                <a:solidFill>
                  <a:srgbClr val="F59E0B"/>
                </a:solidFill>
                <a:latin typeface="Calibri"/>
              </a:rPr>
              <a:t>16</a:t>
            </a:r>
          </a:p>
        </p:txBody>
      </p:sp>
      <p:sp>
        <p:nvSpPr>
          <p:cNvPr id="58" name="TextBox 57"/>
          <p:cNvSpPr txBox="1"/>
          <p:nvPr/>
        </p:nvSpPr>
        <p:spPr>
          <a:xfrm>
            <a:off x="723747" y="1828800"/>
            <a:ext cx="2331720" cy="274320"/>
          </a:xfrm>
          <a:prstGeom prst="rect">
            <a:avLst/>
          </a:prstGeom>
          <a:noFill/>
        </p:spPr>
        <p:txBody>
          <a:bodyPr wrap="square" lIns="0" rIns="0" tIns="0" bIns="0" anchor="t">
            <a:spAutoFit/>
          </a:bodyPr>
          <a:lstStyle/>
          <a:p>
            <a:pPr algn="l"/>
            <a:r>
              <a:rPr sz="1000" b="0" i="0">
                <a:solidFill>
                  <a:srgbClr val="94A3B8"/>
                </a:solidFill>
                <a:latin typeface="Calibri"/>
              </a:rPr>
              <a:t>Alertes configurées</a:t>
            </a:r>
          </a:p>
        </p:txBody>
      </p:sp>
      <p:sp>
        <p:nvSpPr>
          <p:cNvPr id="59" name="Rounded Rectangle 58"/>
          <p:cNvSpPr/>
          <p:nvPr/>
        </p:nvSpPr>
        <p:spPr>
          <a:xfrm>
            <a:off x="3329787" y="1371600"/>
            <a:ext cx="2697480" cy="7772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329787" y="1371600"/>
            <a:ext cx="73152" cy="7772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558387" y="1444752"/>
            <a:ext cx="2331720" cy="365760"/>
          </a:xfrm>
          <a:prstGeom prst="rect">
            <a:avLst/>
          </a:prstGeom>
          <a:noFill/>
        </p:spPr>
        <p:txBody>
          <a:bodyPr wrap="square" lIns="0" rIns="0" tIns="0" bIns="0" anchor="t">
            <a:spAutoFit/>
          </a:bodyPr>
          <a:lstStyle/>
          <a:p>
            <a:pPr algn="l"/>
            <a:r>
              <a:rPr sz="2000" b="1" i="0">
                <a:solidFill>
                  <a:srgbClr val="3B82F6"/>
                </a:solidFill>
                <a:latin typeface="Calibri"/>
              </a:rPr>
              <a:t>FR/EN</a:t>
            </a:r>
          </a:p>
        </p:txBody>
      </p:sp>
      <p:sp>
        <p:nvSpPr>
          <p:cNvPr id="62" name="TextBox 61"/>
          <p:cNvSpPr txBox="1"/>
          <p:nvPr/>
        </p:nvSpPr>
        <p:spPr>
          <a:xfrm>
            <a:off x="3558387" y="1828800"/>
            <a:ext cx="2331720" cy="274320"/>
          </a:xfrm>
          <a:prstGeom prst="rect">
            <a:avLst/>
          </a:prstGeom>
          <a:noFill/>
        </p:spPr>
        <p:txBody>
          <a:bodyPr wrap="square" lIns="0" rIns="0" tIns="0" bIns="0" anchor="t">
            <a:spAutoFit/>
          </a:bodyPr>
          <a:lstStyle/>
          <a:p>
            <a:pPr algn="l"/>
            <a:r>
              <a:rPr sz="1000" b="0" i="0">
                <a:solidFill>
                  <a:srgbClr val="94A3B8"/>
                </a:solidFill>
                <a:latin typeface="Calibri"/>
              </a:rPr>
              <a:t>Requêtes bilingues</a:t>
            </a:r>
          </a:p>
        </p:txBody>
      </p:sp>
      <p:sp>
        <p:nvSpPr>
          <p:cNvPr id="63" name="Rounded Rectangle 62"/>
          <p:cNvSpPr/>
          <p:nvPr/>
        </p:nvSpPr>
        <p:spPr>
          <a:xfrm>
            <a:off x="6164427" y="1371600"/>
            <a:ext cx="2697480" cy="7772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64427" y="1371600"/>
            <a:ext cx="73152" cy="7772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93027" y="1444752"/>
            <a:ext cx="2331720" cy="365760"/>
          </a:xfrm>
          <a:prstGeom prst="rect">
            <a:avLst/>
          </a:prstGeom>
          <a:noFill/>
        </p:spPr>
        <p:txBody>
          <a:bodyPr wrap="square" lIns="0" rIns="0" tIns="0" bIns="0" anchor="t">
            <a:spAutoFit/>
          </a:bodyPr>
          <a:lstStyle/>
          <a:p>
            <a:pPr algn="l"/>
            <a:r>
              <a:rPr sz="2000" b="1" i="0">
                <a:solidFill>
                  <a:srgbClr val="14B8A6"/>
                </a:solidFill>
                <a:latin typeface="Calibri"/>
              </a:rPr>
              <a:t>8+</a:t>
            </a:r>
          </a:p>
        </p:txBody>
      </p:sp>
      <p:sp>
        <p:nvSpPr>
          <p:cNvPr id="66" name="TextBox 65"/>
          <p:cNvSpPr txBox="1"/>
          <p:nvPr/>
        </p:nvSpPr>
        <p:spPr>
          <a:xfrm>
            <a:off x="6393027" y="1828800"/>
            <a:ext cx="2331720" cy="274320"/>
          </a:xfrm>
          <a:prstGeom prst="rect">
            <a:avLst/>
          </a:prstGeom>
          <a:noFill/>
        </p:spPr>
        <p:txBody>
          <a:bodyPr wrap="square" lIns="0" rIns="0" tIns="0" bIns="0" anchor="t">
            <a:spAutoFit/>
          </a:bodyPr>
          <a:lstStyle/>
          <a:p>
            <a:pPr algn="l"/>
            <a:r>
              <a:rPr sz="1000" b="0" i="0">
                <a:solidFill>
                  <a:srgbClr val="94A3B8"/>
                </a:solidFill>
                <a:latin typeface="Calibri"/>
              </a:rPr>
              <a:t>Catégories suivies</a:t>
            </a:r>
          </a:p>
        </p:txBody>
      </p:sp>
      <p:sp>
        <p:nvSpPr>
          <p:cNvPr id="67" name="Rounded Rectangle 66"/>
          <p:cNvSpPr/>
          <p:nvPr/>
        </p:nvSpPr>
        <p:spPr>
          <a:xfrm>
            <a:off x="8999067" y="1371600"/>
            <a:ext cx="2697480" cy="77724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999067" y="1371600"/>
            <a:ext cx="73152" cy="77724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227667" y="1444752"/>
            <a:ext cx="2331720" cy="365760"/>
          </a:xfrm>
          <a:prstGeom prst="rect">
            <a:avLst/>
          </a:prstGeom>
          <a:noFill/>
        </p:spPr>
        <p:txBody>
          <a:bodyPr wrap="square" lIns="0" rIns="0" tIns="0" bIns="0" anchor="t">
            <a:spAutoFit/>
          </a:bodyPr>
          <a:lstStyle/>
          <a:p>
            <a:pPr algn="l"/>
            <a:r>
              <a:rPr sz="2000" b="1" i="0">
                <a:solidFill>
                  <a:srgbClr val="8B5CF6"/>
                </a:solidFill>
                <a:latin typeface="Calibri"/>
              </a:rPr>
              <a:t>RSS</a:t>
            </a:r>
          </a:p>
        </p:txBody>
      </p:sp>
      <p:sp>
        <p:nvSpPr>
          <p:cNvPr id="70" name="TextBox 69"/>
          <p:cNvSpPr txBox="1"/>
          <p:nvPr/>
        </p:nvSpPr>
        <p:spPr>
          <a:xfrm>
            <a:off x="9227667" y="1828800"/>
            <a:ext cx="2331720" cy="274320"/>
          </a:xfrm>
          <a:prstGeom prst="rect">
            <a:avLst/>
          </a:prstGeom>
          <a:noFill/>
        </p:spPr>
        <p:txBody>
          <a:bodyPr wrap="square" lIns="0" rIns="0" tIns="0" bIns="0" anchor="t">
            <a:spAutoFit/>
          </a:bodyPr>
          <a:lstStyle/>
          <a:p>
            <a:pPr algn="l"/>
            <a:r>
              <a:rPr sz="1000" b="0" i="0">
                <a:solidFill>
                  <a:srgbClr val="94A3B8"/>
                </a:solidFill>
                <a:latin typeface="Calibri"/>
              </a:rPr>
              <a:t>Format temps réel</a:t>
            </a:r>
          </a:p>
        </p:txBody>
      </p:sp>
      <p:sp>
        <p:nvSpPr>
          <p:cNvPr id="71" name="TextBox 70"/>
          <p:cNvSpPr txBox="1"/>
          <p:nvPr/>
        </p:nvSpPr>
        <p:spPr>
          <a:xfrm>
            <a:off x="502920" y="2331720"/>
            <a:ext cx="5486400" cy="365760"/>
          </a:xfrm>
          <a:prstGeom prst="rect">
            <a:avLst/>
          </a:prstGeom>
          <a:noFill/>
        </p:spPr>
        <p:txBody>
          <a:bodyPr wrap="square" lIns="0" rIns="0" tIns="0" bIns="0" anchor="t">
            <a:spAutoFit/>
          </a:bodyPr>
          <a:lstStyle/>
          <a:p>
            <a:pPr algn="l"/>
            <a:r>
              <a:rPr sz="900" b="1" i="0">
                <a:solidFill>
                  <a:srgbClr val="F59E0B"/>
                </a:solidFill>
                <a:latin typeface="Calibri"/>
              </a:rPr>
              <a:t>INTERFACE GOOGLE ALERTS</a:t>
            </a:r>
          </a:p>
        </p:txBody>
      </p:sp>
      <p:sp>
        <p:nvSpPr>
          <p:cNvPr id="72" name="Rounded Rectangle 71"/>
          <p:cNvSpPr/>
          <p:nvPr/>
        </p:nvSpPr>
        <p:spPr>
          <a:xfrm>
            <a:off x="365760" y="2697480"/>
            <a:ext cx="5440680" cy="36118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365760" y="2697480"/>
            <a:ext cx="5440680" cy="22860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75488" y="2770632"/>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12648" y="2770632"/>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49808" y="2770632"/>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14400" y="2697480"/>
            <a:ext cx="4800600" cy="228600"/>
          </a:xfrm>
          <a:prstGeom prst="rect">
            <a:avLst/>
          </a:prstGeom>
          <a:noFill/>
        </p:spPr>
        <p:txBody>
          <a:bodyPr wrap="square" lIns="0" rIns="0" tIns="0" bIns="0" anchor="ctr">
            <a:spAutoFit/>
          </a:bodyPr>
          <a:lstStyle/>
          <a:p>
            <a:pPr algn="l"/>
            <a:r>
              <a:rPr sz="800" b="0" i="0">
                <a:solidFill>
                  <a:srgbClr val="64748B"/>
                </a:solidFill>
                <a:latin typeface="Consolas"/>
              </a:rPr>
              <a:t>google.com/alerts</a:t>
            </a:r>
          </a:p>
        </p:txBody>
      </p:sp>
      <p:pic>
        <p:nvPicPr>
          <p:cNvPr id="78" name="Picture 77" descr="gaw.png"/>
          <p:cNvPicPr>
            <a:picLocks noChangeAspect="1"/>
          </p:cNvPicPr>
          <p:nvPr/>
        </p:nvPicPr>
        <p:blipFill>
          <a:blip r:embed="rId2"/>
          <a:stretch>
            <a:fillRect/>
          </a:stretch>
        </p:blipFill>
        <p:spPr>
          <a:xfrm>
            <a:off x="411480" y="2971800"/>
            <a:ext cx="5349240" cy="5821811"/>
          </a:xfrm>
          <a:prstGeom prst="rect">
            <a:avLst/>
          </a:prstGeom>
        </p:spPr>
      </p:pic>
      <p:sp>
        <p:nvSpPr>
          <p:cNvPr id="79" name="TextBox 78"/>
          <p:cNvSpPr txBox="1"/>
          <p:nvPr/>
        </p:nvSpPr>
        <p:spPr>
          <a:xfrm>
            <a:off x="6126480" y="2331720"/>
            <a:ext cx="5715000" cy="365760"/>
          </a:xfrm>
          <a:prstGeom prst="rect">
            <a:avLst/>
          </a:prstGeom>
          <a:noFill/>
        </p:spPr>
        <p:txBody>
          <a:bodyPr wrap="square" lIns="0" rIns="0" tIns="0" bIns="0" anchor="t">
            <a:spAutoFit/>
          </a:bodyPr>
          <a:lstStyle/>
          <a:p>
            <a:pPr algn="l"/>
            <a:r>
              <a:rPr sz="900" b="1" i="0">
                <a:solidFill>
                  <a:srgbClr val="F59E0B"/>
                </a:solidFill>
                <a:latin typeface="Calibri"/>
              </a:rPr>
              <a:t>CATÉGORIES D'ALERTES CONFIGURÉES</a:t>
            </a:r>
          </a:p>
        </p:txBody>
      </p:sp>
      <p:sp>
        <p:nvSpPr>
          <p:cNvPr id="80" name="Rounded Rectangle 79"/>
          <p:cNvSpPr/>
          <p:nvPr/>
        </p:nvSpPr>
        <p:spPr>
          <a:xfrm>
            <a:off x="6126480" y="2743200"/>
            <a:ext cx="2788920" cy="868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126480" y="274320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309360" y="2852928"/>
            <a:ext cx="2514600" cy="320040"/>
          </a:xfrm>
          <a:prstGeom prst="rect">
            <a:avLst/>
          </a:prstGeom>
          <a:noFill/>
        </p:spPr>
        <p:txBody>
          <a:bodyPr wrap="square" lIns="0" rIns="0" tIns="0" bIns="0" anchor="t">
            <a:spAutoFit/>
          </a:bodyPr>
          <a:lstStyle/>
          <a:p>
            <a:pPr algn="l"/>
            <a:r>
              <a:rPr sz="1000" b="1" i="0">
                <a:solidFill>
                  <a:srgbClr val="F59E0B"/>
                </a:solidFill>
                <a:latin typeface="Consolas"/>
              </a:rPr>
              <a:t>global_cyber_incidents</a:t>
            </a:r>
          </a:p>
        </p:txBody>
      </p:sp>
      <p:sp>
        <p:nvSpPr>
          <p:cNvPr id="83" name="TextBox 82"/>
          <p:cNvSpPr txBox="1"/>
          <p:nvPr/>
        </p:nvSpPr>
        <p:spPr>
          <a:xfrm>
            <a:off x="6309360" y="3200400"/>
            <a:ext cx="2514600" cy="320040"/>
          </a:xfrm>
          <a:prstGeom prst="rect">
            <a:avLst/>
          </a:prstGeom>
          <a:noFill/>
        </p:spPr>
        <p:txBody>
          <a:bodyPr wrap="square" lIns="0" rIns="0" tIns="0" bIns="0" anchor="t">
            <a:spAutoFit/>
          </a:bodyPr>
          <a:lstStyle/>
          <a:p>
            <a:pPr algn="l"/>
            <a:r>
              <a:rPr sz="1000" b="0" i="0">
                <a:solidFill>
                  <a:srgbClr val="94A3B8"/>
                </a:solidFill>
                <a:latin typeface="Calibri"/>
              </a:rPr>
              <a:t>Cyberattaques globales</a:t>
            </a:r>
          </a:p>
        </p:txBody>
      </p:sp>
      <p:sp>
        <p:nvSpPr>
          <p:cNvPr id="84" name="Rounded Rectangle 83"/>
          <p:cNvSpPr/>
          <p:nvPr/>
        </p:nvSpPr>
        <p:spPr>
          <a:xfrm>
            <a:off x="9006840" y="2743200"/>
            <a:ext cx="2788920" cy="868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006840" y="274320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189720" y="2852928"/>
            <a:ext cx="2514600" cy="320040"/>
          </a:xfrm>
          <a:prstGeom prst="rect">
            <a:avLst/>
          </a:prstGeom>
          <a:noFill/>
        </p:spPr>
        <p:txBody>
          <a:bodyPr wrap="square" lIns="0" rIns="0" tIns="0" bIns="0" anchor="t">
            <a:spAutoFit/>
          </a:bodyPr>
          <a:lstStyle/>
          <a:p>
            <a:pPr algn="l"/>
            <a:r>
              <a:rPr sz="1000" b="1" i="0">
                <a:solidFill>
                  <a:srgbClr val="F59E0B"/>
                </a:solidFill>
                <a:latin typeface="Consolas"/>
              </a:rPr>
              <a:t>ransomware_monitoring</a:t>
            </a:r>
          </a:p>
        </p:txBody>
      </p:sp>
      <p:sp>
        <p:nvSpPr>
          <p:cNvPr id="87" name="TextBox 86"/>
          <p:cNvSpPr txBox="1"/>
          <p:nvPr/>
        </p:nvSpPr>
        <p:spPr>
          <a:xfrm>
            <a:off x="9189720" y="3200400"/>
            <a:ext cx="2514600" cy="320040"/>
          </a:xfrm>
          <a:prstGeom prst="rect">
            <a:avLst/>
          </a:prstGeom>
          <a:noFill/>
        </p:spPr>
        <p:txBody>
          <a:bodyPr wrap="square" lIns="0" rIns="0" tIns="0" bIns="0" anchor="t">
            <a:spAutoFit/>
          </a:bodyPr>
          <a:lstStyle/>
          <a:p>
            <a:pPr algn="l"/>
            <a:r>
              <a:rPr sz="1000" b="0" i="0">
                <a:solidFill>
                  <a:srgbClr val="94A3B8"/>
                </a:solidFill>
                <a:latin typeface="Calibri"/>
              </a:rPr>
              <a:t>Incidents ransomware</a:t>
            </a:r>
          </a:p>
        </p:txBody>
      </p:sp>
      <p:sp>
        <p:nvSpPr>
          <p:cNvPr id="88" name="Rounded Rectangle 87"/>
          <p:cNvSpPr/>
          <p:nvPr/>
        </p:nvSpPr>
        <p:spPr>
          <a:xfrm>
            <a:off x="6126480" y="3703320"/>
            <a:ext cx="2788920" cy="868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126480" y="370332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309360" y="3813048"/>
            <a:ext cx="2514600" cy="320040"/>
          </a:xfrm>
          <a:prstGeom prst="rect">
            <a:avLst/>
          </a:prstGeom>
          <a:noFill/>
        </p:spPr>
        <p:txBody>
          <a:bodyPr wrap="square" lIns="0" rIns="0" tIns="0" bIns="0" anchor="t">
            <a:spAutoFit/>
          </a:bodyPr>
          <a:lstStyle/>
          <a:p>
            <a:pPr algn="l"/>
            <a:r>
              <a:rPr sz="1000" b="1" i="0">
                <a:solidFill>
                  <a:srgbClr val="F59E0B"/>
                </a:solidFill>
                <a:latin typeface="Consolas"/>
              </a:rPr>
              <a:t>healthcare_breaches</a:t>
            </a:r>
          </a:p>
        </p:txBody>
      </p:sp>
      <p:sp>
        <p:nvSpPr>
          <p:cNvPr id="91" name="TextBox 90"/>
          <p:cNvSpPr txBox="1"/>
          <p:nvPr/>
        </p:nvSpPr>
        <p:spPr>
          <a:xfrm>
            <a:off x="6309360" y="4160520"/>
            <a:ext cx="2514600" cy="320040"/>
          </a:xfrm>
          <a:prstGeom prst="rect">
            <a:avLst/>
          </a:prstGeom>
          <a:noFill/>
        </p:spPr>
        <p:txBody>
          <a:bodyPr wrap="square" lIns="0" rIns="0" tIns="0" bIns="0" anchor="t">
            <a:spAutoFit/>
          </a:bodyPr>
          <a:lstStyle/>
          <a:p>
            <a:pPr algn="l"/>
            <a:r>
              <a:rPr sz="1000" b="0" i="0">
                <a:solidFill>
                  <a:srgbClr val="94A3B8"/>
                </a:solidFill>
                <a:latin typeface="Calibri"/>
              </a:rPr>
              <a:t>Données médicales</a:t>
            </a:r>
          </a:p>
        </p:txBody>
      </p:sp>
      <p:sp>
        <p:nvSpPr>
          <p:cNvPr id="92" name="Rounded Rectangle 91"/>
          <p:cNvSpPr/>
          <p:nvPr/>
        </p:nvSpPr>
        <p:spPr>
          <a:xfrm>
            <a:off x="9006840" y="3703320"/>
            <a:ext cx="2788920" cy="868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006840" y="370332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189720" y="3813048"/>
            <a:ext cx="2514600" cy="320040"/>
          </a:xfrm>
          <a:prstGeom prst="rect">
            <a:avLst/>
          </a:prstGeom>
          <a:noFill/>
        </p:spPr>
        <p:txBody>
          <a:bodyPr wrap="square" lIns="0" rIns="0" tIns="0" bIns="0" anchor="t">
            <a:spAutoFit/>
          </a:bodyPr>
          <a:lstStyle/>
          <a:p>
            <a:pPr algn="l"/>
            <a:r>
              <a:rPr sz="1000" b="1" i="0">
                <a:solidFill>
                  <a:srgbClr val="F59E0B"/>
                </a:solidFill>
                <a:latin typeface="Consolas"/>
              </a:rPr>
              <a:t>financial_incidents</a:t>
            </a:r>
          </a:p>
        </p:txBody>
      </p:sp>
      <p:sp>
        <p:nvSpPr>
          <p:cNvPr id="95" name="TextBox 94"/>
          <p:cNvSpPr txBox="1"/>
          <p:nvPr/>
        </p:nvSpPr>
        <p:spPr>
          <a:xfrm>
            <a:off x="9189720" y="4160520"/>
            <a:ext cx="2514600" cy="320040"/>
          </a:xfrm>
          <a:prstGeom prst="rect">
            <a:avLst/>
          </a:prstGeom>
          <a:noFill/>
        </p:spPr>
        <p:txBody>
          <a:bodyPr wrap="square" lIns="0" rIns="0" tIns="0" bIns="0" anchor="t">
            <a:spAutoFit/>
          </a:bodyPr>
          <a:lstStyle/>
          <a:p>
            <a:pPr algn="l"/>
            <a:r>
              <a:rPr sz="1000" b="0" i="0">
                <a:solidFill>
                  <a:srgbClr val="94A3B8"/>
                </a:solidFill>
                <a:latin typeface="Calibri"/>
              </a:rPr>
              <a:t>Banques, fintech, fraudes</a:t>
            </a:r>
          </a:p>
        </p:txBody>
      </p:sp>
      <p:sp>
        <p:nvSpPr>
          <p:cNvPr id="96" name="Rounded Rectangle 95"/>
          <p:cNvSpPr/>
          <p:nvPr/>
        </p:nvSpPr>
        <p:spPr>
          <a:xfrm>
            <a:off x="6126480" y="4663440"/>
            <a:ext cx="2788920" cy="868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126480" y="466344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309360" y="4773168"/>
            <a:ext cx="2514600" cy="320040"/>
          </a:xfrm>
          <a:prstGeom prst="rect">
            <a:avLst/>
          </a:prstGeom>
          <a:noFill/>
        </p:spPr>
        <p:txBody>
          <a:bodyPr wrap="square" lIns="0" rIns="0" tIns="0" bIns="0" anchor="t">
            <a:spAutoFit/>
          </a:bodyPr>
          <a:lstStyle/>
          <a:p>
            <a:pPr algn="l"/>
            <a:r>
              <a:rPr sz="1000" b="1" i="0">
                <a:solidFill>
                  <a:srgbClr val="F59E0B"/>
                </a:solidFill>
                <a:latin typeface="Consolas"/>
              </a:rPr>
              <a:t>government_incidents</a:t>
            </a:r>
          </a:p>
        </p:txBody>
      </p:sp>
      <p:sp>
        <p:nvSpPr>
          <p:cNvPr id="99" name="TextBox 98"/>
          <p:cNvSpPr txBox="1"/>
          <p:nvPr/>
        </p:nvSpPr>
        <p:spPr>
          <a:xfrm>
            <a:off x="6309360" y="5120640"/>
            <a:ext cx="2514600" cy="320040"/>
          </a:xfrm>
          <a:prstGeom prst="rect">
            <a:avLst/>
          </a:prstGeom>
          <a:noFill/>
        </p:spPr>
        <p:txBody>
          <a:bodyPr wrap="square" lIns="0" rIns="0" tIns="0" bIns="0" anchor="t">
            <a:spAutoFit/>
          </a:bodyPr>
          <a:lstStyle/>
          <a:p>
            <a:pPr algn="l"/>
            <a:r>
              <a:rPr sz="1000" b="0" i="0">
                <a:solidFill>
                  <a:srgbClr val="94A3B8"/>
                </a:solidFill>
                <a:latin typeface="Calibri"/>
              </a:rPr>
              <a:t>Secteur public &amp; défense</a:t>
            </a:r>
          </a:p>
        </p:txBody>
      </p:sp>
      <p:sp>
        <p:nvSpPr>
          <p:cNvPr id="100" name="Rounded Rectangle 99"/>
          <p:cNvSpPr/>
          <p:nvPr/>
        </p:nvSpPr>
        <p:spPr>
          <a:xfrm>
            <a:off x="9006840" y="4663440"/>
            <a:ext cx="2788920" cy="868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9006840" y="466344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9189720" y="4773168"/>
            <a:ext cx="2514600" cy="320040"/>
          </a:xfrm>
          <a:prstGeom prst="rect">
            <a:avLst/>
          </a:prstGeom>
          <a:noFill/>
        </p:spPr>
        <p:txBody>
          <a:bodyPr wrap="square" lIns="0" rIns="0" tIns="0" bIns="0" anchor="t">
            <a:spAutoFit/>
          </a:bodyPr>
          <a:lstStyle/>
          <a:p>
            <a:pPr algn="l"/>
            <a:r>
              <a:rPr sz="1000" b="1" i="0">
                <a:solidFill>
                  <a:srgbClr val="F59E0B"/>
                </a:solidFill>
                <a:latin typeface="Consolas"/>
              </a:rPr>
              <a:t>zero_day_vulnerabilities</a:t>
            </a:r>
          </a:p>
        </p:txBody>
      </p:sp>
      <p:sp>
        <p:nvSpPr>
          <p:cNvPr id="103" name="TextBox 102"/>
          <p:cNvSpPr txBox="1"/>
          <p:nvPr/>
        </p:nvSpPr>
        <p:spPr>
          <a:xfrm>
            <a:off x="9189720" y="5120640"/>
            <a:ext cx="2514600" cy="320040"/>
          </a:xfrm>
          <a:prstGeom prst="rect">
            <a:avLst/>
          </a:prstGeom>
          <a:noFill/>
        </p:spPr>
        <p:txBody>
          <a:bodyPr wrap="square" lIns="0" rIns="0" tIns="0" bIns="0" anchor="t">
            <a:spAutoFit/>
          </a:bodyPr>
          <a:lstStyle/>
          <a:p>
            <a:pPr algn="l"/>
            <a:r>
              <a:rPr sz="1000" b="0" i="0">
                <a:solidFill>
                  <a:srgbClr val="94A3B8"/>
                </a:solidFill>
                <a:latin typeface="Calibri"/>
              </a:rPr>
              <a:t>0-day &amp; CVE exploités</a:t>
            </a:r>
          </a:p>
        </p:txBody>
      </p:sp>
      <p:sp>
        <p:nvSpPr>
          <p:cNvPr id="104" name="Rounded Rectangle 103"/>
          <p:cNvSpPr/>
          <p:nvPr/>
        </p:nvSpPr>
        <p:spPr>
          <a:xfrm>
            <a:off x="6126480" y="5623560"/>
            <a:ext cx="2788920" cy="868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126480" y="562356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309360" y="5733288"/>
            <a:ext cx="2514600" cy="320040"/>
          </a:xfrm>
          <a:prstGeom prst="rect">
            <a:avLst/>
          </a:prstGeom>
          <a:noFill/>
        </p:spPr>
        <p:txBody>
          <a:bodyPr wrap="square" lIns="0" rIns="0" tIns="0" bIns="0" anchor="t">
            <a:spAutoFit/>
          </a:bodyPr>
          <a:lstStyle/>
          <a:p>
            <a:pPr algn="l"/>
            <a:r>
              <a:rPr sz="1000" b="1" i="0">
                <a:solidFill>
                  <a:srgbClr val="F59E0B"/>
                </a:solidFill>
                <a:latin typeface="Consolas"/>
              </a:rPr>
              <a:t>dark_web_activity</a:t>
            </a:r>
          </a:p>
        </p:txBody>
      </p:sp>
      <p:sp>
        <p:nvSpPr>
          <p:cNvPr id="107" name="TextBox 106"/>
          <p:cNvSpPr txBox="1"/>
          <p:nvPr/>
        </p:nvSpPr>
        <p:spPr>
          <a:xfrm>
            <a:off x="6309360" y="6080760"/>
            <a:ext cx="2514600" cy="320040"/>
          </a:xfrm>
          <a:prstGeom prst="rect">
            <a:avLst/>
          </a:prstGeom>
          <a:noFill/>
        </p:spPr>
        <p:txBody>
          <a:bodyPr wrap="square" lIns="0" rIns="0" tIns="0" bIns="0" anchor="t">
            <a:spAutoFit/>
          </a:bodyPr>
          <a:lstStyle/>
          <a:p>
            <a:pPr algn="l"/>
            <a:r>
              <a:rPr sz="1000" b="0" i="0">
                <a:solidFill>
                  <a:srgbClr val="94A3B8"/>
                </a:solidFill>
                <a:latin typeface="Calibri"/>
              </a:rPr>
              <a:t>Ventes &amp; brokers d'accès</a:t>
            </a:r>
          </a:p>
        </p:txBody>
      </p:sp>
      <p:sp>
        <p:nvSpPr>
          <p:cNvPr id="108" name="Rounded Rectangle 107"/>
          <p:cNvSpPr/>
          <p:nvPr/>
        </p:nvSpPr>
        <p:spPr>
          <a:xfrm>
            <a:off x="9006840" y="5623560"/>
            <a:ext cx="2788920" cy="868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006840" y="562356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9189720" y="5733288"/>
            <a:ext cx="2514600" cy="320040"/>
          </a:xfrm>
          <a:prstGeom prst="rect">
            <a:avLst/>
          </a:prstGeom>
          <a:noFill/>
        </p:spPr>
        <p:txBody>
          <a:bodyPr wrap="square" lIns="0" rIns="0" tIns="0" bIns="0" anchor="t">
            <a:spAutoFit/>
          </a:bodyPr>
          <a:lstStyle/>
          <a:p>
            <a:pPr algn="l"/>
            <a:r>
              <a:rPr sz="1000" b="1" i="0">
                <a:solidFill>
                  <a:srgbClr val="F59E0B"/>
                </a:solidFill>
                <a:latin typeface="Consolas"/>
              </a:rPr>
              <a:t>anssi_cert_fr</a:t>
            </a:r>
          </a:p>
        </p:txBody>
      </p:sp>
      <p:sp>
        <p:nvSpPr>
          <p:cNvPr id="111" name="TextBox 110"/>
          <p:cNvSpPr txBox="1"/>
          <p:nvPr/>
        </p:nvSpPr>
        <p:spPr>
          <a:xfrm>
            <a:off x="9189720" y="6080760"/>
            <a:ext cx="2514600" cy="320040"/>
          </a:xfrm>
          <a:prstGeom prst="rect">
            <a:avLst/>
          </a:prstGeom>
          <a:noFill/>
        </p:spPr>
        <p:txBody>
          <a:bodyPr wrap="square" lIns="0" rIns="0" tIns="0" bIns="0" anchor="t">
            <a:spAutoFit/>
          </a:bodyPr>
          <a:lstStyle/>
          <a:p>
            <a:pPr algn="l"/>
            <a:r>
              <a:rPr sz="1000" b="0" i="0">
                <a:solidFill>
                  <a:srgbClr val="94A3B8"/>
                </a:solidFill>
                <a:latin typeface="Calibri"/>
              </a:rPr>
              <a:t>Bulletins ANSSI / CERT-FR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DATA BREACH &amp; THREAT INTELLIGENCE PLATFORM  /  EXECUTIVE BRIEFING</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Google Alerts — logique d'exploitation &amp; résultats</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F59E0B"/>
                </a:solidFill>
                <a:latin typeface="Calibri"/>
              </a:rPr>
              <a:t>YASSIR</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13 / 19</a:t>
            </a:r>
          </a:p>
        </p:txBody>
      </p:sp>
      <p:sp>
        <p:nvSpPr>
          <p:cNvPr id="55" name="TextBox 54"/>
          <p:cNvSpPr txBox="1"/>
          <p:nvPr/>
        </p:nvSpPr>
        <p:spPr>
          <a:xfrm>
            <a:off x="640080" y="1371600"/>
            <a:ext cx="7315200" cy="365760"/>
          </a:xfrm>
          <a:prstGeom prst="rect">
            <a:avLst/>
          </a:prstGeom>
          <a:noFill/>
        </p:spPr>
        <p:txBody>
          <a:bodyPr wrap="square" lIns="0" rIns="0" tIns="0" bIns="0" anchor="t">
            <a:spAutoFit/>
          </a:bodyPr>
          <a:lstStyle/>
          <a:p>
            <a:pPr algn="l"/>
            <a:r>
              <a:rPr sz="1000" b="1" i="0">
                <a:solidFill>
                  <a:srgbClr val="F59E0B"/>
                </a:solidFill>
                <a:latin typeface="Calibri"/>
              </a:rPr>
              <a:t>INTERFACE DE SUIVI DES ALERTES</a:t>
            </a:r>
          </a:p>
        </p:txBody>
      </p:sp>
      <p:sp>
        <p:nvSpPr>
          <p:cNvPr id="56" name="Rounded Rectangle 55"/>
          <p:cNvSpPr/>
          <p:nvPr/>
        </p:nvSpPr>
        <p:spPr>
          <a:xfrm>
            <a:off x="548640" y="1783080"/>
            <a:ext cx="7498079" cy="4297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548640" y="1783080"/>
            <a:ext cx="7498079" cy="22860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58368" y="1856232"/>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95528" y="1856232"/>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932688" y="1856232"/>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97280" y="1783080"/>
            <a:ext cx="6857999" cy="228600"/>
          </a:xfrm>
          <a:prstGeom prst="rect">
            <a:avLst/>
          </a:prstGeom>
          <a:noFill/>
        </p:spPr>
        <p:txBody>
          <a:bodyPr wrap="square" lIns="0" rIns="0" tIns="0" bIns="0" anchor="ctr">
            <a:spAutoFit/>
          </a:bodyPr>
          <a:lstStyle/>
          <a:p>
            <a:pPr algn="l"/>
            <a:r>
              <a:rPr sz="800" b="0" i="0">
                <a:solidFill>
                  <a:srgbClr val="64748B"/>
                </a:solidFill>
                <a:latin typeface="Consolas"/>
              </a:rPr>
              <a:t>dbm.soc.local/google_alerts</a:t>
            </a:r>
          </a:p>
        </p:txBody>
      </p:sp>
      <p:pic>
        <p:nvPicPr>
          <p:cNvPr id="62" name="Picture 61" descr="ga.png"/>
          <p:cNvPicPr>
            <a:picLocks noChangeAspect="1"/>
          </p:cNvPicPr>
          <p:nvPr/>
        </p:nvPicPr>
        <p:blipFill>
          <a:blip r:embed="rId2"/>
          <a:stretch>
            <a:fillRect/>
          </a:stretch>
        </p:blipFill>
        <p:spPr>
          <a:xfrm>
            <a:off x="594360" y="2057400"/>
            <a:ext cx="7406639" cy="4161163"/>
          </a:xfrm>
          <a:prstGeom prst="rect">
            <a:avLst/>
          </a:prstGeom>
        </p:spPr>
      </p:pic>
      <p:sp>
        <p:nvSpPr>
          <p:cNvPr id="63" name="TextBox 62"/>
          <p:cNvSpPr txBox="1"/>
          <p:nvPr/>
        </p:nvSpPr>
        <p:spPr>
          <a:xfrm>
            <a:off x="8229600" y="1371600"/>
            <a:ext cx="3474720" cy="365760"/>
          </a:xfrm>
          <a:prstGeom prst="rect">
            <a:avLst/>
          </a:prstGeom>
          <a:noFill/>
        </p:spPr>
        <p:txBody>
          <a:bodyPr wrap="square" lIns="0" rIns="0" tIns="0" bIns="0" anchor="t">
            <a:spAutoFit/>
          </a:bodyPr>
          <a:lstStyle/>
          <a:p>
            <a:pPr algn="l"/>
            <a:r>
              <a:rPr sz="1000" b="1" i="0">
                <a:solidFill>
                  <a:srgbClr val="F59E0B"/>
                </a:solidFill>
                <a:latin typeface="Calibri"/>
              </a:rPr>
              <a:t>LOGIQUE D'EXPLOITATION</a:t>
            </a:r>
          </a:p>
        </p:txBody>
      </p:sp>
      <p:sp>
        <p:nvSpPr>
          <p:cNvPr id="64" name="Rounded Rectangle 63"/>
          <p:cNvSpPr/>
          <p:nvPr/>
        </p:nvSpPr>
        <p:spPr>
          <a:xfrm>
            <a:off x="8229600" y="1783080"/>
            <a:ext cx="3474720" cy="82296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229600" y="1783080"/>
            <a:ext cx="73152" cy="8229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58200" y="1892808"/>
            <a:ext cx="3108960" cy="365760"/>
          </a:xfrm>
          <a:prstGeom prst="rect">
            <a:avLst/>
          </a:prstGeom>
          <a:noFill/>
        </p:spPr>
        <p:txBody>
          <a:bodyPr wrap="square" lIns="0" rIns="0" tIns="0" bIns="0" anchor="t">
            <a:spAutoFit/>
          </a:bodyPr>
          <a:lstStyle/>
          <a:p>
            <a:pPr algn="l"/>
            <a:r>
              <a:rPr sz="1200" b="1" i="0">
                <a:solidFill>
                  <a:srgbClr val="F8FAFC"/>
                </a:solidFill>
                <a:latin typeface="Calibri"/>
              </a:rPr>
              <a:t>Récupération RSS</a:t>
            </a:r>
          </a:p>
        </p:txBody>
      </p:sp>
      <p:sp>
        <p:nvSpPr>
          <p:cNvPr id="67" name="TextBox 66"/>
          <p:cNvSpPr txBox="1"/>
          <p:nvPr/>
        </p:nvSpPr>
        <p:spPr>
          <a:xfrm>
            <a:off x="8458200" y="2240280"/>
            <a:ext cx="3108960" cy="365760"/>
          </a:xfrm>
          <a:prstGeom prst="rect">
            <a:avLst/>
          </a:prstGeom>
          <a:noFill/>
        </p:spPr>
        <p:txBody>
          <a:bodyPr wrap="square" lIns="0" rIns="0" tIns="0" bIns="0" anchor="t">
            <a:spAutoFit/>
          </a:bodyPr>
          <a:lstStyle/>
          <a:p>
            <a:pPr algn="l"/>
            <a:r>
              <a:rPr sz="1000" b="0" i="0">
                <a:solidFill>
                  <a:srgbClr val="94A3B8"/>
                </a:solidFill>
                <a:latin typeface="Calibri"/>
              </a:rPr>
              <a:t>à intervalle régulier</a:t>
            </a:r>
          </a:p>
        </p:txBody>
      </p:sp>
      <p:sp>
        <p:nvSpPr>
          <p:cNvPr id="68" name="Rounded Rectangle 67"/>
          <p:cNvSpPr/>
          <p:nvPr/>
        </p:nvSpPr>
        <p:spPr>
          <a:xfrm>
            <a:off x="8229600" y="2660904"/>
            <a:ext cx="3474720" cy="82296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229600" y="2660904"/>
            <a:ext cx="73152" cy="82296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58200" y="2770632"/>
            <a:ext cx="3108960" cy="365760"/>
          </a:xfrm>
          <a:prstGeom prst="rect">
            <a:avLst/>
          </a:prstGeom>
          <a:noFill/>
        </p:spPr>
        <p:txBody>
          <a:bodyPr wrap="square" lIns="0" rIns="0" tIns="0" bIns="0" anchor="t">
            <a:spAutoFit/>
          </a:bodyPr>
          <a:lstStyle/>
          <a:p>
            <a:pPr algn="l"/>
            <a:r>
              <a:rPr sz="1200" b="1" i="0">
                <a:solidFill>
                  <a:srgbClr val="F8FAFC"/>
                </a:solidFill>
                <a:latin typeface="Calibri"/>
              </a:rPr>
              <a:t>Extraction métadonnées</a:t>
            </a:r>
          </a:p>
        </p:txBody>
      </p:sp>
      <p:sp>
        <p:nvSpPr>
          <p:cNvPr id="71" name="TextBox 70"/>
          <p:cNvSpPr txBox="1"/>
          <p:nvPr/>
        </p:nvSpPr>
        <p:spPr>
          <a:xfrm>
            <a:off x="8458200" y="3118104"/>
            <a:ext cx="3108960" cy="365760"/>
          </a:xfrm>
          <a:prstGeom prst="rect">
            <a:avLst/>
          </a:prstGeom>
          <a:noFill/>
        </p:spPr>
        <p:txBody>
          <a:bodyPr wrap="square" lIns="0" rIns="0" tIns="0" bIns="0" anchor="t">
            <a:spAutoFit/>
          </a:bodyPr>
          <a:lstStyle/>
          <a:p>
            <a:pPr algn="l"/>
            <a:r>
              <a:rPr sz="1000" b="0" i="0">
                <a:solidFill>
                  <a:srgbClr val="94A3B8"/>
                </a:solidFill>
                <a:latin typeface="Calibri"/>
              </a:rPr>
              <a:t>titre, date, source</a:t>
            </a:r>
          </a:p>
        </p:txBody>
      </p:sp>
      <p:sp>
        <p:nvSpPr>
          <p:cNvPr id="72" name="Rounded Rectangle 71"/>
          <p:cNvSpPr/>
          <p:nvPr/>
        </p:nvSpPr>
        <p:spPr>
          <a:xfrm>
            <a:off x="8229600" y="3538728"/>
            <a:ext cx="3474720" cy="82296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229600" y="3538728"/>
            <a:ext cx="73152"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58200" y="3648456"/>
            <a:ext cx="3108960" cy="365760"/>
          </a:xfrm>
          <a:prstGeom prst="rect">
            <a:avLst/>
          </a:prstGeom>
          <a:noFill/>
        </p:spPr>
        <p:txBody>
          <a:bodyPr wrap="square" lIns="0" rIns="0" tIns="0" bIns="0" anchor="t">
            <a:spAutoFit/>
          </a:bodyPr>
          <a:lstStyle/>
          <a:p>
            <a:pPr algn="l"/>
            <a:r>
              <a:rPr sz="1200" b="1" i="0">
                <a:solidFill>
                  <a:srgbClr val="F8FAFC"/>
                </a:solidFill>
                <a:latin typeface="Calibri"/>
              </a:rPr>
              <a:t>Rattachement catégorie</a:t>
            </a:r>
          </a:p>
        </p:txBody>
      </p:sp>
      <p:sp>
        <p:nvSpPr>
          <p:cNvPr id="75" name="TextBox 74"/>
          <p:cNvSpPr txBox="1"/>
          <p:nvPr/>
        </p:nvSpPr>
        <p:spPr>
          <a:xfrm>
            <a:off x="8458200" y="3995928"/>
            <a:ext cx="3108960" cy="365760"/>
          </a:xfrm>
          <a:prstGeom prst="rect">
            <a:avLst/>
          </a:prstGeom>
          <a:noFill/>
        </p:spPr>
        <p:txBody>
          <a:bodyPr wrap="square" lIns="0" rIns="0" tIns="0" bIns="0" anchor="t">
            <a:spAutoFit/>
          </a:bodyPr>
          <a:lstStyle/>
          <a:p>
            <a:pPr algn="l"/>
            <a:r>
              <a:rPr sz="1000" b="0" i="0">
                <a:solidFill>
                  <a:srgbClr val="94A3B8"/>
                </a:solidFill>
                <a:latin typeface="Calibri"/>
              </a:rPr>
              <a:t>selon l'alerte d'origine</a:t>
            </a:r>
          </a:p>
        </p:txBody>
      </p:sp>
      <p:sp>
        <p:nvSpPr>
          <p:cNvPr id="76" name="Rounded Rectangle 75"/>
          <p:cNvSpPr/>
          <p:nvPr/>
        </p:nvSpPr>
        <p:spPr>
          <a:xfrm>
            <a:off x="8229600" y="4416552"/>
            <a:ext cx="3474720" cy="82296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229600" y="4416552"/>
            <a:ext cx="73152" cy="82296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58200" y="4526280"/>
            <a:ext cx="3108960" cy="365760"/>
          </a:xfrm>
          <a:prstGeom prst="rect">
            <a:avLst/>
          </a:prstGeom>
          <a:noFill/>
        </p:spPr>
        <p:txBody>
          <a:bodyPr wrap="square" lIns="0" rIns="0" tIns="0" bIns="0" anchor="t">
            <a:spAutoFit/>
          </a:bodyPr>
          <a:lstStyle/>
          <a:p>
            <a:pPr algn="l"/>
            <a:r>
              <a:rPr sz="1200" b="1" i="0">
                <a:solidFill>
                  <a:srgbClr val="F8FAFC"/>
                </a:solidFill>
                <a:latin typeface="Calibri"/>
              </a:rPr>
              <a:t>Filtrage</a:t>
            </a:r>
          </a:p>
        </p:txBody>
      </p:sp>
      <p:sp>
        <p:nvSpPr>
          <p:cNvPr id="79" name="TextBox 78"/>
          <p:cNvSpPr txBox="1"/>
          <p:nvPr/>
        </p:nvSpPr>
        <p:spPr>
          <a:xfrm>
            <a:off x="8458200" y="4873752"/>
            <a:ext cx="3108960" cy="365760"/>
          </a:xfrm>
          <a:prstGeom prst="rect">
            <a:avLst/>
          </a:prstGeom>
          <a:noFill/>
        </p:spPr>
        <p:txBody>
          <a:bodyPr wrap="square" lIns="0" rIns="0" tIns="0" bIns="0" anchor="t">
            <a:spAutoFit/>
          </a:bodyPr>
          <a:lstStyle/>
          <a:p>
            <a:pPr algn="l"/>
            <a:r>
              <a:rPr sz="1000" b="0" i="0">
                <a:solidFill>
                  <a:srgbClr val="94A3B8"/>
                </a:solidFill>
                <a:latin typeface="Calibri"/>
              </a:rPr>
              <a:t>règles communes</a:t>
            </a:r>
          </a:p>
        </p:txBody>
      </p:sp>
      <p:sp>
        <p:nvSpPr>
          <p:cNvPr id="80" name="Rounded Rectangle 79"/>
          <p:cNvSpPr/>
          <p:nvPr/>
        </p:nvSpPr>
        <p:spPr>
          <a:xfrm>
            <a:off x="8229600" y="5294376"/>
            <a:ext cx="3474720" cy="82296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229600" y="5294376"/>
            <a:ext cx="73152"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458200" y="5404104"/>
            <a:ext cx="3108960" cy="365760"/>
          </a:xfrm>
          <a:prstGeom prst="rect">
            <a:avLst/>
          </a:prstGeom>
          <a:noFill/>
        </p:spPr>
        <p:txBody>
          <a:bodyPr wrap="square" lIns="0" rIns="0" tIns="0" bIns="0" anchor="t">
            <a:spAutoFit/>
          </a:bodyPr>
          <a:lstStyle/>
          <a:p>
            <a:pPr algn="l"/>
            <a:r>
              <a:rPr sz="1200" b="1" i="0">
                <a:solidFill>
                  <a:srgbClr val="F8FAFC"/>
                </a:solidFill>
                <a:latin typeface="Calibri"/>
              </a:rPr>
              <a:t>Stockage</a:t>
            </a:r>
          </a:p>
        </p:txBody>
      </p:sp>
      <p:sp>
        <p:nvSpPr>
          <p:cNvPr id="83" name="TextBox 82"/>
          <p:cNvSpPr txBox="1"/>
          <p:nvPr/>
        </p:nvSpPr>
        <p:spPr>
          <a:xfrm>
            <a:off x="8458200" y="5751576"/>
            <a:ext cx="3108960" cy="365760"/>
          </a:xfrm>
          <a:prstGeom prst="rect">
            <a:avLst/>
          </a:prstGeom>
          <a:noFill/>
        </p:spPr>
        <p:txBody>
          <a:bodyPr wrap="square" lIns="0" rIns="0" tIns="0" bIns="0" anchor="t">
            <a:spAutoFit/>
          </a:bodyPr>
          <a:lstStyle/>
          <a:p>
            <a:pPr algn="l"/>
            <a:r>
              <a:rPr sz="1000" b="0" i="0">
                <a:solidFill>
                  <a:srgbClr val="94A3B8"/>
                </a:solidFill>
                <a:latin typeface="Calibri"/>
              </a:rPr>
              <a:t>normalisé + redacté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SOUS-PROJET — DATA WAREHOUSE CVE</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Module BI Threat Intelligence — architecture médaillon</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8B5CF6"/>
                </a:solidFill>
                <a:latin typeface="Calibri"/>
              </a:rPr>
              <a:t>IMANE</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14 / 19</a:t>
            </a:r>
          </a:p>
        </p:txBody>
      </p:sp>
      <p:sp>
        <p:nvSpPr>
          <p:cNvPr id="55" name="TextBox 54"/>
          <p:cNvSpPr txBox="1"/>
          <p:nvPr/>
        </p:nvSpPr>
        <p:spPr>
          <a:xfrm>
            <a:off x="502920" y="1371600"/>
            <a:ext cx="7315200" cy="365760"/>
          </a:xfrm>
          <a:prstGeom prst="rect">
            <a:avLst/>
          </a:prstGeom>
          <a:noFill/>
        </p:spPr>
        <p:txBody>
          <a:bodyPr wrap="square" lIns="0" rIns="0" tIns="0" bIns="0" anchor="t">
            <a:spAutoFit/>
          </a:bodyPr>
          <a:lstStyle/>
          <a:p>
            <a:pPr algn="l"/>
            <a:r>
              <a:rPr sz="900" b="1" i="0">
                <a:solidFill>
                  <a:srgbClr val="8B5CF6"/>
                </a:solidFill>
                <a:latin typeface="Calibri"/>
              </a:rPr>
              <a:t>ARCHITECTURE DU PIPELINE CVE</a:t>
            </a:r>
          </a:p>
        </p:txBody>
      </p:sp>
      <p:sp>
        <p:nvSpPr>
          <p:cNvPr id="56" name="Rounded Rectangle 55"/>
          <p:cNvSpPr/>
          <p:nvPr/>
        </p:nvSpPr>
        <p:spPr>
          <a:xfrm>
            <a:off x="365760" y="1737360"/>
            <a:ext cx="7452360" cy="461772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365760" y="1737360"/>
            <a:ext cx="7452360" cy="22860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475488" y="1810512"/>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12648" y="1810512"/>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49808" y="1810512"/>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4400" y="1737360"/>
            <a:ext cx="6812280" cy="228600"/>
          </a:xfrm>
          <a:prstGeom prst="rect">
            <a:avLst/>
          </a:prstGeom>
          <a:noFill/>
        </p:spPr>
        <p:txBody>
          <a:bodyPr wrap="square" lIns="0" rIns="0" tIns="0" bIns="0" anchor="ctr">
            <a:spAutoFit/>
          </a:bodyPr>
          <a:lstStyle/>
          <a:p>
            <a:pPr algn="l"/>
            <a:r>
              <a:rPr sz="800" b="0" i="0">
                <a:solidFill>
                  <a:srgbClr val="64748B"/>
                </a:solidFill>
                <a:latin typeface="Consolas"/>
              </a:rPr>
              <a:t>dbm.soc.local/bi_pipeline</a:t>
            </a:r>
          </a:p>
        </p:txBody>
      </p:sp>
      <p:pic>
        <p:nvPicPr>
          <p:cNvPr id="62" name="Picture 61" descr="TIP.png"/>
          <p:cNvPicPr>
            <a:picLocks noChangeAspect="1"/>
          </p:cNvPicPr>
          <p:nvPr/>
        </p:nvPicPr>
        <p:blipFill>
          <a:blip r:embed="rId2"/>
          <a:stretch>
            <a:fillRect/>
          </a:stretch>
        </p:blipFill>
        <p:spPr>
          <a:xfrm>
            <a:off x="411480" y="2011680"/>
            <a:ext cx="7360920" cy="4046621"/>
          </a:xfrm>
          <a:prstGeom prst="rect">
            <a:avLst/>
          </a:prstGeom>
        </p:spPr>
      </p:pic>
      <p:sp>
        <p:nvSpPr>
          <p:cNvPr id="63" name="TextBox 62"/>
          <p:cNvSpPr txBox="1"/>
          <p:nvPr/>
        </p:nvSpPr>
        <p:spPr>
          <a:xfrm>
            <a:off x="8001000" y="1371600"/>
            <a:ext cx="3886200" cy="365760"/>
          </a:xfrm>
          <a:prstGeom prst="rect">
            <a:avLst/>
          </a:prstGeom>
          <a:noFill/>
        </p:spPr>
        <p:txBody>
          <a:bodyPr wrap="square" lIns="0" rIns="0" tIns="0" bIns="0" anchor="t">
            <a:spAutoFit/>
          </a:bodyPr>
          <a:lstStyle/>
          <a:p>
            <a:pPr algn="l"/>
            <a:r>
              <a:rPr sz="900" b="1" i="0">
                <a:solidFill>
                  <a:srgbClr val="8B5CF6"/>
                </a:solidFill>
                <a:latin typeface="Calibri"/>
              </a:rPr>
              <a:t>MODÈLE MÉDAILLON</a:t>
            </a:r>
          </a:p>
        </p:txBody>
      </p:sp>
      <p:sp>
        <p:nvSpPr>
          <p:cNvPr id="64" name="Rounded Rectangle 63"/>
          <p:cNvSpPr/>
          <p:nvPr/>
        </p:nvSpPr>
        <p:spPr>
          <a:xfrm>
            <a:off x="8001000" y="1783080"/>
            <a:ext cx="3886200" cy="1463040"/>
          </a:xfrm>
          <a:prstGeom prst="roundRect">
            <a:avLst>
              <a:gd name="adj" fmla="val 8000"/>
            </a:avLst>
          </a:prstGeom>
          <a:solidFill>
            <a:srgbClr val="0C121F"/>
          </a:solidFill>
          <a:ln w="19050">
            <a:solidFill>
              <a:srgbClr val="C97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001000" y="1783080"/>
            <a:ext cx="777240" cy="1463040"/>
          </a:xfrm>
          <a:prstGeom prst="rect">
            <a:avLst/>
          </a:prstGeom>
          <a:solidFill>
            <a:srgbClr val="C9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001000" y="2103120"/>
            <a:ext cx="777240" cy="457200"/>
          </a:xfrm>
          <a:prstGeom prst="rect">
            <a:avLst/>
          </a:prstGeom>
          <a:noFill/>
        </p:spPr>
        <p:txBody>
          <a:bodyPr wrap="square" lIns="0" rIns="0" tIns="0" bIns="0" anchor="t">
            <a:spAutoFit/>
          </a:bodyPr>
          <a:lstStyle/>
          <a:p>
            <a:pPr algn="ctr"/>
            <a:r>
              <a:rPr sz="2200" b="1" i="0">
                <a:solidFill>
                  <a:srgbClr val="F8FAFC"/>
                </a:solidFill>
                <a:latin typeface="Calibri"/>
              </a:rPr>
              <a:t>L1</a:t>
            </a:r>
          </a:p>
        </p:txBody>
      </p:sp>
      <p:sp>
        <p:nvSpPr>
          <p:cNvPr id="67" name="TextBox 66"/>
          <p:cNvSpPr txBox="1"/>
          <p:nvPr/>
        </p:nvSpPr>
        <p:spPr>
          <a:xfrm>
            <a:off x="8869680" y="1920240"/>
            <a:ext cx="2880360" cy="365760"/>
          </a:xfrm>
          <a:prstGeom prst="rect">
            <a:avLst/>
          </a:prstGeom>
          <a:noFill/>
        </p:spPr>
        <p:txBody>
          <a:bodyPr wrap="square" lIns="0" rIns="0" tIns="0" bIns="0" anchor="t">
            <a:spAutoFit/>
          </a:bodyPr>
          <a:lstStyle/>
          <a:p>
            <a:pPr algn="l"/>
            <a:r>
              <a:rPr sz="1500" b="1" i="0">
                <a:solidFill>
                  <a:srgbClr val="C97A55"/>
                </a:solidFill>
                <a:latin typeface="Calibri"/>
              </a:rPr>
              <a:t>BRONZE</a:t>
            </a:r>
          </a:p>
        </p:txBody>
      </p:sp>
      <p:sp>
        <p:nvSpPr>
          <p:cNvPr id="68" name="TextBox 67"/>
          <p:cNvSpPr txBox="1"/>
          <p:nvPr/>
        </p:nvSpPr>
        <p:spPr>
          <a:xfrm>
            <a:off x="8869680" y="2240280"/>
            <a:ext cx="2880360" cy="274320"/>
          </a:xfrm>
          <a:prstGeom prst="rect">
            <a:avLst/>
          </a:prstGeom>
          <a:noFill/>
        </p:spPr>
        <p:txBody>
          <a:bodyPr wrap="square" lIns="0" rIns="0" tIns="0" bIns="0" anchor="t">
            <a:spAutoFit/>
          </a:bodyPr>
          <a:lstStyle/>
          <a:p>
            <a:pPr algn="l"/>
            <a:r>
              <a:rPr sz="1000" b="0" i="1">
                <a:solidFill>
                  <a:srgbClr val="94A3B8"/>
                </a:solidFill>
                <a:latin typeface="Calibri"/>
              </a:rPr>
              <a:t>Ingestion brute</a:t>
            </a:r>
          </a:p>
        </p:txBody>
      </p:sp>
      <p:sp>
        <p:nvSpPr>
          <p:cNvPr id="69" name="TextBox 68"/>
          <p:cNvSpPr txBox="1"/>
          <p:nvPr/>
        </p:nvSpPr>
        <p:spPr>
          <a:xfrm>
            <a:off x="8869680" y="2560320"/>
            <a:ext cx="2880360" cy="640080"/>
          </a:xfrm>
          <a:prstGeom prst="rect">
            <a:avLst/>
          </a:prstGeom>
          <a:noFill/>
        </p:spPr>
        <p:txBody>
          <a:bodyPr wrap="square" lIns="0" rIns="0" tIns="0" bIns="0" anchor="t">
            <a:spAutoFit/>
          </a:bodyPr>
          <a:lstStyle/>
          <a:p>
            <a:pPr algn="l">
              <a:lnSpc>
                <a:spcPct val="130000"/>
              </a:lnSpc>
            </a:pPr>
            <a:r>
              <a:rPr sz="1000" b="0" i="0">
                <a:solidFill>
                  <a:srgbClr val="F8FAFC"/>
                </a:solidFill>
                <a:latin typeface="Calibri"/>
              </a:rPr>
              <a:t>Collecte des CVE depuis</a:t>
            </a:r>
          </a:p>
          <a:p>
            <a:pPr algn="l">
              <a:lnSpc>
                <a:spcPct val="130000"/>
              </a:lnSpc>
            </a:pPr>
            <a:r>
              <a:rPr sz="1000" b="0" i="0">
                <a:solidFill>
                  <a:srgbClr val="F8FAFC"/>
                </a:solidFill>
                <a:latin typeface="Calibri"/>
              </a:rPr>
              <a:t>les sources externes.</a:t>
            </a:r>
          </a:p>
        </p:txBody>
      </p:sp>
      <p:cxnSp>
        <p:nvCxnSpPr>
          <p:cNvPr id="70" name="Connector 69"/>
          <p:cNvCxnSpPr/>
          <p:nvPr/>
        </p:nvCxnSpPr>
        <p:spPr>
          <a:xfrm>
            <a:off x="9944100.0" y="3255264"/>
            <a:ext cx="0.0" cy="100584"/>
          </a:xfrm>
          <a:prstGeom prst="line">
            <a:avLst/>
          </a:prstGeom>
          <a:ln w="31750">
            <a:solidFill>
              <a:srgbClr val="8B5CF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Rounded Rectangle 70"/>
          <p:cNvSpPr/>
          <p:nvPr/>
        </p:nvSpPr>
        <p:spPr>
          <a:xfrm>
            <a:off x="8001000" y="3364992"/>
            <a:ext cx="3886200" cy="1463040"/>
          </a:xfrm>
          <a:prstGeom prst="roundRect">
            <a:avLst>
              <a:gd name="adj" fmla="val 8000"/>
            </a:avLst>
          </a:prstGeom>
          <a:solidFill>
            <a:srgbClr val="0C121F"/>
          </a:solidFill>
          <a:ln w="19050">
            <a:solidFill>
              <a:srgbClr val="A0A8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001000" y="3364992"/>
            <a:ext cx="777240" cy="1463040"/>
          </a:xfrm>
          <a:prstGeom prst="rect">
            <a:avLst/>
          </a:prstGeom>
          <a:solidFill>
            <a:srgbClr val="A0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001000" y="3685032"/>
            <a:ext cx="777240" cy="457200"/>
          </a:xfrm>
          <a:prstGeom prst="rect">
            <a:avLst/>
          </a:prstGeom>
          <a:noFill/>
        </p:spPr>
        <p:txBody>
          <a:bodyPr wrap="square" lIns="0" rIns="0" tIns="0" bIns="0" anchor="t">
            <a:spAutoFit/>
          </a:bodyPr>
          <a:lstStyle/>
          <a:p>
            <a:pPr algn="ctr"/>
            <a:r>
              <a:rPr sz="2200" b="1" i="0">
                <a:solidFill>
                  <a:srgbClr val="F8FAFC"/>
                </a:solidFill>
                <a:latin typeface="Calibri"/>
              </a:rPr>
              <a:t>L2</a:t>
            </a:r>
          </a:p>
        </p:txBody>
      </p:sp>
      <p:sp>
        <p:nvSpPr>
          <p:cNvPr id="74" name="TextBox 73"/>
          <p:cNvSpPr txBox="1"/>
          <p:nvPr/>
        </p:nvSpPr>
        <p:spPr>
          <a:xfrm>
            <a:off x="8869680" y="3502152"/>
            <a:ext cx="2880360" cy="365760"/>
          </a:xfrm>
          <a:prstGeom prst="rect">
            <a:avLst/>
          </a:prstGeom>
          <a:noFill/>
        </p:spPr>
        <p:txBody>
          <a:bodyPr wrap="square" lIns="0" rIns="0" tIns="0" bIns="0" anchor="t">
            <a:spAutoFit/>
          </a:bodyPr>
          <a:lstStyle/>
          <a:p>
            <a:pPr algn="l"/>
            <a:r>
              <a:rPr sz="1500" b="1" i="0">
                <a:solidFill>
                  <a:srgbClr val="A0A8B5"/>
                </a:solidFill>
                <a:latin typeface="Calibri"/>
              </a:rPr>
              <a:t>SILVER</a:t>
            </a:r>
          </a:p>
        </p:txBody>
      </p:sp>
      <p:sp>
        <p:nvSpPr>
          <p:cNvPr id="75" name="TextBox 74"/>
          <p:cNvSpPr txBox="1"/>
          <p:nvPr/>
        </p:nvSpPr>
        <p:spPr>
          <a:xfrm>
            <a:off x="8869680" y="3822192"/>
            <a:ext cx="2880360" cy="274320"/>
          </a:xfrm>
          <a:prstGeom prst="rect">
            <a:avLst/>
          </a:prstGeom>
          <a:noFill/>
        </p:spPr>
        <p:txBody>
          <a:bodyPr wrap="square" lIns="0" rIns="0" tIns="0" bIns="0" anchor="t">
            <a:spAutoFit/>
          </a:bodyPr>
          <a:lstStyle/>
          <a:p>
            <a:pPr algn="l"/>
            <a:r>
              <a:rPr sz="1000" b="0" i="1">
                <a:solidFill>
                  <a:srgbClr val="94A3B8"/>
                </a:solidFill>
                <a:latin typeface="Calibri"/>
              </a:rPr>
              <a:t>Nettoyage &amp; enrichissement</a:t>
            </a:r>
          </a:p>
        </p:txBody>
      </p:sp>
      <p:sp>
        <p:nvSpPr>
          <p:cNvPr id="76" name="TextBox 75"/>
          <p:cNvSpPr txBox="1"/>
          <p:nvPr/>
        </p:nvSpPr>
        <p:spPr>
          <a:xfrm>
            <a:off x="8869680" y="4142232"/>
            <a:ext cx="2880360" cy="640080"/>
          </a:xfrm>
          <a:prstGeom prst="rect">
            <a:avLst/>
          </a:prstGeom>
          <a:noFill/>
        </p:spPr>
        <p:txBody>
          <a:bodyPr wrap="square" lIns="0" rIns="0" tIns="0" bIns="0" anchor="t">
            <a:spAutoFit/>
          </a:bodyPr>
          <a:lstStyle/>
          <a:p>
            <a:pPr algn="l">
              <a:lnSpc>
                <a:spcPct val="130000"/>
              </a:lnSpc>
            </a:pPr>
            <a:r>
              <a:rPr sz="1000" b="0" i="0">
                <a:solidFill>
                  <a:srgbClr val="F8FAFC"/>
                </a:solidFill>
                <a:latin typeface="Calibri"/>
              </a:rPr>
              <a:t>Normalisation, dédup,</a:t>
            </a:r>
          </a:p>
          <a:p>
            <a:pPr algn="l">
              <a:lnSpc>
                <a:spcPct val="130000"/>
              </a:lnSpc>
            </a:pPr>
            <a:r>
              <a:rPr sz="1000" b="0" i="0">
                <a:solidFill>
                  <a:srgbClr val="F8FAFC"/>
                </a:solidFill>
                <a:latin typeface="Calibri"/>
              </a:rPr>
              <a:t>enrichissement métier.</a:t>
            </a:r>
          </a:p>
        </p:txBody>
      </p:sp>
      <p:cxnSp>
        <p:nvCxnSpPr>
          <p:cNvPr id="77" name="Connector 76"/>
          <p:cNvCxnSpPr/>
          <p:nvPr/>
        </p:nvCxnSpPr>
        <p:spPr>
          <a:xfrm>
            <a:off x="9944100.0" y="4837176"/>
            <a:ext cx="0.0" cy="100584"/>
          </a:xfrm>
          <a:prstGeom prst="line">
            <a:avLst/>
          </a:prstGeom>
          <a:ln w="31750">
            <a:solidFill>
              <a:srgbClr val="8B5CF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8" name="Rounded Rectangle 77"/>
          <p:cNvSpPr/>
          <p:nvPr/>
        </p:nvSpPr>
        <p:spPr>
          <a:xfrm>
            <a:off x="8001000" y="4946904"/>
            <a:ext cx="3886200" cy="1463040"/>
          </a:xfrm>
          <a:prstGeom prst="roundRect">
            <a:avLst>
              <a:gd name="adj" fmla="val 8000"/>
            </a:avLst>
          </a:prstGeom>
          <a:solidFill>
            <a:srgbClr val="0C121F"/>
          </a:solidFill>
          <a:ln w="19050">
            <a:solidFill>
              <a:srgbClr val="D4A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8001000" y="4946904"/>
            <a:ext cx="777240" cy="1463040"/>
          </a:xfrm>
          <a:prstGeom prst="rect">
            <a:avLst/>
          </a:prstGeom>
          <a:solidFill>
            <a:srgbClr val="D4A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001000" y="5266944"/>
            <a:ext cx="777240" cy="457200"/>
          </a:xfrm>
          <a:prstGeom prst="rect">
            <a:avLst/>
          </a:prstGeom>
          <a:noFill/>
        </p:spPr>
        <p:txBody>
          <a:bodyPr wrap="square" lIns="0" rIns="0" tIns="0" bIns="0" anchor="t">
            <a:spAutoFit/>
          </a:bodyPr>
          <a:lstStyle/>
          <a:p>
            <a:pPr algn="ctr"/>
            <a:r>
              <a:rPr sz="2200" b="1" i="0">
                <a:solidFill>
                  <a:srgbClr val="F8FAFC"/>
                </a:solidFill>
                <a:latin typeface="Calibri"/>
              </a:rPr>
              <a:t>L3</a:t>
            </a:r>
          </a:p>
        </p:txBody>
      </p:sp>
      <p:sp>
        <p:nvSpPr>
          <p:cNvPr id="81" name="TextBox 80"/>
          <p:cNvSpPr txBox="1"/>
          <p:nvPr/>
        </p:nvSpPr>
        <p:spPr>
          <a:xfrm>
            <a:off x="8869680" y="5084064"/>
            <a:ext cx="2880360" cy="365760"/>
          </a:xfrm>
          <a:prstGeom prst="rect">
            <a:avLst/>
          </a:prstGeom>
          <a:noFill/>
        </p:spPr>
        <p:txBody>
          <a:bodyPr wrap="square" lIns="0" rIns="0" tIns="0" bIns="0" anchor="t">
            <a:spAutoFit/>
          </a:bodyPr>
          <a:lstStyle/>
          <a:p>
            <a:pPr algn="l"/>
            <a:r>
              <a:rPr sz="1500" b="1" i="0">
                <a:solidFill>
                  <a:srgbClr val="D4A848"/>
                </a:solidFill>
                <a:latin typeface="Calibri"/>
              </a:rPr>
              <a:t>GOLD</a:t>
            </a:r>
          </a:p>
        </p:txBody>
      </p:sp>
      <p:sp>
        <p:nvSpPr>
          <p:cNvPr id="82" name="TextBox 81"/>
          <p:cNvSpPr txBox="1"/>
          <p:nvPr/>
        </p:nvSpPr>
        <p:spPr>
          <a:xfrm>
            <a:off x="8869680" y="5404104"/>
            <a:ext cx="2880360" cy="274320"/>
          </a:xfrm>
          <a:prstGeom prst="rect">
            <a:avLst/>
          </a:prstGeom>
          <a:noFill/>
        </p:spPr>
        <p:txBody>
          <a:bodyPr wrap="square" lIns="0" rIns="0" tIns="0" bIns="0" anchor="t">
            <a:spAutoFit/>
          </a:bodyPr>
          <a:lstStyle/>
          <a:p>
            <a:pPr algn="l"/>
            <a:r>
              <a:rPr sz="1000" b="0" i="1">
                <a:solidFill>
                  <a:srgbClr val="94A3B8"/>
                </a:solidFill>
                <a:latin typeface="Calibri"/>
              </a:rPr>
              <a:t>Agrégats analytiques</a:t>
            </a:r>
          </a:p>
        </p:txBody>
      </p:sp>
      <p:sp>
        <p:nvSpPr>
          <p:cNvPr id="83" name="TextBox 82"/>
          <p:cNvSpPr txBox="1"/>
          <p:nvPr/>
        </p:nvSpPr>
        <p:spPr>
          <a:xfrm>
            <a:off x="8869680" y="5724144"/>
            <a:ext cx="2880360" cy="640080"/>
          </a:xfrm>
          <a:prstGeom prst="rect">
            <a:avLst/>
          </a:prstGeom>
          <a:noFill/>
        </p:spPr>
        <p:txBody>
          <a:bodyPr wrap="square" lIns="0" rIns="0" tIns="0" bIns="0" anchor="t">
            <a:spAutoFit/>
          </a:bodyPr>
          <a:lstStyle/>
          <a:p>
            <a:pPr algn="l">
              <a:lnSpc>
                <a:spcPct val="130000"/>
              </a:lnSpc>
            </a:pPr>
            <a:r>
              <a:rPr sz="1000" b="0" i="0">
                <a:solidFill>
                  <a:srgbClr val="F8FAFC"/>
                </a:solidFill>
                <a:latin typeface="Calibri"/>
              </a:rPr>
              <a:t>Tables prêtes pour</a:t>
            </a:r>
          </a:p>
          <a:p>
            <a:pPr algn="l">
              <a:lnSpc>
                <a:spcPct val="130000"/>
              </a:lnSpc>
            </a:pPr>
            <a:r>
              <a:rPr sz="1000" b="0" i="0">
                <a:solidFill>
                  <a:srgbClr val="F8FAFC"/>
                </a:solidFill>
                <a:latin typeface="Calibri"/>
              </a:rPr>
              <a:t>les dashboards Power BI.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DATA BREACH &amp; THREAT INTELLIGENCE PLATFORM  /  EXECUTIVE BRIEFING</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Dashboards Power BI — 3 vues analytiques</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8B5CF6"/>
                </a:solidFill>
                <a:latin typeface="Calibri"/>
              </a:rPr>
              <a:t>IMANE</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15 / 19</a:t>
            </a:r>
          </a:p>
        </p:txBody>
      </p:sp>
      <p:sp>
        <p:nvSpPr>
          <p:cNvPr id="55" name="Rounded Rectangle 54"/>
          <p:cNvSpPr/>
          <p:nvPr/>
        </p:nvSpPr>
        <p:spPr>
          <a:xfrm>
            <a:off x="403707" y="1417320"/>
            <a:ext cx="3703320" cy="457200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03707" y="1417320"/>
            <a:ext cx="3703320" cy="73152"/>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2307" y="1600200"/>
            <a:ext cx="3246120" cy="365760"/>
          </a:xfrm>
          <a:prstGeom prst="rect">
            <a:avLst/>
          </a:prstGeom>
          <a:noFill/>
        </p:spPr>
        <p:txBody>
          <a:bodyPr wrap="square" lIns="0" rIns="0" tIns="0" bIns="0" anchor="t">
            <a:spAutoFit/>
          </a:bodyPr>
          <a:lstStyle/>
          <a:p>
            <a:pPr algn="l"/>
            <a:r>
              <a:rPr sz="1400" b="1" i="0">
                <a:solidFill>
                  <a:srgbClr val="3B82F6"/>
                </a:solidFill>
                <a:latin typeface="Calibri"/>
              </a:rPr>
              <a:t>Executive Overview</a:t>
            </a:r>
          </a:p>
        </p:txBody>
      </p:sp>
      <p:sp>
        <p:nvSpPr>
          <p:cNvPr id="58" name="Rounded Rectangle 57"/>
          <p:cNvSpPr/>
          <p:nvPr/>
        </p:nvSpPr>
        <p:spPr>
          <a:xfrm>
            <a:off x="540867" y="2103120"/>
            <a:ext cx="3429000" cy="2743200"/>
          </a:xfrm>
          <a:prstGeom prst="roundRect">
            <a:avLst>
              <a:gd name="adj" fmla="val 8000"/>
            </a:avLst>
          </a:prstGeom>
          <a:solidFill>
            <a:srgbClr val="131B2E"/>
          </a:solidFill>
          <a:ln w="9525">
            <a:solidFill>
              <a:srgbClr val="1C28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40867" y="2103120"/>
            <a:ext cx="3429000" cy="22860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650595" y="2176272"/>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87755" y="2176272"/>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24915" y="2176272"/>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89507" y="2103120"/>
            <a:ext cx="2788920" cy="228600"/>
          </a:xfrm>
          <a:prstGeom prst="rect">
            <a:avLst/>
          </a:prstGeom>
          <a:noFill/>
        </p:spPr>
        <p:txBody>
          <a:bodyPr wrap="square" lIns="0" rIns="0" tIns="0" bIns="0" anchor="ctr">
            <a:spAutoFit/>
          </a:bodyPr>
          <a:lstStyle/>
          <a:p>
            <a:pPr algn="l"/>
            <a:r>
              <a:rPr sz="800" b="0" i="0">
                <a:solidFill>
                  <a:srgbClr val="64748B"/>
                </a:solidFill>
                <a:latin typeface="Consolas"/>
              </a:rPr>
              <a:t>Executive Overview.png</a:t>
            </a:r>
          </a:p>
        </p:txBody>
      </p:sp>
      <p:pic>
        <p:nvPicPr>
          <p:cNvPr id="64" name="Picture 63" descr="Executive Overview.png"/>
          <p:cNvPicPr>
            <a:picLocks noChangeAspect="1"/>
          </p:cNvPicPr>
          <p:nvPr/>
        </p:nvPicPr>
        <p:blipFill>
          <a:blip r:embed="rId2"/>
          <a:stretch>
            <a:fillRect/>
          </a:stretch>
        </p:blipFill>
        <p:spPr>
          <a:xfrm>
            <a:off x="586587" y="2377440"/>
            <a:ext cx="3337560" cy="1868194"/>
          </a:xfrm>
          <a:prstGeom prst="rect">
            <a:avLst/>
          </a:prstGeom>
        </p:spPr>
      </p:pic>
      <p:sp>
        <p:nvSpPr>
          <p:cNvPr id="65" name="TextBox 64"/>
          <p:cNvSpPr txBox="1"/>
          <p:nvPr/>
        </p:nvSpPr>
        <p:spPr>
          <a:xfrm>
            <a:off x="632307" y="5029200"/>
            <a:ext cx="3246120" cy="914400"/>
          </a:xfrm>
          <a:prstGeom prst="rect">
            <a:avLst/>
          </a:prstGeom>
          <a:noFill/>
        </p:spPr>
        <p:txBody>
          <a:bodyPr wrap="square" lIns="0" rIns="0" tIns="0" bIns="0" anchor="t">
            <a:spAutoFit/>
          </a:bodyPr>
          <a:lstStyle/>
          <a:p>
            <a:pPr algn="l">
              <a:lnSpc>
                <a:spcPct val="135000"/>
              </a:lnSpc>
            </a:pPr>
            <a:r>
              <a:rPr sz="1100" b="0" i="0">
                <a:solidFill>
                  <a:srgbClr val="94A3B8"/>
                </a:solidFill>
                <a:latin typeface="Calibri"/>
              </a:rPr>
              <a:t>Vision globale : total CVE,</a:t>
            </a:r>
          </a:p>
          <a:p>
            <a:pPr algn="l">
              <a:lnSpc>
                <a:spcPct val="135000"/>
              </a:lnSpc>
            </a:pPr>
            <a:r>
              <a:rPr sz="1100" b="0" i="0">
                <a:solidFill>
                  <a:srgbClr val="94A3B8"/>
                </a:solidFill>
                <a:latin typeface="Calibri"/>
              </a:rPr>
              <a:t>% critiques, fournisseurs impactés</a:t>
            </a:r>
          </a:p>
        </p:txBody>
      </p:sp>
      <p:sp>
        <p:nvSpPr>
          <p:cNvPr id="66" name="Rounded Rectangle 65"/>
          <p:cNvSpPr/>
          <p:nvPr/>
        </p:nvSpPr>
        <p:spPr>
          <a:xfrm>
            <a:off x="4244187" y="1417320"/>
            <a:ext cx="3703320" cy="457200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244187" y="1417320"/>
            <a:ext cx="3703320" cy="7315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472787" y="1600200"/>
            <a:ext cx="3246120" cy="365760"/>
          </a:xfrm>
          <a:prstGeom prst="rect">
            <a:avLst/>
          </a:prstGeom>
          <a:noFill/>
        </p:spPr>
        <p:txBody>
          <a:bodyPr wrap="square" lIns="0" rIns="0" tIns="0" bIns="0" anchor="t">
            <a:spAutoFit/>
          </a:bodyPr>
          <a:lstStyle/>
          <a:p>
            <a:pPr algn="l"/>
            <a:r>
              <a:rPr sz="1400" b="1" i="0">
                <a:solidFill>
                  <a:srgbClr val="14B8A6"/>
                </a:solidFill>
                <a:latin typeface="Calibri"/>
              </a:rPr>
              <a:t>Time &amp; Age Analysis</a:t>
            </a:r>
          </a:p>
        </p:txBody>
      </p:sp>
      <p:sp>
        <p:nvSpPr>
          <p:cNvPr id="69" name="Rounded Rectangle 68"/>
          <p:cNvSpPr/>
          <p:nvPr/>
        </p:nvSpPr>
        <p:spPr>
          <a:xfrm>
            <a:off x="4381347" y="2103120"/>
            <a:ext cx="3429000" cy="2743200"/>
          </a:xfrm>
          <a:prstGeom prst="roundRect">
            <a:avLst>
              <a:gd name="adj" fmla="val 8000"/>
            </a:avLst>
          </a:prstGeom>
          <a:solidFill>
            <a:srgbClr val="131B2E"/>
          </a:solidFill>
          <a:ln w="9525">
            <a:solidFill>
              <a:srgbClr val="1C28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4381347" y="2103120"/>
            <a:ext cx="3429000" cy="22860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491075" y="2176272"/>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4628235" y="2176272"/>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4765395" y="2176272"/>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929987" y="2103120"/>
            <a:ext cx="2788920" cy="228600"/>
          </a:xfrm>
          <a:prstGeom prst="rect">
            <a:avLst/>
          </a:prstGeom>
          <a:noFill/>
        </p:spPr>
        <p:txBody>
          <a:bodyPr wrap="square" lIns="0" rIns="0" tIns="0" bIns="0" anchor="ctr">
            <a:spAutoFit/>
          </a:bodyPr>
          <a:lstStyle/>
          <a:p>
            <a:pPr algn="l"/>
            <a:r>
              <a:rPr sz="800" b="0" i="0">
                <a:solidFill>
                  <a:srgbClr val="64748B"/>
                </a:solidFill>
                <a:latin typeface="Consolas"/>
              </a:rPr>
              <a:t>Time &amp; Age Analysis.png</a:t>
            </a:r>
          </a:p>
        </p:txBody>
      </p:sp>
      <p:pic>
        <p:nvPicPr>
          <p:cNvPr id="75" name="Picture 74" descr="Time &amp; Age Analysis.png"/>
          <p:cNvPicPr>
            <a:picLocks noChangeAspect="1"/>
          </p:cNvPicPr>
          <p:nvPr/>
        </p:nvPicPr>
        <p:blipFill>
          <a:blip r:embed="rId3"/>
          <a:stretch>
            <a:fillRect/>
          </a:stretch>
        </p:blipFill>
        <p:spPr>
          <a:xfrm>
            <a:off x="4427067" y="2377440"/>
            <a:ext cx="3337560" cy="1868720"/>
          </a:xfrm>
          <a:prstGeom prst="rect">
            <a:avLst/>
          </a:prstGeom>
        </p:spPr>
      </p:pic>
      <p:sp>
        <p:nvSpPr>
          <p:cNvPr id="76" name="TextBox 75"/>
          <p:cNvSpPr txBox="1"/>
          <p:nvPr/>
        </p:nvSpPr>
        <p:spPr>
          <a:xfrm>
            <a:off x="4472787" y="5029200"/>
            <a:ext cx="3246120" cy="914400"/>
          </a:xfrm>
          <a:prstGeom prst="rect">
            <a:avLst/>
          </a:prstGeom>
          <a:noFill/>
        </p:spPr>
        <p:txBody>
          <a:bodyPr wrap="square" lIns="0" rIns="0" tIns="0" bIns="0" anchor="t">
            <a:spAutoFit/>
          </a:bodyPr>
          <a:lstStyle/>
          <a:p>
            <a:pPr algn="l">
              <a:lnSpc>
                <a:spcPct val="135000"/>
              </a:lnSpc>
            </a:pPr>
            <a:r>
              <a:rPr sz="1100" b="0" i="0">
                <a:solidFill>
                  <a:srgbClr val="94A3B8"/>
                </a:solidFill>
                <a:latin typeface="Calibri"/>
              </a:rPr>
              <a:t>Dimension temporelle :</a:t>
            </a:r>
          </a:p>
          <a:p>
            <a:pPr algn="l">
              <a:lnSpc>
                <a:spcPct val="135000"/>
              </a:lnSpc>
            </a:pPr>
            <a:r>
              <a:rPr sz="1100" b="0" i="0">
                <a:solidFill>
                  <a:srgbClr val="94A3B8"/>
                </a:solidFill>
                <a:latin typeface="Calibri"/>
              </a:rPr>
              <a:t>évolution annuelle &amp; mensuelle</a:t>
            </a:r>
          </a:p>
        </p:txBody>
      </p:sp>
      <p:sp>
        <p:nvSpPr>
          <p:cNvPr id="77" name="Rounded Rectangle 76"/>
          <p:cNvSpPr/>
          <p:nvPr/>
        </p:nvSpPr>
        <p:spPr>
          <a:xfrm>
            <a:off x="8084667" y="1417320"/>
            <a:ext cx="3703320" cy="457200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084667" y="1417320"/>
            <a:ext cx="370332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313267" y="1600200"/>
            <a:ext cx="3246120" cy="365760"/>
          </a:xfrm>
          <a:prstGeom prst="rect">
            <a:avLst/>
          </a:prstGeom>
          <a:noFill/>
        </p:spPr>
        <p:txBody>
          <a:bodyPr wrap="square" lIns="0" rIns="0" tIns="0" bIns="0" anchor="t">
            <a:spAutoFit/>
          </a:bodyPr>
          <a:lstStyle/>
          <a:p>
            <a:pPr algn="l"/>
            <a:r>
              <a:rPr sz="1400" b="1" i="0">
                <a:solidFill>
                  <a:srgbClr val="F59E0B"/>
                </a:solidFill>
                <a:latin typeface="Calibri"/>
              </a:rPr>
              <a:t>Severity &amp; Impact</a:t>
            </a:r>
          </a:p>
        </p:txBody>
      </p:sp>
      <p:sp>
        <p:nvSpPr>
          <p:cNvPr id="80" name="Rounded Rectangle 79"/>
          <p:cNvSpPr/>
          <p:nvPr/>
        </p:nvSpPr>
        <p:spPr>
          <a:xfrm>
            <a:off x="8221827" y="2103120"/>
            <a:ext cx="3429000" cy="2743200"/>
          </a:xfrm>
          <a:prstGeom prst="roundRect">
            <a:avLst>
              <a:gd name="adj" fmla="val 8000"/>
            </a:avLst>
          </a:prstGeom>
          <a:solidFill>
            <a:srgbClr val="131B2E"/>
          </a:solidFill>
          <a:ln w="9525">
            <a:solidFill>
              <a:srgbClr val="1C28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8221827" y="2103120"/>
            <a:ext cx="3429000" cy="22860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331555" y="2176272"/>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8468715" y="2176272"/>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8605875" y="2176272"/>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770467" y="2103120"/>
            <a:ext cx="2788920" cy="228600"/>
          </a:xfrm>
          <a:prstGeom prst="rect">
            <a:avLst/>
          </a:prstGeom>
          <a:noFill/>
        </p:spPr>
        <p:txBody>
          <a:bodyPr wrap="square" lIns="0" rIns="0" tIns="0" bIns="0" anchor="ctr">
            <a:spAutoFit/>
          </a:bodyPr>
          <a:lstStyle/>
          <a:p>
            <a:pPr algn="l"/>
            <a:r>
              <a:rPr sz="800" b="0" i="0">
                <a:solidFill>
                  <a:srgbClr val="64748B"/>
                </a:solidFill>
                <a:latin typeface="Consolas"/>
              </a:rPr>
              <a:t>Severity &amp; Impact Analysis.png</a:t>
            </a:r>
          </a:p>
        </p:txBody>
      </p:sp>
      <p:pic>
        <p:nvPicPr>
          <p:cNvPr id="86" name="Picture 85" descr="Severity &amp; Impact Analysis.png"/>
          <p:cNvPicPr>
            <a:picLocks noChangeAspect="1"/>
          </p:cNvPicPr>
          <p:nvPr/>
        </p:nvPicPr>
        <p:blipFill>
          <a:blip r:embed="rId4"/>
          <a:stretch>
            <a:fillRect/>
          </a:stretch>
        </p:blipFill>
        <p:spPr>
          <a:xfrm>
            <a:off x="8267547" y="2377440"/>
            <a:ext cx="3337560" cy="1863798"/>
          </a:xfrm>
          <a:prstGeom prst="rect">
            <a:avLst/>
          </a:prstGeom>
        </p:spPr>
      </p:pic>
      <p:sp>
        <p:nvSpPr>
          <p:cNvPr id="87" name="TextBox 86"/>
          <p:cNvSpPr txBox="1"/>
          <p:nvPr/>
        </p:nvSpPr>
        <p:spPr>
          <a:xfrm>
            <a:off x="8313267" y="5029200"/>
            <a:ext cx="3246120" cy="914400"/>
          </a:xfrm>
          <a:prstGeom prst="rect">
            <a:avLst/>
          </a:prstGeom>
          <a:noFill/>
        </p:spPr>
        <p:txBody>
          <a:bodyPr wrap="square" lIns="0" rIns="0" tIns="0" bIns="0" anchor="t">
            <a:spAutoFit/>
          </a:bodyPr>
          <a:lstStyle/>
          <a:p>
            <a:pPr algn="l">
              <a:lnSpc>
                <a:spcPct val="135000"/>
              </a:lnSpc>
            </a:pPr>
            <a:r>
              <a:rPr sz="1100" b="0" i="0">
                <a:solidFill>
                  <a:srgbClr val="94A3B8"/>
                </a:solidFill>
                <a:latin typeface="Calibri"/>
              </a:rPr>
              <a:t>Distribution CVSS, score moyen/max</a:t>
            </a:r>
          </a:p>
          <a:p>
            <a:pPr algn="l">
              <a:lnSpc>
                <a:spcPct val="135000"/>
              </a:lnSpc>
            </a:pPr>
            <a:r>
              <a:rPr sz="1100" b="0" i="0">
                <a:solidFill>
                  <a:srgbClr val="94A3B8"/>
                </a:solidFill>
                <a:latin typeface="Calibri"/>
              </a:rPr>
              <a:t>relation impact ↔ exploitabilité</a:t>
            </a:r>
          </a:p>
        </p:txBody>
      </p:sp>
      <p:sp>
        <p:nvSpPr>
          <p:cNvPr id="88" name="TextBox 87"/>
          <p:cNvSpPr txBox="1"/>
          <p:nvPr/>
        </p:nvSpPr>
        <p:spPr>
          <a:xfrm>
            <a:off x="640080" y="6172200"/>
            <a:ext cx="10972800" cy="274320"/>
          </a:xfrm>
          <a:prstGeom prst="rect">
            <a:avLst/>
          </a:prstGeom>
          <a:noFill/>
        </p:spPr>
        <p:txBody>
          <a:bodyPr wrap="square" lIns="0" rIns="0" tIns="0" bIns="0" anchor="t">
            <a:spAutoFit/>
          </a:bodyPr>
          <a:lstStyle/>
          <a:p>
            <a:pPr algn="ctr"/>
            <a:r>
              <a:rPr sz="1100" b="0" i="1">
                <a:solidFill>
                  <a:srgbClr val="94A3B8"/>
                </a:solidFill>
                <a:latin typeface="Calibri"/>
              </a:rPr>
              <a:t>Chaque page répond à un objectif analytique distinct — stratégique, temporel, opérationnel.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DATA BREACH &amp; THREAT INTELLIGENCE PLATFORM  /  EXECUTIVE BRIEFING</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Traitement, normalisation &amp; detection policy</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8B5CF6"/>
                </a:solidFill>
                <a:latin typeface="Calibri"/>
              </a:rPr>
              <a:t>IMANE</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16 / 19</a:t>
            </a:r>
          </a:p>
        </p:txBody>
      </p:sp>
      <p:sp>
        <p:nvSpPr>
          <p:cNvPr id="55" name="TextBox 54"/>
          <p:cNvSpPr txBox="1"/>
          <p:nvPr/>
        </p:nvSpPr>
        <p:spPr>
          <a:xfrm>
            <a:off x="640080" y="1371600"/>
            <a:ext cx="10972800" cy="365760"/>
          </a:xfrm>
          <a:prstGeom prst="rect">
            <a:avLst/>
          </a:prstGeom>
          <a:noFill/>
        </p:spPr>
        <p:txBody>
          <a:bodyPr wrap="square" lIns="0" rIns="0" tIns="0" bIns="0" anchor="t">
            <a:spAutoFit/>
          </a:bodyPr>
          <a:lstStyle/>
          <a:p>
            <a:pPr algn="l"/>
            <a:r>
              <a:rPr sz="1000" b="1" i="0">
                <a:solidFill>
                  <a:srgbClr val="8B5CF6"/>
                </a:solidFill>
                <a:latin typeface="Calibri"/>
              </a:rPr>
              <a:t>CHAÎNE DE TRAITEMENT COMMUNE</a:t>
            </a:r>
          </a:p>
        </p:txBody>
      </p:sp>
      <p:sp>
        <p:nvSpPr>
          <p:cNvPr id="56" name="Rounded Rectangle 55"/>
          <p:cNvSpPr/>
          <p:nvPr/>
        </p:nvSpPr>
        <p:spPr>
          <a:xfrm>
            <a:off x="792327" y="1828800"/>
            <a:ext cx="1691640" cy="685800"/>
          </a:xfrm>
          <a:prstGeom prst="roundRect">
            <a:avLst>
              <a:gd name="adj" fmla="val 8000"/>
            </a:avLst>
          </a:prstGeom>
          <a:solidFill>
            <a:srgbClr val="0C121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92327" y="1828800"/>
            <a:ext cx="1691640" cy="685800"/>
          </a:xfrm>
          <a:prstGeom prst="rect">
            <a:avLst/>
          </a:prstGeom>
          <a:noFill/>
        </p:spPr>
        <p:txBody>
          <a:bodyPr wrap="square" lIns="0" rIns="0" tIns="0" bIns="0" anchor="ctr">
            <a:spAutoFit/>
          </a:bodyPr>
          <a:lstStyle/>
          <a:p>
            <a:pPr algn="ctr"/>
            <a:r>
              <a:rPr sz="1200" b="1" i="0">
                <a:solidFill>
                  <a:srgbClr val="3B82F6"/>
                </a:solidFill>
                <a:latin typeface="Calibri"/>
              </a:rPr>
              <a:t>Collecte</a:t>
            </a:r>
          </a:p>
        </p:txBody>
      </p:sp>
      <p:cxnSp>
        <p:nvCxnSpPr>
          <p:cNvPr id="58" name="Connector 57"/>
          <p:cNvCxnSpPr/>
          <p:nvPr/>
        </p:nvCxnSpPr>
        <p:spPr>
          <a:xfrm>
            <a:off x="2488539.5" y="2171700.0"/>
            <a:ext cx="82296.0" cy="0.0"/>
          </a:xfrm>
          <a:prstGeom prst="line">
            <a:avLst/>
          </a:prstGeom>
          <a:ln w="19050">
            <a:solidFill>
              <a:srgbClr val="3B82F6"/>
            </a:solidFill>
            <a:tailEnd type="triangle" w="sm" len="sm"/>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2575407" y="1828800"/>
            <a:ext cx="1691640" cy="685800"/>
          </a:xfrm>
          <a:prstGeom prst="roundRect">
            <a:avLst>
              <a:gd name="adj" fmla="val 8000"/>
            </a:avLst>
          </a:prstGeom>
          <a:solidFill>
            <a:srgbClr val="0C121F"/>
          </a:solidFill>
          <a:ln w="1905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575407" y="1828800"/>
            <a:ext cx="1691640" cy="685800"/>
          </a:xfrm>
          <a:prstGeom prst="rect">
            <a:avLst/>
          </a:prstGeom>
          <a:noFill/>
        </p:spPr>
        <p:txBody>
          <a:bodyPr wrap="square" lIns="0" rIns="0" tIns="0" bIns="0" anchor="ctr">
            <a:spAutoFit/>
          </a:bodyPr>
          <a:lstStyle/>
          <a:p>
            <a:pPr algn="ctr"/>
            <a:r>
              <a:rPr sz="1200" b="1" i="0">
                <a:solidFill>
                  <a:srgbClr val="14B8A6"/>
                </a:solidFill>
                <a:latin typeface="Calibri"/>
              </a:rPr>
              <a:t>Normalisation</a:t>
            </a:r>
          </a:p>
        </p:txBody>
      </p:sp>
      <p:cxnSp>
        <p:nvCxnSpPr>
          <p:cNvPr id="61" name="Connector 60"/>
          <p:cNvCxnSpPr/>
          <p:nvPr/>
        </p:nvCxnSpPr>
        <p:spPr>
          <a:xfrm>
            <a:off x="4271619.5" y="2171700.0"/>
            <a:ext cx="82296.0" cy="0.0"/>
          </a:xfrm>
          <a:prstGeom prst="line">
            <a:avLst/>
          </a:prstGeom>
          <a:ln w="19050">
            <a:solidFill>
              <a:srgbClr val="14B8A6"/>
            </a:solidFill>
            <a:tailEnd type="triangle" w="sm" len="sm"/>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4358487" y="1828800"/>
            <a:ext cx="1691640" cy="685800"/>
          </a:xfrm>
          <a:prstGeom prst="roundRect">
            <a:avLst>
              <a:gd name="adj" fmla="val 8000"/>
            </a:avLst>
          </a:prstGeom>
          <a:solidFill>
            <a:srgbClr val="0C121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358487" y="1828800"/>
            <a:ext cx="1691640" cy="685800"/>
          </a:xfrm>
          <a:prstGeom prst="rect">
            <a:avLst/>
          </a:prstGeom>
          <a:noFill/>
        </p:spPr>
        <p:txBody>
          <a:bodyPr wrap="square" lIns="0" rIns="0" tIns="0" bIns="0" anchor="ctr">
            <a:spAutoFit/>
          </a:bodyPr>
          <a:lstStyle/>
          <a:p>
            <a:pPr algn="ctr"/>
            <a:r>
              <a:rPr sz="1200" b="1" i="0">
                <a:solidFill>
                  <a:srgbClr val="F59E0B"/>
                </a:solidFill>
                <a:latin typeface="Calibri"/>
              </a:rPr>
              <a:t>Analyse</a:t>
            </a:r>
          </a:p>
        </p:txBody>
      </p:sp>
      <p:cxnSp>
        <p:nvCxnSpPr>
          <p:cNvPr id="64" name="Connector 63"/>
          <p:cNvCxnSpPr/>
          <p:nvPr/>
        </p:nvCxnSpPr>
        <p:spPr>
          <a:xfrm>
            <a:off x="6054699.5" y="2171700.0"/>
            <a:ext cx="82296.0" cy="0.0"/>
          </a:xfrm>
          <a:prstGeom prst="line">
            <a:avLst/>
          </a:prstGeom>
          <a:ln w="19050">
            <a:solidFill>
              <a:srgbClr val="F59E0B"/>
            </a:solidFill>
            <a:tailEnd type="triangle" w="sm" len="sm"/>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6141567" y="1828800"/>
            <a:ext cx="1691640" cy="685800"/>
          </a:xfrm>
          <a:prstGeom prst="roundRect">
            <a:avLst>
              <a:gd name="adj" fmla="val 8000"/>
            </a:avLst>
          </a:prstGeom>
          <a:solidFill>
            <a:srgbClr val="0C121F"/>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41567" y="1828800"/>
            <a:ext cx="1691640" cy="685800"/>
          </a:xfrm>
          <a:prstGeom prst="rect">
            <a:avLst/>
          </a:prstGeom>
          <a:noFill/>
        </p:spPr>
        <p:txBody>
          <a:bodyPr wrap="square" lIns="0" rIns="0" tIns="0" bIns="0" anchor="ctr">
            <a:spAutoFit/>
          </a:bodyPr>
          <a:lstStyle/>
          <a:p>
            <a:pPr algn="ctr"/>
            <a:r>
              <a:rPr sz="1200" b="1" i="0">
                <a:solidFill>
                  <a:srgbClr val="8B5CF6"/>
                </a:solidFill>
                <a:latin typeface="Calibri"/>
              </a:rPr>
              <a:t>Filtrage</a:t>
            </a:r>
          </a:p>
        </p:txBody>
      </p:sp>
      <p:cxnSp>
        <p:nvCxnSpPr>
          <p:cNvPr id="67" name="Connector 66"/>
          <p:cNvCxnSpPr/>
          <p:nvPr/>
        </p:nvCxnSpPr>
        <p:spPr>
          <a:xfrm>
            <a:off x="7837779.5" y="2171700.0"/>
            <a:ext cx="82296.0" cy="0.0"/>
          </a:xfrm>
          <a:prstGeom prst="line">
            <a:avLst/>
          </a:prstGeom>
          <a:ln w="19050">
            <a:solidFill>
              <a:srgbClr val="8B5CF6"/>
            </a:solidFill>
            <a:tailEnd type="triangle" w="sm" len="sm"/>
          </a:ln>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7924647" y="1828800"/>
            <a:ext cx="1691640" cy="685800"/>
          </a:xfrm>
          <a:prstGeom prst="roundRect">
            <a:avLst>
              <a:gd name="adj" fmla="val 8000"/>
            </a:avLst>
          </a:prstGeom>
          <a:solidFill>
            <a:srgbClr val="0C121F"/>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924647" y="1828800"/>
            <a:ext cx="1691640" cy="685800"/>
          </a:xfrm>
          <a:prstGeom prst="rect">
            <a:avLst/>
          </a:prstGeom>
          <a:noFill/>
        </p:spPr>
        <p:txBody>
          <a:bodyPr wrap="square" lIns="0" rIns="0" tIns="0" bIns="0" anchor="ctr">
            <a:spAutoFit/>
          </a:bodyPr>
          <a:lstStyle/>
          <a:p>
            <a:pPr algn="ctr"/>
            <a:r>
              <a:rPr sz="1200" b="1" i="0">
                <a:solidFill>
                  <a:srgbClr val="EF4444"/>
                </a:solidFill>
                <a:latin typeface="Calibri"/>
              </a:rPr>
              <a:t>Redaction</a:t>
            </a:r>
          </a:p>
        </p:txBody>
      </p:sp>
      <p:cxnSp>
        <p:nvCxnSpPr>
          <p:cNvPr id="70" name="Connector 69"/>
          <p:cNvCxnSpPr/>
          <p:nvPr/>
        </p:nvCxnSpPr>
        <p:spPr>
          <a:xfrm>
            <a:off x="9620859.5" y="2171700.0"/>
            <a:ext cx="82296.0" cy="0.0"/>
          </a:xfrm>
          <a:prstGeom prst="line">
            <a:avLst/>
          </a:prstGeom>
          <a:ln w="19050">
            <a:solidFill>
              <a:srgbClr val="EF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71" name="Rounded Rectangle 70"/>
          <p:cNvSpPr/>
          <p:nvPr/>
        </p:nvSpPr>
        <p:spPr>
          <a:xfrm>
            <a:off x="9707727" y="1828800"/>
            <a:ext cx="1691640" cy="685800"/>
          </a:xfrm>
          <a:prstGeom prst="roundRect">
            <a:avLst>
              <a:gd name="adj" fmla="val 8000"/>
            </a:avLst>
          </a:prstGeom>
          <a:solidFill>
            <a:srgbClr val="0C121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707727" y="1828800"/>
            <a:ext cx="1691640" cy="685800"/>
          </a:xfrm>
          <a:prstGeom prst="rect">
            <a:avLst/>
          </a:prstGeom>
          <a:noFill/>
        </p:spPr>
        <p:txBody>
          <a:bodyPr wrap="square" lIns="0" rIns="0" tIns="0" bIns="0" anchor="ctr">
            <a:spAutoFit/>
          </a:bodyPr>
          <a:lstStyle/>
          <a:p>
            <a:pPr algn="ctr"/>
            <a:r>
              <a:rPr sz="1200" b="1" i="0">
                <a:solidFill>
                  <a:srgbClr val="10B981"/>
                </a:solidFill>
                <a:latin typeface="Calibri"/>
              </a:rPr>
              <a:t>Stockage</a:t>
            </a:r>
          </a:p>
        </p:txBody>
      </p:sp>
      <p:sp>
        <p:nvSpPr>
          <p:cNvPr id="73" name="TextBox 72"/>
          <p:cNvSpPr txBox="1"/>
          <p:nvPr/>
        </p:nvSpPr>
        <p:spPr>
          <a:xfrm>
            <a:off x="502920" y="2834640"/>
            <a:ext cx="5852160" cy="365760"/>
          </a:xfrm>
          <a:prstGeom prst="rect">
            <a:avLst/>
          </a:prstGeom>
          <a:noFill/>
        </p:spPr>
        <p:txBody>
          <a:bodyPr wrap="square" lIns="0" rIns="0" tIns="0" bIns="0" anchor="t">
            <a:spAutoFit/>
          </a:bodyPr>
          <a:lstStyle/>
          <a:p>
            <a:pPr algn="l"/>
            <a:r>
              <a:rPr sz="900" b="1" i="0">
                <a:solidFill>
                  <a:srgbClr val="8B5CF6"/>
                </a:solidFill>
                <a:latin typeface="Calibri"/>
              </a:rPr>
              <a:t>TRAÇABILITÉ DES COLLECTION RUNS</a:t>
            </a:r>
          </a:p>
        </p:txBody>
      </p:sp>
      <p:sp>
        <p:nvSpPr>
          <p:cNvPr id="74" name="Rounded Rectangle 73"/>
          <p:cNvSpPr/>
          <p:nvPr/>
        </p:nvSpPr>
        <p:spPr>
          <a:xfrm>
            <a:off x="457200" y="3200400"/>
            <a:ext cx="5943600" cy="228600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457200" y="3200400"/>
            <a:ext cx="5943600" cy="22860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566928" y="3273552"/>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704088" y="3273552"/>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841248" y="3273552"/>
            <a:ext cx="73152" cy="731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05840" y="3200400"/>
            <a:ext cx="5303520" cy="228600"/>
          </a:xfrm>
          <a:prstGeom prst="rect">
            <a:avLst/>
          </a:prstGeom>
          <a:noFill/>
        </p:spPr>
        <p:txBody>
          <a:bodyPr wrap="square" lIns="0" rIns="0" tIns="0" bIns="0" anchor="ctr">
            <a:spAutoFit/>
          </a:bodyPr>
          <a:lstStyle/>
          <a:p>
            <a:pPr algn="l"/>
            <a:r>
              <a:rPr sz="800" b="0" i="0">
                <a:solidFill>
                  <a:srgbClr val="64748B"/>
                </a:solidFill>
                <a:latin typeface="Consolas"/>
              </a:rPr>
              <a:t>dbm.soc.local/runs</a:t>
            </a:r>
          </a:p>
        </p:txBody>
      </p:sp>
      <p:pic>
        <p:nvPicPr>
          <p:cNvPr id="80" name="Picture 79" descr="collection.png"/>
          <p:cNvPicPr>
            <a:picLocks noChangeAspect="1"/>
          </p:cNvPicPr>
          <p:nvPr/>
        </p:nvPicPr>
        <p:blipFill>
          <a:blip r:embed="rId2"/>
          <a:stretch>
            <a:fillRect/>
          </a:stretch>
        </p:blipFill>
        <p:spPr>
          <a:xfrm>
            <a:off x="502920" y="3474720"/>
            <a:ext cx="5852160" cy="3287833"/>
          </a:xfrm>
          <a:prstGeom prst="rect">
            <a:avLst/>
          </a:prstGeom>
        </p:spPr>
      </p:pic>
      <p:sp>
        <p:nvSpPr>
          <p:cNvPr id="81" name="Rounded Rectangle 80"/>
          <p:cNvSpPr/>
          <p:nvPr/>
        </p:nvSpPr>
        <p:spPr>
          <a:xfrm>
            <a:off x="502920" y="5623560"/>
            <a:ext cx="5852160" cy="640080"/>
          </a:xfrm>
          <a:prstGeom prst="roundRect">
            <a:avLst>
              <a:gd name="adj" fmla="val 8000"/>
            </a:avLst>
          </a:prstGeom>
          <a:solidFill>
            <a:srgbClr val="131B2E"/>
          </a:solidFill>
          <a:ln w="1524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77240" y="5669280"/>
            <a:ext cx="2286000" cy="548640"/>
          </a:xfrm>
          <a:prstGeom prst="rect">
            <a:avLst/>
          </a:prstGeom>
          <a:noFill/>
        </p:spPr>
        <p:txBody>
          <a:bodyPr wrap="square" lIns="0" rIns="0" tIns="0" bIns="0" anchor="ctr">
            <a:spAutoFit/>
          </a:bodyPr>
          <a:lstStyle/>
          <a:p>
            <a:pPr algn="l"/>
            <a:r>
              <a:rPr sz="1000" b="1" i="0">
                <a:solidFill>
                  <a:srgbClr val="10B981"/>
                </a:solidFill>
                <a:latin typeface="Calibri"/>
              </a:rPr>
              <a:t>DÉDUPLICATION PAR HASH</a:t>
            </a:r>
          </a:p>
        </p:txBody>
      </p:sp>
      <p:sp>
        <p:nvSpPr>
          <p:cNvPr id="83" name="TextBox 82"/>
          <p:cNvSpPr txBox="1"/>
          <p:nvPr/>
        </p:nvSpPr>
        <p:spPr>
          <a:xfrm>
            <a:off x="3154680" y="5669280"/>
            <a:ext cx="3108960" cy="548640"/>
          </a:xfrm>
          <a:prstGeom prst="rect">
            <a:avLst/>
          </a:prstGeom>
          <a:noFill/>
        </p:spPr>
        <p:txBody>
          <a:bodyPr wrap="square" lIns="0" rIns="0" tIns="0" bIns="0" anchor="ctr">
            <a:spAutoFit/>
          </a:bodyPr>
          <a:lstStyle/>
          <a:p>
            <a:pPr algn="l"/>
            <a:r>
              <a:rPr sz="1000" b="0" i="0">
                <a:solidFill>
                  <a:srgbClr val="94A3B8"/>
                </a:solidFill>
                <a:latin typeface="Calibri"/>
              </a:rPr>
              <a:t>Doublons ignorés avant indexation — base propre.</a:t>
            </a:r>
          </a:p>
        </p:txBody>
      </p:sp>
      <p:sp>
        <p:nvSpPr>
          <p:cNvPr id="84" name="TextBox 83"/>
          <p:cNvSpPr txBox="1"/>
          <p:nvPr/>
        </p:nvSpPr>
        <p:spPr>
          <a:xfrm>
            <a:off x="6537960" y="2834640"/>
            <a:ext cx="5303520" cy="365760"/>
          </a:xfrm>
          <a:prstGeom prst="rect">
            <a:avLst/>
          </a:prstGeom>
          <a:noFill/>
        </p:spPr>
        <p:txBody>
          <a:bodyPr wrap="square" lIns="0" rIns="0" tIns="0" bIns="0" anchor="t">
            <a:spAutoFit/>
          </a:bodyPr>
          <a:lstStyle/>
          <a:p>
            <a:pPr algn="l"/>
            <a:r>
              <a:rPr sz="900" b="1" i="0">
                <a:solidFill>
                  <a:srgbClr val="8B5CF6"/>
                </a:solidFill>
                <a:latin typeface="Calibri"/>
              </a:rPr>
              <a:t>DETECTION POLICY  —  GARDE-FOU CENTRAL</a:t>
            </a:r>
          </a:p>
        </p:txBody>
      </p:sp>
      <p:sp>
        <p:nvSpPr>
          <p:cNvPr id="85" name="Rounded Rectangle 84"/>
          <p:cNvSpPr/>
          <p:nvPr/>
        </p:nvSpPr>
        <p:spPr>
          <a:xfrm>
            <a:off x="6537960" y="3200400"/>
            <a:ext cx="5303520" cy="3063240"/>
          </a:xfrm>
          <a:prstGeom prst="roundRect">
            <a:avLst>
              <a:gd name="adj" fmla="val 8000"/>
            </a:avLst>
          </a:prstGeom>
          <a:solidFill>
            <a:srgbClr val="0C121F"/>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6812280" y="3493008"/>
            <a:ext cx="109728" cy="109728"/>
          </a:xfrm>
          <a:prstGeom prst="roundRect">
            <a:avLst>
              <a:gd name="adj" fmla="val 3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040880" y="3383280"/>
            <a:ext cx="4617720" cy="365760"/>
          </a:xfrm>
          <a:prstGeom prst="rect">
            <a:avLst/>
          </a:prstGeom>
          <a:noFill/>
        </p:spPr>
        <p:txBody>
          <a:bodyPr wrap="square" lIns="0" rIns="0" tIns="0" bIns="0" anchor="ctr">
            <a:spAutoFit/>
          </a:bodyPr>
          <a:lstStyle/>
          <a:p>
            <a:pPr algn="l"/>
            <a:r>
              <a:rPr sz="1100" b="0" i="0">
                <a:solidFill>
                  <a:srgbClr val="F8FAFC"/>
                </a:solidFill>
                <a:latin typeface="Calibri"/>
              </a:rPr>
              <a:t>Vérifie le contenu réel du fichier</a:t>
            </a:r>
          </a:p>
        </p:txBody>
      </p:sp>
      <p:sp>
        <p:nvSpPr>
          <p:cNvPr id="88" name="Rounded Rectangle 87"/>
          <p:cNvSpPr/>
          <p:nvPr/>
        </p:nvSpPr>
        <p:spPr>
          <a:xfrm>
            <a:off x="6812280" y="3895344"/>
            <a:ext cx="109728" cy="109728"/>
          </a:xfrm>
          <a:prstGeom prst="roundRect">
            <a:avLst>
              <a:gd name="adj" fmla="val 3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040880" y="3785616"/>
            <a:ext cx="4617720" cy="365760"/>
          </a:xfrm>
          <a:prstGeom prst="rect">
            <a:avLst/>
          </a:prstGeom>
          <a:noFill/>
        </p:spPr>
        <p:txBody>
          <a:bodyPr wrap="square" lIns="0" rIns="0" tIns="0" bIns="0" anchor="ctr">
            <a:spAutoFit/>
          </a:bodyPr>
          <a:lstStyle/>
          <a:p>
            <a:pPr algn="l"/>
            <a:r>
              <a:rPr sz="1100" b="0" i="0">
                <a:solidFill>
                  <a:srgbClr val="F8FAFC"/>
                </a:solidFill>
                <a:latin typeface="Calibri"/>
              </a:rPr>
              <a:t>Identifie les secrets exploitables</a:t>
            </a:r>
          </a:p>
        </p:txBody>
      </p:sp>
      <p:sp>
        <p:nvSpPr>
          <p:cNvPr id="90" name="Rounded Rectangle 89"/>
          <p:cNvSpPr/>
          <p:nvPr/>
        </p:nvSpPr>
        <p:spPr>
          <a:xfrm>
            <a:off x="6812280" y="4297680"/>
            <a:ext cx="109728" cy="109728"/>
          </a:xfrm>
          <a:prstGeom prst="roundRect">
            <a:avLst>
              <a:gd name="adj" fmla="val 3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040880" y="4187952"/>
            <a:ext cx="4617720" cy="365760"/>
          </a:xfrm>
          <a:prstGeom prst="rect">
            <a:avLst/>
          </a:prstGeom>
          <a:noFill/>
        </p:spPr>
        <p:txBody>
          <a:bodyPr wrap="square" lIns="0" rIns="0" tIns="0" bIns="0" anchor="ctr">
            <a:spAutoFit/>
          </a:bodyPr>
          <a:lstStyle/>
          <a:p>
            <a:pPr algn="l"/>
            <a:r>
              <a:rPr sz="1100" b="0" i="0">
                <a:solidFill>
                  <a:srgbClr val="F8FAFC"/>
                </a:solidFill>
                <a:latin typeface="Calibri"/>
              </a:rPr>
              <a:t>Exclut les faux positifs fréquents</a:t>
            </a:r>
          </a:p>
        </p:txBody>
      </p:sp>
      <p:sp>
        <p:nvSpPr>
          <p:cNvPr id="92" name="Rounded Rectangle 91"/>
          <p:cNvSpPr/>
          <p:nvPr/>
        </p:nvSpPr>
        <p:spPr>
          <a:xfrm>
            <a:off x="6812280" y="4700016"/>
            <a:ext cx="109728" cy="109728"/>
          </a:xfrm>
          <a:prstGeom prst="roundRect">
            <a:avLst>
              <a:gd name="adj" fmla="val 3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040880" y="4590288"/>
            <a:ext cx="4617720" cy="365760"/>
          </a:xfrm>
          <a:prstGeom prst="rect">
            <a:avLst/>
          </a:prstGeom>
          <a:noFill/>
        </p:spPr>
        <p:txBody>
          <a:bodyPr wrap="square" lIns="0" rIns="0" tIns="0" bIns="0" anchor="ctr">
            <a:spAutoFit/>
          </a:bodyPr>
          <a:lstStyle/>
          <a:p>
            <a:pPr algn="l"/>
            <a:r>
              <a:rPr sz="1100" b="0" i="0">
                <a:solidFill>
                  <a:srgbClr val="F8FAFC"/>
                </a:solidFill>
                <a:latin typeface="Calibri"/>
              </a:rPr>
              <a:t>Réduit la confiance des chemins d'exemple</a:t>
            </a:r>
          </a:p>
        </p:txBody>
      </p:sp>
      <p:sp>
        <p:nvSpPr>
          <p:cNvPr id="94" name="Rounded Rectangle 93"/>
          <p:cNvSpPr/>
          <p:nvPr/>
        </p:nvSpPr>
        <p:spPr>
          <a:xfrm>
            <a:off x="6812280" y="5102352"/>
            <a:ext cx="109728" cy="109728"/>
          </a:xfrm>
          <a:prstGeom prst="roundRect">
            <a:avLst>
              <a:gd name="adj" fmla="val 3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040880" y="4992624"/>
            <a:ext cx="4617720" cy="365760"/>
          </a:xfrm>
          <a:prstGeom prst="rect">
            <a:avLst/>
          </a:prstGeom>
          <a:noFill/>
        </p:spPr>
        <p:txBody>
          <a:bodyPr wrap="square" lIns="0" rIns="0" tIns="0" bIns="0" anchor="ctr">
            <a:spAutoFit/>
          </a:bodyPr>
          <a:lstStyle/>
          <a:p>
            <a:pPr algn="l"/>
            <a:r>
              <a:rPr sz="1100" b="0" i="0">
                <a:solidFill>
                  <a:srgbClr val="F8FAFC"/>
                </a:solidFill>
                <a:latin typeface="Calibri"/>
              </a:rPr>
              <a:t>Calcule un score de risque</a:t>
            </a:r>
          </a:p>
        </p:txBody>
      </p:sp>
      <p:sp>
        <p:nvSpPr>
          <p:cNvPr id="96" name="Rounded Rectangle 95"/>
          <p:cNvSpPr/>
          <p:nvPr/>
        </p:nvSpPr>
        <p:spPr>
          <a:xfrm>
            <a:off x="6812280" y="5504688"/>
            <a:ext cx="109728" cy="109728"/>
          </a:xfrm>
          <a:prstGeom prst="roundRect">
            <a:avLst>
              <a:gd name="adj" fmla="val 3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7040880" y="5394960"/>
            <a:ext cx="4617720" cy="365760"/>
          </a:xfrm>
          <a:prstGeom prst="rect">
            <a:avLst/>
          </a:prstGeom>
          <a:noFill/>
        </p:spPr>
        <p:txBody>
          <a:bodyPr wrap="square" lIns="0" rIns="0" tIns="0" bIns="0" anchor="ctr">
            <a:spAutoFit/>
          </a:bodyPr>
          <a:lstStyle/>
          <a:p>
            <a:pPr algn="l"/>
            <a:r>
              <a:rPr sz="1100" b="0" i="0">
                <a:solidFill>
                  <a:srgbClr val="F8FAFC"/>
                </a:solidFill>
                <a:latin typeface="Calibri"/>
              </a:rPr>
              <a:t>Attribue une sévérité</a:t>
            </a:r>
          </a:p>
        </p:txBody>
      </p:sp>
      <p:sp>
        <p:nvSpPr>
          <p:cNvPr id="98" name="Rounded Rectangle 97"/>
          <p:cNvSpPr/>
          <p:nvPr/>
        </p:nvSpPr>
        <p:spPr>
          <a:xfrm>
            <a:off x="6812280" y="5907024"/>
            <a:ext cx="109728" cy="109728"/>
          </a:xfrm>
          <a:prstGeom prst="roundRect">
            <a:avLst>
              <a:gd name="adj" fmla="val 3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040880" y="5797296"/>
            <a:ext cx="4617720" cy="365760"/>
          </a:xfrm>
          <a:prstGeom prst="rect">
            <a:avLst/>
          </a:prstGeom>
          <a:noFill/>
        </p:spPr>
        <p:txBody>
          <a:bodyPr wrap="square" lIns="0" rIns="0" tIns="0" bIns="0" anchor="ctr">
            <a:spAutoFit/>
          </a:bodyPr>
          <a:lstStyle/>
          <a:p>
            <a:pPr algn="l"/>
            <a:r>
              <a:rPr sz="1100" b="0" i="0">
                <a:solidFill>
                  <a:srgbClr val="F8FAFC"/>
                </a:solidFill>
                <a:latin typeface="Calibri"/>
              </a:rPr>
              <a:t>Masque les valeurs sensibles avant stockage</a:t>
            </a:r>
          </a:p>
        </p:txBody>
      </p:sp>
      <p:sp>
        <p:nvSpPr>
          <p:cNvPr id="100" name="Rounded Rectangle 99"/>
          <p:cNvSpPr/>
          <p:nvPr/>
        </p:nvSpPr>
        <p:spPr>
          <a:xfrm>
            <a:off x="6583680" y="5669280"/>
            <a:ext cx="2560320" cy="50292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6583680" y="5669280"/>
            <a:ext cx="54864" cy="5029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766560" y="5669280"/>
            <a:ext cx="1371600" cy="502920"/>
          </a:xfrm>
          <a:prstGeom prst="rect">
            <a:avLst/>
          </a:prstGeom>
          <a:noFill/>
        </p:spPr>
        <p:txBody>
          <a:bodyPr wrap="square" lIns="0" rIns="0" tIns="0" bIns="0" anchor="ctr">
            <a:spAutoFit/>
          </a:bodyPr>
          <a:lstStyle/>
          <a:p>
            <a:pPr algn="l"/>
            <a:r>
              <a:rPr sz="1000" b="1" i="0">
                <a:solidFill>
                  <a:srgbClr val="3B82F6"/>
                </a:solidFill>
                <a:latin typeface="Calibri"/>
              </a:rPr>
              <a:t>Planifiée</a:t>
            </a:r>
          </a:p>
        </p:txBody>
      </p:sp>
      <p:sp>
        <p:nvSpPr>
          <p:cNvPr id="103" name="TextBox 102"/>
          <p:cNvSpPr txBox="1"/>
          <p:nvPr/>
        </p:nvSpPr>
        <p:spPr>
          <a:xfrm>
            <a:off x="7955280" y="5669280"/>
            <a:ext cx="1097280" cy="502920"/>
          </a:xfrm>
          <a:prstGeom prst="rect">
            <a:avLst/>
          </a:prstGeom>
          <a:noFill/>
        </p:spPr>
        <p:txBody>
          <a:bodyPr wrap="square" lIns="0" rIns="0" tIns="0" bIns="0" anchor="ctr">
            <a:spAutoFit/>
          </a:bodyPr>
          <a:lstStyle/>
          <a:p>
            <a:pPr algn="l"/>
            <a:r>
              <a:rPr sz="900" b="0" i="0">
                <a:solidFill>
                  <a:srgbClr val="94A3B8"/>
                </a:solidFill>
                <a:latin typeface="Calibri"/>
              </a:rPr>
              <a:t>Scheduler périodique</a:t>
            </a:r>
          </a:p>
        </p:txBody>
      </p:sp>
      <p:sp>
        <p:nvSpPr>
          <p:cNvPr id="104" name="Rounded Rectangle 103"/>
          <p:cNvSpPr/>
          <p:nvPr/>
        </p:nvSpPr>
        <p:spPr>
          <a:xfrm>
            <a:off x="9235440" y="5669280"/>
            <a:ext cx="2560320" cy="50292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235440" y="5669280"/>
            <a:ext cx="5486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418320" y="5669280"/>
            <a:ext cx="1371600" cy="502920"/>
          </a:xfrm>
          <a:prstGeom prst="rect">
            <a:avLst/>
          </a:prstGeom>
          <a:noFill/>
        </p:spPr>
        <p:txBody>
          <a:bodyPr wrap="square" lIns="0" rIns="0" tIns="0" bIns="0" anchor="ctr">
            <a:spAutoFit/>
          </a:bodyPr>
          <a:lstStyle/>
          <a:p>
            <a:pPr algn="l"/>
            <a:r>
              <a:rPr sz="1000" b="1" i="0">
                <a:solidFill>
                  <a:srgbClr val="14B8A6"/>
                </a:solidFill>
                <a:latin typeface="Calibri"/>
              </a:rPr>
              <a:t>À la demande</a:t>
            </a:r>
          </a:p>
        </p:txBody>
      </p:sp>
      <p:sp>
        <p:nvSpPr>
          <p:cNvPr id="107" name="TextBox 106"/>
          <p:cNvSpPr txBox="1"/>
          <p:nvPr/>
        </p:nvSpPr>
        <p:spPr>
          <a:xfrm>
            <a:off x="10607040" y="5669280"/>
            <a:ext cx="1097280" cy="502920"/>
          </a:xfrm>
          <a:prstGeom prst="rect">
            <a:avLst/>
          </a:prstGeom>
          <a:noFill/>
        </p:spPr>
        <p:txBody>
          <a:bodyPr wrap="square" lIns="0" rIns="0" tIns="0" bIns="0" anchor="ctr">
            <a:spAutoFit/>
          </a:bodyPr>
          <a:lstStyle/>
          <a:p>
            <a:pPr algn="l"/>
            <a:r>
              <a:rPr sz="900" b="0" i="0">
                <a:solidFill>
                  <a:srgbClr val="94A3B8"/>
                </a:solidFill>
                <a:latin typeface="Calibri"/>
              </a:rPr>
              <a:t>Déclenchée par l'analyste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DATA BREACH &amp; THREAT INTELLIGENCE PLATFORM  /  EXECUTIVE BRIEFING</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Classification des risques &amp; faux positifs</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8B5CF6"/>
                </a:solidFill>
                <a:latin typeface="Calibri"/>
              </a:rPr>
              <a:t>IMANE</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17 / 19</a:t>
            </a:r>
          </a:p>
        </p:txBody>
      </p:sp>
      <p:sp>
        <p:nvSpPr>
          <p:cNvPr id="55" name="TextBox 54"/>
          <p:cNvSpPr txBox="1"/>
          <p:nvPr/>
        </p:nvSpPr>
        <p:spPr>
          <a:xfrm>
            <a:off x="640080" y="1417320"/>
            <a:ext cx="10972800" cy="365760"/>
          </a:xfrm>
          <a:prstGeom prst="rect">
            <a:avLst/>
          </a:prstGeom>
          <a:noFill/>
        </p:spPr>
        <p:txBody>
          <a:bodyPr wrap="square" lIns="0" rIns="0" tIns="0" bIns="0" anchor="t">
            <a:spAutoFit/>
          </a:bodyPr>
          <a:lstStyle/>
          <a:p>
            <a:pPr algn="l"/>
            <a:r>
              <a:rPr sz="1000" b="1" i="0">
                <a:solidFill>
                  <a:srgbClr val="8B5CF6"/>
                </a:solidFill>
                <a:latin typeface="Calibri"/>
              </a:rPr>
              <a:t>5 AXES DE CLASSIFICATION</a:t>
            </a:r>
          </a:p>
        </p:txBody>
      </p:sp>
      <p:sp>
        <p:nvSpPr>
          <p:cNvPr id="56" name="Rounded Rectangle 55"/>
          <p:cNvSpPr/>
          <p:nvPr/>
        </p:nvSpPr>
        <p:spPr>
          <a:xfrm>
            <a:off x="380847" y="1828800"/>
            <a:ext cx="2212848" cy="2011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80847" y="1828800"/>
            <a:ext cx="2212848" cy="4572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0847" y="1901952"/>
            <a:ext cx="2212848" cy="365760"/>
          </a:xfrm>
          <a:prstGeom prst="rect">
            <a:avLst/>
          </a:prstGeom>
          <a:noFill/>
        </p:spPr>
        <p:txBody>
          <a:bodyPr wrap="square" lIns="0" rIns="0" tIns="0" bIns="0" anchor="ctr">
            <a:spAutoFit/>
          </a:bodyPr>
          <a:lstStyle/>
          <a:p>
            <a:pPr algn="ctr"/>
            <a:r>
              <a:rPr sz="1300" b="1" i="0">
                <a:solidFill>
                  <a:srgbClr val="F8FAFC"/>
                </a:solidFill>
                <a:latin typeface="Calibri"/>
              </a:rPr>
              <a:t>Source</a:t>
            </a:r>
          </a:p>
        </p:txBody>
      </p:sp>
      <p:sp>
        <p:nvSpPr>
          <p:cNvPr id="59" name="TextBox 58"/>
          <p:cNvSpPr txBox="1"/>
          <p:nvPr/>
        </p:nvSpPr>
        <p:spPr>
          <a:xfrm>
            <a:off x="563727" y="2423160"/>
            <a:ext cx="1847088" cy="1280160"/>
          </a:xfrm>
          <a:prstGeom prst="rect">
            <a:avLst/>
          </a:prstGeom>
          <a:noFill/>
        </p:spPr>
        <p:txBody>
          <a:bodyPr wrap="square" lIns="0" rIns="0" tIns="0" bIns="0" anchor="ctr">
            <a:spAutoFit/>
          </a:bodyPr>
          <a:lstStyle/>
          <a:p>
            <a:pPr algn="ctr"/>
            <a:r>
              <a:rPr sz="1000" b="0" i="0">
                <a:solidFill>
                  <a:srgbClr val="94A3B8"/>
                </a:solidFill>
                <a:latin typeface="Consolas"/>
              </a:rPr>
              <a:t>github · telegram · google_alerts</a:t>
            </a:r>
          </a:p>
        </p:txBody>
      </p:sp>
      <p:sp>
        <p:nvSpPr>
          <p:cNvPr id="60" name="Rounded Rectangle 59"/>
          <p:cNvSpPr/>
          <p:nvPr/>
        </p:nvSpPr>
        <p:spPr>
          <a:xfrm>
            <a:off x="2685135" y="1828800"/>
            <a:ext cx="2212848" cy="2011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685135" y="1828800"/>
            <a:ext cx="2212848" cy="4572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685135" y="1901952"/>
            <a:ext cx="2212848" cy="365760"/>
          </a:xfrm>
          <a:prstGeom prst="rect">
            <a:avLst/>
          </a:prstGeom>
          <a:noFill/>
        </p:spPr>
        <p:txBody>
          <a:bodyPr wrap="square" lIns="0" rIns="0" tIns="0" bIns="0" anchor="ctr">
            <a:spAutoFit/>
          </a:bodyPr>
          <a:lstStyle/>
          <a:p>
            <a:pPr algn="ctr"/>
            <a:r>
              <a:rPr sz="1300" b="1" i="0">
                <a:solidFill>
                  <a:srgbClr val="F8FAFC"/>
                </a:solidFill>
                <a:latin typeface="Calibri"/>
              </a:rPr>
              <a:t>Catégorie</a:t>
            </a:r>
          </a:p>
        </p:txBody>
      </p:sp>
      <p:sp>
        <p:nvSpPr>
          <p:cNvPr id="63" name="TextBox 62"/>
          <p:cNvSpPr txBox="1"/>
          <p:nvPr/>
        </p:nvSpPr>
        <p:spPr>
          <a:xfrm>
            <a:off x="2868015" y="2423160"/>
            <a:ext cx="1847088" cy="1280160"/>
          </a:xfrm>
          <a:prstGeom prst="rect">
            <a:avLst/>
          </a:prstGeom>
          <a:noFill/>
        </p:spPr>
        <p:txBody>
          <a:bodyPr wrap="square" lIns="0" rIns="0" tIns="0" bIns="0" anchor="ctr">
            <a:spAutoFit/>
          </a:bodyPr>
          <a:lstStyle/>
          <a:p>
            <a:pPr algn="ctr"/>
            <a:r>
              <a:rPr sz="1000" b="0" i="0">
                <a:solidFill>
                  <a:srgbClr val="94A3B8"/>
                </a:solidFill>
                <a:latin typeface="Consolas"/>
              </a:rPr>
              <a:t>env_files · db_credentials · api_keys ·</a:t>
            </a:r>
          </a:p>
          <a:p>
            <a:pPr algn="ctr"/>
            <a:r>
              <a:rPr sz="1000" b="0" i="0">
                <a:solidFill>
                  <a:srgbClr val="94A3B8"/>
                </a:solidFill>
                <a:latin typeface="Consolas"/>
              </a:rPr>
              <a:t>cloud_keys · jwt · private_keys</a:t>
            </a:r>
          </a:p>
        </p:txBody>
      </p:sp>
      <p:sp>
        <p:nvSpPr>
          <p:cNvPr id="64" name="Rounded Rectangle 63"/>
          <p:cNvSpPr/>
          <p:nvPr/>
        </p:nvSpPr>
        <p:spPr>
          <a:xfrm>
            <a:off x="4989423" y="1828800"/>
            <a:ext cx="2212848" cy="2011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989423" y="1828800"/>
            <a:ext cx="2212848"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989423" y="1901952"/>
            <a:ext cx="2212848" cy="365760"/>
          </a:xfrm>
          <a:prstGeom prst="rect">
            <a:avLst/>
          </a:prstGeom>
          <a:noFill/>
        </p:spPr>
        <p:txBody>
          <a:bodyPr wrap="square" lIns="0" rIns="0" tIns="0" bIns="0" anchor="ctr">
            <a:spAutoFit/>
          </a:bodyPr>
          <a:lstStyle/>
          <a:p>
            <a:pPr algn="ctr"/>
            <a:r>
              <a:rPr sz="1300" b="1" i="0">
                <a:solidFill>
                  <a:srgbClr val="F8FAFC"/>
                </a:solidFill>
                <a:latin typeface="Calibri"/>
              </a:rPr>
              <a:t>Sévérité</a:t>
            </a:r>
          </a:p>
        </p:txBody>
      </p:sp>
      <p:sp>
        <p:nvSpPr>
          <p:cNvPr id="67" name="TextBox 66"/>
          <p:cNvSpPr txBox="1"/>
          <p:nvPr/>
        </p:nvSpPr>
        <p:spPr>
          <a:xfrm>
            <a:off x="5172303" y="2423160"/>
            <a:ext cx="1847088" cy="1280160"/>
          </a:xfrm>
          <a:prstGeom prst="rect">
            <a:avLst/>
          </a:prstGeom>
          <a:noFill/>
        </p:spPr>
        <p:txBody>
          <a:bodyPr wrap="square" lIns="0" rIns="0" tIns="0" bIns="0" anchor="ctr">
            <a:spAutoFit/>
          </a:bodyPr>
          <a:lstStyle/>
          <a:p>
            <a:pPr algn="ctr"/>
            <a:r>
              <a:rPr sz="1000" b="0" i="0">
                <a:solidFill>
                  <a:srgbClr val="94A3B8"/>
                </a:solidFill>
                <a:latin typeface="Consolas"/>
              </a:rPr>
              <a:t>low · medium · high</a:t>
            </a:r>
          </a:p>
        </p:txBody>
      </p:sp>
      <p:sp>
        <p:nvSpPr>
          <p:cNvPr id="68" name="Rounded Rectangle 67"/>
          <p:cNvSpPr/>
          <p:nvPr/>
        </p:nvSpPr>
        <p:spPr>
          <a:xfrm>
            <a:off x="7293711" y="1828800"/>
            <a:ext cx="2212848" cy="2011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293711" y="1828800"/>
            <a:ext cx="2212848" cy="4572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293711" y="1901952"/>
            <a:ext cx="2212848" cy="365760"/>
          </a:xfrm>
          <a:prstGeom prst="rect">
            <a:avLst/>
          </a:prstGeom>
          <a:noFill/>
        </p:spPr>
        <p:txBody>
          <a:bodyPr wrap="square" lIns="0" rIns="0" tIns="0" bIns="0" anchor="ctr">
            <a:spAutoFit/>
          </a:bodyPr>
          <a:lstStyle/>
          <a:p>
            <a:pPr algn="ctr"/>
            <a:r>
              <a:rPr sz="1300" b="1" i="0">
                <a:solidFill>
                  <a:srgbClr val="F8FAFC"/>
                </a:solidFill>
                <a:latin typeface="Calibri"/>
              </a:rPr>
              <a:t>Confiance</a:t>
            </a:r>
          </a:p>
        </p:txBody>
      </p:sp>
      <p:sp>
        <p:nvSpPr>
          <p:cNvPr id="71" name="TextBox 70"/>
          <p:cNvSpPr txBox="1"/>
          <p:nvPr/>
        </p:nvSpPr>
        <p:spPr>
          <a:xfrm>
            <a:off x="7476591" y="2423160"/>
            <a:ext cx="1847088" cy="1280160"/>
          </a:xfrm>
          <a:prstGeom prst="rect">
            <a:avLst/>
          </a:prstGeom>
          <a:noFill/>
        </p:spPr>
        <p:txBody>
          <a:bodyPr wrap="square" lIns="0" rIns="0" tIns="0" bIns="0" anchor="ctr">
            <a:spAutoFit/>
          </a:bodyPr>
          <a:lstStyle/>
          <a:p>
            <a:pPr algn="ctr"/>
            <a:r>
              <a:rPr sz="1000" b="0" i="0">
                <a:solidFill>
                  <a:srgbClr val="94A3B8"/>
                </a:solidFill>
                <a:latin typeface="Consolas"/>
              </a:rPr>
              <a:t>low · medium · high</a:t>
            </a:r>
          </a:p>
        </p:txBody>
      </p:sp>
      <p:sp>
        <p:nvSpPr>
          <p:cNvPr id="72" name="Rounded Rectangle 71"/>
          <p:cNvSpPr/>
          <p:nvPr/>
        </p:nvSpPr>
        <p:spPr>
          <a:xfrm>
            <a:off x="9597999" y="1828800"/>
            <a:ext cx="2212848" cy="201168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597999" y="1828800"/>
            <a:ext cx="221284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597999" y="1901952"/>
            <a:ext cx="2212848" cy="365760"/>
          </a:xfrm>
          <a:prstGeom prst="rect">
            <a:avLst/>
          </a:prstGeom>
          <a:noFill/>
        </p:spPr>
        <p:txBody>
          <a:bodyPr wrap="square" lIns="0" rIns="0" tIns="0" bIns="0" anchor="ctr">
            <a:spAutoFit/>
          </a:bodyPr>
          <a:lstStyle/>
          <a:p>
            <a:pPr algn="ctr"/>
            <a:r>
              <a:rPr sz="1300" b="1" i="0">
                <a:solidFill>
                  <a:srgbClr val="F8FAFC"/>
                </a:solidFill>
                <a:latin typeface="Calibri"/>
              </a:rPr>
              <a:t>Statut</a:t>
            </a:r>
          </a:p>
        </p:txBody>
      </p:sp>
      <p:sp>
        <p:nvSpPr>
          <p:cNvPr id="75" name="TextBox 74"/>
          <p:cNvSpPr txBox="1"/>
          <p:nvPr/>
        </p:nvSpPr>
        <p:spPr>
          <a:xfrm>
            <a:off x="9780879" y="2423160"/>
            <a:ext cx="1847088" cy="1280160"/>
          </a:xfrm>
          <a:prstGeom prst="rect">
            <a:avLst/>
          </a:prstGeom>
          <a:noFill/>
        </p:spPr>
        <p:txBody>
          <a:bodyPr wrap="square" lIns="0" rIns="0" tIns="0" bIns="0" anchor="ctr">
            <a:spAutoFit/>
          </a:bodyPr>
          <a:lstStyle/>
          <a:p>
            <a:pPr algn="ctr"/>
            <a:r>
              <a:rPr sz="1000" b="0" i="0">
                <a:solidFill>
                  <a:srgbClr val="94A3B8"/>
                </a:solidFill>
                <a:latin typeface="Consolas"/>
              </a:rPr>
              <a:t>new · reviewed · confirmed ·</a:t>
            </a:r>
          </a:p>
          <a:p>
            <a:pPr algn="ctr"/>
            <a:r>
              <a:rPr sz="1000" b="0" i="0">
                <a:solidFill>
                  <a:srgbClr val="94A3B8"/>
                </a:solidFill>
                <a:latin typeface="Consolas"/>
              </a:rPr>
              <a:t>false_positive · escalated</a:t>
            </a:r>
          </a:p>
        </p:txBody>
      </p:sp>
      <p:sp>
        <p:nvSpPr>
          <p:cNvPr id="76" name="Rounded Rectangle 75"/>
          <p:cNvSpPr/>
          <p:nvPr/>
        </p:nvSpPr>
        <p:spPr>
          <a:xfrm>
            <a:off x="640080" y="4114800"/>
            <a:ext cx="11064240" cy="2194560"/>
          </a:xfrm>
          <a:prstGeom prst="roundRect">
            <a:avLst>
              <a:gd name="adj" fmla="val 8000"/>
            </a:avLst>
          </a:prstGeom>
          <a:solidFill>
            <a:srgbClr val="0C121F"/>
          </a:solidFill>
          <a:ln w="9525">
            <a:solidFill>
              <a:srgbClr val="27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Isosceles Triangle 76"/>
          <p:cNvSpPr/>
          <p:nvPr/>
        </p:nvSpPr>
        <p:spPr>
          <a:xfrm>
            <a:off x="914400" y="4297680"/>
            <a:ext cx="201168" cy="201168"/>
          </a:xfrm>
          <a:prstGeom prst="triangl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188720" y="4251960"/>
            <a:ext cx="10515600" cy="365760"/>
          </a:xfrm>
          <a:prstGeom prst="rect">
            <a:avLst/>
          </a:prstGeom>
          <a:noFill/>
        </p:spPr>
        <p:txBody>
          <a:bodyPr wrap="square" lIns="0" rIns="0" tIns="0" bIns="0" anchor="t">
            <a:spAutoFit/>
          </a:bodyPr>
          <a:lstStyle/>
          <a:p>
            <a:pPr algn="l"/>
            <a:r>
              <a:rPr sz="1200" b="1" i="0">
                <a:solidFill>
                  <a:srgbClr val="F59E0B"/>
                </a:solidFill>
                <a:latin typeface="Calibri"/>
              </a:rPr>
              <a:t>GESTION DES FAUX POSITIFS</a:t>
            </a:r>
          </a:p>
        </p:txBody>
      </p:sp>
      <p:sp>
        <p:nvSpPr>
          <p:cNvPr id="79" name="TextBox 78"/>
          <p:cNvSpPr txBox="1"/>
          <p:nvPr/>
        </p:nvSpPr>
        <p:spPr>
          <a:xfrm>
            <a:off x="914400" y="4617720"/>
            <a:ext cx="10515600" cy="548640"/>
          </a:xfrm>
          <a:prstGeom prst="rect">
            <a:avLst/>
          </a:prstGeom>
          <a:noFill/>
        </p:spPr>
        <p:txBody>
          <a:bodyPr wrap="square" lIns="0" rIns="0" tIns="0" bIns="0" anchor="t">
            <a:spAutoFit/>
          </a:bodyPr>
          <a:lstStyle/>
          <a:p>
            <a:pPr algn="l">
              <a:lnSpc>
                <a:spcPct val="130000"/>
              </a:lnSpc>
            </a:pPr>
            <a:r>
              <a:rPr sz="1200" b="0" i="0">
                <a:solidFill>
                  <a:srgbClr val="94A3B8"/>
                </a:solidFill>
                <a:latin typeface="Calibri"/>
              </a:rPr>
              <a:t>La détection initiale identifie un candidat. La detection policy distingue un vrai secret exploitable d'un contenu de test.</a:t>
            </a:r>
          </a:p>
        </p:txBody>
      </p:sp>
      <p:sp>
        <p:nvSpPr>
          <p:cNvPr id="80" name="Rounded Rectangle 79"/>
          <p:cNvSpPr/>
          <p:nvPr/>
        </p:nvSpPr>
        <p:spPr>
          <a:xfrm>
            <a:off x="914400" y="5486400"/>
            <a:ext cx="1865376" cy="36576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EF4444"/>
                </a:solidFill>
                <a:latin typeface="Calibri"/>
              </a:rPr>
              <a:t>changeme</a:t>
            </a:r>
          </a:p>
        </p:txBody>
      </p:sp>
      <p:sp>
        <p:nvSpPr>
          <p:cNvPr id="81" name="Rounded Rectangle 80"/>
          <p:cNvSpPr/>
          <p:nvPr/>
        </p:nvSpPr>
        <p:spPr>
          <a:xfrm>
            <a:off x="2916936" y="5486400"/>
            <a:ext cx="1865376" cy="36576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EF4444"/>
                </a:solidFill>
                <a:latin typeface="Calibri"/>
              </a:rPr>
              <a:t>your_key</a:t>
            </a:r>
          </a:p>
        </p:txBody>
      </p:sp>
      <p:sp>
        <p:nvSpPr>
          <p:cNvPr id="82" name="Rounded Rectangle 81"/>
          <p:cNvSpPr/>
          <p:nvPr/>
        </p:nvSpPr>
        <p:spPr>
          <a:xfrm>
            <a:off x="4919472" y="5486400"/>
            <a:ext cx="1700784" cy="36576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F59E0B"/>
                </a:solidFill>
                <a:latin typeface="Calibri"/>
              </a:rPr>
              <a:t>example</a:t>
            </a:r>
          </a:p>
        </p:txBody>
      </p:sp>
      <p:sp>
        <p:nvSpPr>
          <p:cNvPr id="83" name="Rounded Rectangle 82"/>
          <p:cNvSpPr/>
          <p:nvPr/>
        </p:nvSpPr>
        <p:spPr>
          <a:xfrm>
            <a:off x="6757416" y="5486400"/>
            <a:ext cx="2029967" cy="36576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F59E0B"/>
                </a:solidFill>
                <a:latin typeface="Calibri"/>
              </a:rPr>
              <a:t>xxx / yyy</a:t>
            </a:r>
          </a:p>
        </p:txBody>
      </p:sp>
      <p:sp>
        <p:nvSpPr>
          <p:cNvPr id="84" name="Rounded Rectangle 83"/>
          <p:cNvSpPr/>
          <p:nvPr/>
        </p:nvSpPr>
        <p:spPr>
          <a:xfrm>
            <a:off x="8924543" y="5486400"/>
            <a:ext cx="1536192" cy="36576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3B82F6"/>
                </a:solidFill>
                <a:latin typeface="Calibri"/>
              </a:rPr>
              <a:t>tests/</a:t>
            </a:r>
          </a:p>
        </p:txBody>
      </p:sp>
      <p:sp>
        <p:nvSpPr>
          <p:cNvPr id="85" name="Rounded Rectangle 84"/>
          <p:cNvSpPr/>
          <p:nvPr/>
        </p:nvSpPr>
        <p:spPr>
          <a:xfrm>
            <a:off x="10597895" y="5486400"/>
            <a:ext cx="1371600" cy="36576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3B82F6"/>
                </a:solidFill>
                <a:latin typeface="Calibri"/>
              </a:rPr>
              <a:t>docs/</a:t>
            </a:r>
          </a:p>
        </p:txBody>
      </p:sp>
      <p:sp>
        <p:nvSpPr>
          <p:cNvPr id="86" name="Rounded Rectangle 85"/>
          <p:cNvSpPr/>
          <p:nvPr/>
        </p:nvSpPr>
        <p:spPr>
          <a:xfrm>
            <a:off x="12106655" y="5486400"/>
            <a:ext cx="2523744" cy="36576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3B82F6"/>
                </a:solidFill>
                <a:latin typeface="Calibri"/>
              </a:rPr>
              <a:t>.env.example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
            <a:ext cx="12191695" cy="18288"/>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28600"/>
            <a:ext cx="8229600" cy="274320"/>
          </a:xfrm>
          <a:prstGeom prst="rect">
            <a:avLst/>
          </a:prstGeom>
          <a:noFill/>
        </p:spPr>
        <p:txBody>
          <a:bodyPr wrap="square" lIns="0" rIns="0" tIns="0" bIns="0" anchor="t">
            <a:spAutoFit/>
          </a:bodyPr>
          <a:lstStyle/>
          <a:p>
            <a:pPr algn="l"/>
            <a:r>
              <a:rPr sz="800" b="1" i="0">
                <a:solidFill>
                  <a:srgbClr val="64748B"/>
                </a:solidFill>
                <a:latin typeface="Consolas"/>
              </a:rPr>
              <a:t>DATA BREACH &amp; THREAT INTELLIGENCE PLATFORM  /  EXECUTIVE BRIEFING</a:t>
            </a:r>
          </a:p>
        </p:txBody>
      </p:sp>
      <p:sp>
        <p:nvSpPr>
          <p:cNvPr id="6" name="TextBox 5"/>
          <p:cNvSpPr txBox="1"/>
          <p:nvPr/>
        </p:nvSpPr>
        <p:spPr>
          <a:xfrm>
            <a:off x="621792" y="457200"/>
            <a:ext cx="10058400" cy="685800"/>
          </a:xfrm>
          <a:prstGeom prst="rect">
            <a:avLst/>
          </a:prstGeom>
          <a:noFill/>
        </p:spPr>
        <p:txBody>
          <a:bodyPr wrap="square" lIns="0" rIns="0" tIns="0" bIns="0" anchor="t">
            <a:spAutoFit/>
          </a:bodyPr>
          <a:lstStyle/>
          <a:p>
            <a:pPr algn="l"/>
            <a:r>
              <a:rPr sz="2800" b="1" i="0">
                <a:solidFill>
                  <a:srgbClr val="F8FAFC"/>
                </a:solidFill>
                <a:latin typeface="Calibri Light"/>
              </a:rPr>
              <a:t>Conclusion &amp; perspectives</a:t>
            </a:r>
          </a:p>
        </p:txBody>
      </p:sp>
      <p:sp>
        <p:nvSpPr>
          <p:cNvPr id="7" name="Oval 6"/>
          <p:cNvSpPr/>
          <p:nvPr/>
        </p:nvSpPr>
        <p:spPr>
          <a:xfrm>
            <a:off x="99056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56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56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56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85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885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885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714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43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543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543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372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200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200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0297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297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0297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297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18585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18585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18585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36873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36873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6873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873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55161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55161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55161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55161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34495" y="27432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34495" y="45720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734495" y="64008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734495" y="822960"/>
            <a:ext cx="27432" cy="27432"/>
          </a:xfrm>
          <a:prstGeom prst="ellipse">
            <a:avLst/>
          </a:prstGeom>
          <a:solidFill>
            <a:srgbClr val="1C2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6492240"/>
            <a:ext cx="10911535" cy="9144"/>
          </a:xfrm>
          <a:prstGeom prst="rect">
            <a:avLst/>
          </a:prstGeom>
          <a:solidFill>
            <a:srgbClr val="27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60"/>
            <a:ext cx="5486400" cy="256032"/>
          </a:xfrm>
          <a:prstGeom prst="rect">
            <a:avLst/>
          </a:prstGeom>
          <a:noFill/>
        </p:spPr>
        <p:txBody>
          <a:bodyPr wrap="square" lIns="0" rIns="0" tIns="0" bIns="0" anchor="ctr">
            <a:spAutoFit/>
          </a:bodyPr>
          <a:lstStyle/>
          <a:p>
            <a:pPr algn="l"/>
            <a:r>
              <a:rPr sz="800" b="0" i="0">
                <a:solidFill>
                  <a:srgbClr val="64748B"/>
                </a:solidFill>
                <a:latin typeface="Consolas"/>
              </a:rPr>
              <a:t>SOC / BI INTELLIGENCE MODULE</a:t>
            </a:r>
          </a:p>
        </p:txBody>
      </p:sp>
      <p:sp>
        <p:nvSpPr>
          <p:cNvPr id="53" name="Rounded Rectangle 52"/>
          <p:cNvSpPr/>
          <p:nvPr/>
        </p:nvSpPr>
        <p:spPr>
          <a:xfrm>
            <a:off x="9905695" y="6537960"/>
            <a:ext cx="914400" cy="18288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700" b="1">
                <a:solidFill>
                  <a:srgbClr val="8B5CF6"/>
                </a:solidFill>
                <a:latin typeface="Calibri"/>
              </a:rPr>
              <a:t>IMANE</a:t>
            </a:r>
          </a:p>
        </p:txBody>
      </p:sp>
      <p:sp>
        <p:nvSpPr>
          <p:cNvPr id="54" name="TextBox 53"/>
          <p:cNvSpPr txBox="1"/>
          <p:nvPr/>
        </p:nvSpPr>
        <p:spPr>
          <a:xfrm>
            <a:off x="11094415" y="6537960"/>
            <a:ext cx="457200" cy="256032"/>
          </a:xfrm>
          <a:prstGeom prst="rect">
            <a:avLst/>
          </a:prstGeom>
          <a:noFill/>
        </p:spPr>
        <p:txBody>
          <a:bodyPr wrap="square" lIns="0" rIns="0" tIns="0" bIns="0" anchor="ctr">
            <a:spAutoFit/>
          </a:bodyPr>
          <a:lstStyle/>
          <a:p>
            <a:pPr algn="r"/>
            <a:r>
              <a:rPr sz="900" b="1" i="0">
                <a:solidFill>
                  <a:srgbClr val="94A3B8"/>
                </a:solidFill>
                <a:latin typeface="Calibri"/>
              </a:rPr>
              <a:t>18 / 19</a:t>
            </a:r>
          </a:p>
        </p:txBody>
      </p:sp>
      <p:sp>
        <p:nvSpPr>
          <p:cNvPr id="55" name="Rounded Rectangle 54"/>
          <p:cNvSpPr/>
          <p:nvPr/>
        </p:nvSpPr>
        <p:spPr>
          <a:xfrm>
            <a:off x="426567" y="1645920"/>
            <a:ext cx="3657600" cy="3840480"/>
          </a:xfrm>
          <a:prstGeom prst="roundRect">
            <a:avLst>
              <a:gd name="adj" fmla="val 8000"/>
            </a:avLst>
          </a:prstGeom>
          <a:solidFill>
            <a:srgbClr val="0C121F"/>
          </a:solidFill>
          <a:ln w="9525">
            <a:solidFill>
              <a:srgbClr val="1C28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00887" y="1920240"/>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75207" y="1847088"/>
            <a:ext cx="2926080" cy="274320"/>
          </a:xfrm>
          <a:prstGeom prst="rect">
            <a:avLst/>
          </a:prstGeom>
          <a:noFill/>
        </p:spPr>
        <p:txBody>
          <a:bodyPr wrap="square" lIns="0" rIns="0" tIns="0" bIns="0" anchor="t">
            <a:spAutoFit/>
          </a:bodyPr>
          <a:lstStyle/>
          <a:p>
            <a:pPr algn="l"/>
            <a:r>
              <a:rPr sz="1000" b="1" i="0">
                <a:solidFill>
                  <a:srgbClr val="10B981"/>
                </a:solidFill>
                <a:latin typeface="Consolas"/>
              </a:rPr>
              <a:t>ACHIEVEMENTS</a:t>
            </a:r>
          </a:p>
        </p:txBody>
      </p:sp>
      <p:sp>
        <p:nvSpPr>
          <p:cNvPr id="58" name="TextBox 57"/>
          <p:cNvSpPr txBox="1"/>
          <p:nvPr/>
        </p:nvSpPr>
        <p:spPr>
          <a:xfrm>
            <a:off x="700887" y="2194560"/>
            <a:ext cx="3108960" cy="457200"/>
          </a:xfrm>
          <a:prstGeom prst="rect">
            <a:avLst/>
          </a:prstGeom>
          <a:noFill/>
        </p:spPr>
        <p:txBody>
          <a:bodyPr wrap="square" lIns="0" rIns="0" tIns="0" bIns="0" anchor="t">
            <a:spAutoFit/>
          </a:bodyPr>
          <a:lstStyle/>
          <a:p>
            <a:pPr algn="l"/>
            <a:r>
              <a:rPr sz="1800" b="1" i="0">
                <a:solidFill>
                  <a:srgbClr val="F8FAFC"/>
                </a:solidFill>
                <a:latin typeface="Calibri Light"/>
              </a:rPr>
              <a:t>Ce qu'on a réalisé</a:t>
            </a:r>
          </a:p>
        </p:txBody>
      </p:sp>
      <p:cxnSp>
        <p:nvCxnSpPr>
          <p:cNvPr id="59" name="Connector 58"/>
          <p:cNvCxnSpPr/>
          <p:nvPr/>
        </p:nvCxnSpPr>
        <p:spPr>
          <a:xfrm>
            <a:off x="700887.5" y="2743200"/>
            <a:ext cx="1097280.0" cy="0"/>
          </a:xfrm>
          <a:prstGeom prst="line">
            <a:avLst/>
          </a:prstGeom>
          <a:ln w="19050">
            <a:solidFill>
              <a:srgbClr val="273854"/>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746607" y="3090672"/>
            <a:ext cx="109728" cy="10972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75207" y="2926080"/>
            <a:ext cx="2926080" cy="731520"/>
          </a:xfrm>
          <a:prstGeom prst="rect">
            <a:avLst/>
          </a:prstGeom>
          <a:noFill/>
        </p:spPr>
        <p:txBody>
          <a:bodyPr wrap="square" lIns="0" rIns="0" tIns="0" bIns="0" anchor="t">
            <a:spAutoFit/>
          </a:bodyPr>
          <a:lstStyle/>
          <a:p>
            <a:pPr algn="l">
              <a:lnSpc>
                <a:spcPct val="130000"/>
              </a:lnSpc>
            </a:pPr>
            <a:r>
              <a:rPr sz="1100" b="0" i="0">
                <a:solidFill>
                  <a:srgbClr val="94A3B8"/>
                </a:solidFill>
                <a:latin typeface="Calibri"/>
              </a:rPr>
              <a:t>Plateforme multi-sources (GitHub, Telegram,</a:t>
            </a:r>
          </a:p>
          <a:p>
            <a:pPr algn="l">
              <a:lnSpc>
                <a:spcPct val="130000"/>
              </a:lnSpc>
            </a:pPr>
            <a:r>
              <a:rPr sz="1100" b="0" i="0">
                <a:solidFill>
                  <a:srgbClr val="94A3B8"/>
                </a:solidFill>
                <a:latin typeface="Calibri"/>
              </a:rPr>
              <a:t>Google Alerts, BI CVE)</a:t>
            </a:r>
          </a:p>
        </p:txBody>
      </p:sp>
      <p:sp>
        <p:nvSpPr>
          <p:cNvPr id="62" name="Rounded Rectangle 61"/>
          <p:cNvSpPr/>
          <p:nvPr/>
        </p:nvSpPr>
        <p:spPr>
          <a:xfrm>
            <a:off x="746607" y="3730752"/>
            <a:ext cx="109728" cy="10972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75207" y="3566160"/>
            <a:ext cx="2926080" cy="731520"/>
          </a:xfrm>
          <a:prstGeom prst="rect">
            <a:avLst/>
          </a:prstGeom>
          <a:noFill/>
        </p:spPr>
        <p:txBody>
          <a:bodyPr wrap="square" lIns="0" rIns="0" tIns="0" bIns="0" anchor="t">
            <a:spAutoFit/>
          </a:bodyPr>
          <a:lstStyle/>
          <a:p>
            <a:pPr algn="l">
              <a:lnSpc>
                <a:spcPct val="130000"/>
              </a:lnSpc>
            </a:pPr>
            <a:r>
              <a:rPr sz="1100" b="0" i="0">
                <a:solidFill>
                  <a:srgbClr val="94A3B8"/>
                </a:solidFill>
                <a:latin typeface="Calibri"/>
              </a:rPr>
              <a:t>Pipeline complet : collecte → restitution</a:t>
            </a:r>
          </a:p>
        </p:txBody>
      </p:sp>
      <p:sp>
        <p:nvSpPr>
          <p:cNvPr id="64" name="Rounded Rectangle 63"/>
          <p:cNvSpPr/>
          <p:nvPr/>
        </p:nvSpPr>
        <p:spPr>
          <a:xfrm>
            <a:off x="746607" y="4370832"/>
            <a:ext cx="109728" cy="10972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5207" y="4206240"/>
            <a:ext cx="2926080" cy="731520"/>
          </a:xfrm>
          <a:prstGeom prst="rect">
            <a:avLst/>
          </a:prstGeom>
          <a:noFill/>
        </p:spPr>
        <p:txBody>
          <a:bodyPr wrap="square" lIns="0" rIns="0" tIns="0" bIns="0" anchor="t">
            <a:spAutoFit/>
          </a:bodyPr>
          <a:lstStyle/>
          <a:p>
            <a:pPr algn="l">
              <a:lnSpc>
                <a:spcPct val="130000"/>
              </a:lnSpc>
            </a:pPr>
            <a:r>
              <a:rPr sz="1100" b="0" i="0">
                <a:solidFill>
                  <a:srgbClr val="94A3B8"/>
                </a:solidFill>
                <a:latin typeface="Calibri"/>
              </a:rPr>
              <a:t>Architecture médaillon pour la BI CVE</a:t>
            </a:r>
          </a:p>
        </p:txBody>
      </p:sp>
      <p:sp>
        <p:nvSpPr>
          <p:cNvPr id="66" name="Rounded Rectangle 65"/>
          <p:cNvSpPr/>
          <p:nvPr/>
        </p:nvSpPr>
        <p:spPr>
          <a:xfrm>
            <a:off x="746607" y="5010912"/>
            <a:ext cx="109728" cy="10972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75207" y="4846320"/>
            <a:ext cx="2926080" cy="731520"/>
          </a:xfrm>
          <a:prstGeom prst="rect">
            <a:avLst/>
          </a:prstGeom>
          <a:noFill/>
        </p:spPr>
        <p:txBody>
          <a:bodyPr wrap="square" lIns="0" rIns="0" tIns="0" bIns="0" anchor="t">
            <a:spAutoFit/>
          </a:bodyPr>
          <a:lstStyle/>
          <a:p>
            <a:pPr algn="l">
              <a:lnSpc>
                <a:spcPct val="130000"/>
              </a:lnSpc>
            </a:pPr>
            <a:r>
              <a:rPr sz="1100" b="0" i="0">
                <a:solidFill>
                  <a:srgbClr val="94A3B8"/>
                </a:solidFill>
                <a:latin typeface="Calibri"/>
              </a:rPr>
              <a:t>Dashboards Power BI interactifs</a:t>
            </a:r>
          </a:p>
        </p:txBody>
      </p:sp>
      <p:sp>
        <p:nvSpPr>
          <p:cNvPr id="68" name="Rounded Rectangle 67"/>
          <p:cNvSpPr/>
          <p:nvPr/>
        </p:nvSpPr>
        <p:spPr>
          <a:xfrm>
            <a:off x="4267047" y="1645920"/>
            <a:ext cx="3657600" cy="3840480"/>
          </a:xfrm>
          <a:prstGeom prst="roundRect">
            <a:avLst>
              <a:gd name="adj" fmla="val 8000"/>
            </a:avLst>
          </a:prstGeom>
          <a:solidFill>
            <a:srgbClr val="0C121F"/>
          </a:solidFill>
          <a:ln w="9525">
            <a:solidFill>
              <a:srgbClr val="1C28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541367" y="1920240"/>
            <a:ext cx="137160" cy="13716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15687" y="1847088"/>
            <a:ext cx="2926080" cy="274320"/>
          </a:xfrm>
          <a:prstGeom prst="rect">
            <a:avLst/>
          </a:prstGeom>
          <a:noFill/>
        </p:spPr>
        <p:txBody>
          <a:bodyPr wrap="square" lIns="0" rIns="0" tIns="0" bIns="0" anchor="t">
            <a:spAutoFit/>
          </a:bodyPr>
          <a:lstStyle/>
          <a:p>
            <a:pPr algn="l"/>
            <a:r>
              <a:rPr sz="1000" b="1" i="0">
                <a:solidFill>
                  <a:srgbClr val="3B82F6"/>
                </a:solidFill>
                <a:latin typeface="Consolas"/>
              </a:rPr>
              <a:t>LIMITS &amp; LEARNINGS</a:t>
            </a:r>
          </a:p>
        </p:txBody>
      </p:sp>
      <p:sp>
        <p:nvSpPr>
          <p:cNvPr id="71" name="TextBox 70"/>
          <p:cNvSpPr txBox="1"/>
          <p:nvPr/>
        </p:nvSpPr>
        <p:spPr>
          <a:xfrm>
            <a:off x="4541367" y="2194560"/>
            <a:ext cx="3108960" cy="457200"/>
          </a:xfrm>
          <a:prstGeom prst="rect">
            <a:avLst/>
          </a:prstGeom>
          <a:noFill/>
        </p:spPr>
        <p:txBody>
          <a:bodyPr wrap="square" lIns="0" rIns="0" tIns="0" bIns="0" anchor="t">
            <a:spAutoFit/>
          </a:bodyPr>
          <a:lstStyle/>
          <a:p>
            <a:pPr algn="l"/>
            <a:r>
              <a:rPr sz="1800" b="1" i="0">
                <a:solidFill>
                  <a:srgbClr val="F8FAFC"/>
                </a:solidFill>
                <a:latin typeface="Calibri Light"/>
              </a:rPr>
              <a:t>Ce qu'on a appris</a:t>
            </a:r>
          </a:p>
        </p:txBody>
      </p:sp>
      <p:cxnSp>
        <p:nvCxnSpPr>
          <p:cNvPr id="72" name="Connector 71"/>
          <p:cNvCxnSpPr/>
          <p:nvPr/>
        </p:nvCxnSpPr>
        <p:spPr>
          <a:xfrm>
            <a:off x="4541367.5" y="2743200"/>
            <a:ext cx="1097280.0" cy="0"/>
          </a:xfrm>
          <a:prstGeom prst="line">
            <a:avLst/>
          </a:prstGeom>
          <a:ln w="19050">
            <a:solidFill>
              <a:srgbClr val="273854"/>
            </a:solidFill>
          </a:ln>
        </p:spPr>
        <p:style>
          <a:lnRef idx="2">
            <a:schemeClr val="accent1"/>
          </a:lnRef>
          <a:fillRef idx="0">
            <a:schemeClr val="accent1"/>
          </a:fillRef>
          <a:effectRef idx="1">
            <a:schemeClr val="accent1"/>
          </a:effectRef>
          <a:fontRef idx="minor">
            <a:schemeClr val="tx1"/>
          </a:fontRef>
        </p:style>
      </p:cxnSp>
      <p:sp>
        <p:nvSpPr>
          <p:cNvPr id="73" name="Rounded Rectangle 72"/>
          <p:cNvSpPr/>
          <p:nvPr/>
        </p:nvSpPr>
        <p:spPr>
          <a:xfrm>
            <a:off x="4587087" y="3090672"/>
            <a:ext cx="109728" cy="109728"/>
          </a:xfrm>
          <a:prstGeom prst="roundRect">
            <a:avLst>
              <a:gd name="adj" fmla="val 3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815687" y="2926080"/>
            <a:ext cx="2926080" cy="731520"/>
          </a:xfrm>
          <a:prstGeom prst="rect">
            <a:avLst/>
          </a:prstGeom>
          <a:noFill/>
        </p:spPr>
        <p:txBody>
          <a:bodyPr wrap="square" lIns="0" rIns="0" tIns="0" bIns="0" anchor="t">
            <a:spAutoFit/>
          </a:bodyPr>
          <a:lstStyle/>
          <a:p>
            <a:pPr algn="l">
              <a:lnSpc>
                <a:spcPct val="130000"/>
              </a:lnSpc>
            </a:pPr>
            <a:r>
              <a:rPr sz="1100" b="0" i="0">
                <a:solidFill>
                  <a:srgbClr val="94A3B8"/>
                </a:solidFill>
                <a:latin typeface="Calibri"/>
              </a:rPr>
              <a:t>La veille = processus méthodologique,</a:t>
            </a:r>
          </a:p>
          <a:p>
            <a:pPr algn="l">
              <a:lnSpc>
                <a:spcPct val="130000"/>
              </a:lnSpc>
            </a:pPr>
            <a:r>
              <a:rPr sz="1100" b="0" i="0">
                <a:solidFill>
                  <a:srgbClr val="94A3B8"/>
                </a:solidFill>
                <a:latin typeface="Calibri"/>
              </a:rPr>
              <a:t>pas une accumulation de logs</a:t>
            </a:r>
          </a:p>
        </p:txBody>
      </p:sp>
      <p:sp>
        <p:nvSpPr>
          <p:cNvPr id="75" name="Rounded Rectangle 74"/>
          <p:cNvSpPr/>
          <p:nvPr/>
        </p:nvSpPr>
        <p:spPr>
          <a:xfrm>
            <a:off x="4587087" y="3730752"/>
            <a:ext cx="109728" cy="109728"/>
          </a:xfrm>
          <a:prstGeom prst="roundRect">
            <a:avLst>
              <a:gd name="adj" fmla="val 3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815687" y="3566160"/>
            <a:ext cx="2926080" cy="731520"/>
          </a:xfrm>
          <a:prstGeom prst="rect">
            <a:avLst/>
          </a:prstGeom>
          <a:noFill/>
        </p:spPr>
        <p:txBody>
          <a:bodyPr wrap="square" lIns="0" rIns="0" tIns="0" bIns="0" anchor="t">
            <a:spAutoFit/>
          </a:bodyPr>
          <a:lstStyle/>
          <a:p>
            <a:pPr algn="l">
              <a:lnSpc>
                <a:spcPct val="130000"/>
              </a:lnSpc>
            </a:pPr>
            <a:r>
              <a:rPr sz="1100" b="0" i="0">
                <a:solidFill>
                  <a:srgbClr val="94A3B8"/>
                </a:solidFill>
                <a:latin typeface="Calibri"/>
              </a:rPr>
              <a:t>Importance de la separation des responsabilités</a:t>
            </a:r>
          </a:p>
        </p:txBody>
      </p:sp>
      <p:sp>
        <p:nvSpPr>
          <p:cNvPr id="77" name="Rounded Rectangle 76"/>
          <p:cNvSpPr/>
          <p:nvPr/>
        </p:nvSpPr>
        <p:spPr>
          <a:xfrm>
            <a:off x="4587087" y="4370832"/>
            <a:ext cx="109728" cy="109728"/>
          </a:xfrm>
          <a:prstGeom prst="roundRect">
            <a:avLst>
              <a:gd name="adj" fmla="val 3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815687" y="4206240"/>
            <a:ext cx="2926080" cy="731520"/>
          </a:xfrm>
          <a:prstGeom prst="rect">
            <a:avLst/>
          </a:prstGeom>
          <a:noFill/>
        </p:spPr>
        <p:txBody>
          <a:bodyPr wrap="square" lIns="0" rIns="0" tIns="0" bIns="0" anchor="t">
            <a:spAutoFit/>
          </a:bodyPr>
          <a:lstStyle/>
          <a:p>
            <a:pPr algn="l">
              <a:lnSpc>
                <a:spcPct val="130000"/>
              </a:lnSpc>
            </a:pPr>
            <a:r>
              <a:rPr sz="1100" b="0" i="0">
                <a:solidFill>
                  <a:srgbClr val="94A3B8"/>
                </a:solidFill>
                <a:latin typeface="Calibri"/>
              </a:rPr>
              <a:t>Detection policy comme garde-fou central</a:t>
            </a:r>
          </a:p>
        </p:txBody>
      </p:sp>
      <p:sp>
        <p:nvSpPr>
          <p:cNvPr id="79" name="Rounded Rectangle 78"/>
          <p:cNvSpPr/>
          <p:nvPr/>
        </p:nvSpPr>
        <p:spPr>
          <a:xfrm>
            <a:off x="4587087" y="5010912"/>
            <a:ext cx="109728" cy="109728"/>
          </a:xfrm>
          <a:prstGeom prst="roundRect">
            <a:avLst>
              <a:gd name="adj" fmla="val 3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815687" y="4846320"/>
            <a:ext cx="2926080" cy="731520"/>
          </a:xfrm>
          <a:prstGeom prst="rect">
            <a:avLst/>
          </a:prstGeom>
          <a:noFill/>
        </p:spPr>
        <p:txBody>
          <a:bodyPr wrap="square" lIns="0" rIns="0" tIns="0" bIns="0" anchor="t">
            <a:spAutoFit/>
          </a:bodyPr>
          <a:lstStyle/>
          <a:p>
            <a:pPr algn="l">
              <a:lnSpc>
                <a:spcPct val="130000"/>
              </a:lnSpc>
            </a:pPr>
            <a:r>
              <a:rPr sz="1100" b="0" i="0">
                <a:solidFill>
                  <a:srgbClr val="94A3B8"/>
                </a:solidFill>
                <a:latin typeface="Calibri"/>
              </a:rPr>
              <a:t>Sources OSINT autorisées suffisantes</a:t>
            </a:r>
          </a:p>
        </p:txBody>
      </p:sp>
      <p:sp>
        <p:nvSpPr>
          <p:cNvPr id="81" name="Rounded Rectangle 80"/>
          <p:cNvSpPr/>
          <p:nvPr/>
        </p:nvSpPr>
        <p:spPr>
          <a:xfrm>
            <a:off x="8107527" y="1645920"/>
            <a:ext cx="3657600" cy="3840480"/>
          </a:xfrm>
          <a:prstGeom prst="roundRect">
            <a:avLst>
              <a:gd name="adj" fmla="val 8000"/>
            </a:avLst>
          </a:prstGeom>
          <a:solidFill>
            <a:srgbClr val="0C121F"/>
          </a:solidFill>
          <a:ln w="9525">
            <a:solidFill>
              <a:srgbClr val="1C28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381847" y="1920240"/>
            <a:ext cx="137160" cy="1371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656167" y="1847088"/>
            <a:ext cx="2926080" cy="274320"/>
          </a:xfrm>
          <a:prstGeom prst="rect">
            <a:avLst/>
          </a:prstGeom>
          <a:noFill/>
        </p:spPr>
        <p:txBody>
          <a:bodyPr wrap="square" lIns="0" rIns="0" tIns="0" bIns="0" anchor="t">
            <a:spAutoFit/>
          </a:bodyPr>
          <a:lstStyle/>
          <a:p>
            <a:pPr algn="l"/>
            <a:r>
              <a:rPr sz="1000" b="1" i="0">
                <a:solidFill>
                  <a:srgbClr val="F59E0B"/>
                </a:solidFill>
                <a:latin typeface="Consolas"/>
              </a:rPr>
              <a:t>PERSPECTIVES</a:t>
            </a:r>
          </a:p>
        </p:txBody>
      </p:sp>
      <p:sp>
        <p:nvSpPr>
          <p:cNvPr id="84" name="TextBox 83"/>
          <p:cNvSpPr txBox="1"/>
          <p:nvPr/>
        </p:nvSpPr>
        <p:spPr>
          <a:xfrm>
            <a:off x="8381847" y="2194560"/>
            <a:ext cx="3108960" cy="457200"/>
          </a:xfrm>
          <a:prstGeom prst="rect">
            <a:avLst/>
          </a:prstGeom>
          <a:noFill/>
        </p:spPr>
        <p:txBody>
          <a:bodyPr wrap="square" lIns="0" rIns="0" tIns="0" bIns="0" anchor="t">
            <a:spAutoFit/>
          </a:bodyPr>
          <a:lstStyle/>
          <a:p>
            <a:pPr algn="l"/>
            <a:r>
              <a:rPr sz="1800" b="1" i="0">
                <a:solidFill>
                  <a:srgbClr val="F8FAFC"/>
                </a:solidFill>
                <a:latin typeface="Calibri Light"/>
              </a:rPr>
              <a:t>Roadmap future</a:t>
            </a:r>
          </a:p>
        </p:txBody>
      </p:sp>
      <p:cxnSp>
        <p:nvCxnSpPr>
          <p:cNvPr id="85" name="Connector 84"/>
          <p:cNvCxnSpPr/>
          <p:nvPr/>
        </p:nvCxnSpPr>
        <p:spPr>
          <a:xfrm>
            <a:off x="8381847.5" y="2743200"/>
            <a:ext cx="1097280.0" cy="0"/>
          </a:xfrm>
          <a:prstGeom prst="line">
            <a:avLst/>
          </a:prstGeom>
          <a:ln w="19050">
            <a:solidFill>
              <a:srgbClr val="273854"/>
            </a:solidFill>
          </a:ln>
        </p:spPr>
        <p:style>
          <a:lnRef idx="2">
            <a:schemeClr val="accent1"/>
          </a:lnRef>
          <a:fillRef idx="0">
            <a:schemeClr val="accent1"/>
          </a:fillRef>
          <a:effectRef idx="1">
            <a:schemeClr val="accent1"/>
          </a:effectRef>
          <a:fontRef idx="minor">
            <a:schemeClr val="tx1"/>
          </a:fontRef>
        </p:style>
      </p:cxnSp>
      <p:sp>
        <p:nvSpPr>
          <p:cNvPr id="86" name="Rounded Rectangle 85"/>
          <p:cNvSpPr/>
          <p:nvPr/>
        </p:nvSpPr>
        <p:spPr>
          <a:xfrm>
            <a:off x="8427567" y="3090672"/>
            <a:ext cx="109728" cy="109728"/>
          </a:xfrm>
          <a:prstGeom prst="roundRect">
            <a:avLst>
              <a:gd name="adj" fmla="val 3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656167" y="2926080"/>
            <a:ext cx="2926080" cy="731520"/>
          </a:xfrm>
          <a:prstGeom prst="rect">
            <a:avLst/>
          </a:prstGeom>
          <a:noFill/>
        </p:spPr>
        <p:txBody>
          <a:bodyPr wrap="square" lIns="0" rIns="0" tIns="0" bIns="0" anchor="t">
            <a:spAutoFit/>
          </a:bodyPr>
          <a:lstStyle/>
          <a:p>
            <a:pPr algn="l">
              <a:lnSpc>
                <a:spcPct val="130000"/>
              </a:lnSpc>
            </a:pPr>
            <a:r>
              <a:rPr sz="1100" b="0" i="0">
                <a:solidFill>
                  <a:srgbClr val="94A3B8"/>
                </a:solidFill>
                <a:latin typeface="Calibri"/>
              </a:rPr>
              <a:t>Améliorer la corrélation inter-sources</a:t>
            </a:r>
          </a:p>
        </p:txBody>
      </p:sp>
      <p:sp>
        <p:nvSpPr>
          <p:cNvPr id="88" name="Rounded Rectangle 87"/>
          <p:cNvSpPr/>
          <p:nvPr/>
        </p:nvSpPr>
        <p:spPr>
          <a:xfrm>
            <a:off x="8427567" y="3730752"/>
            <a:ext cx="109728" cy="109728"/>
          </a:xfrm>
          <a:prstGeom prst="roundRect">
            <a:avLst>
              <a:gd name="adj" fmla="val 3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656167" y="3566160"/>
            <a:ext cx="2926080" cy="731520"/>
          </a:xfrm>
          <a:prstGeom prst="rect">
            <a:avLst/>
          </a:prstGeom>
          <a:noFill/>
        </p:spPr>
        <p:txBody>
          <a:bodyPr wrap="square" lIns="0" rIns="0" tIns="0" bIns="0" anchor="t">
            <a:spAutoFit/>
          </a:bodyPr>
          <a:lstStyle/>
          <a:p>
            <a:pPr algn="l">
              <a:lnSpc>
                <a:spcPct val="130000"/>
              </a:lnSpc>
            </a:pPr>
            <a:r>
              <a:rPr sz="1100" b="0" i="0">
                <a:solidFill>
                  <a:srgbClr val="94A3B8"/>
                </a:solidFill>
                <a:latin typeface="Calibri"/>
              </a:rPr>
              <a:t>Automatiser la production de rapports</a:t>
            </a:r>
          </a:p>
        </p:txBody>
      </p:sp>
      <p:sp>
        <p:nvSpPr>
          <p:cNvPr id="90" name="Rounded Rectangle 89"/>
          <p:cNvSpPr/>
          <p:nvPr/>
        </p:nvSpPr>
        <p:spPr>
          <a:xfrm>
            <a:off x="8427567" y="4370832"/>
            <a:ext cx="109728" cy="109728"/>
          </a:xfrm>
          <a:prstGeom prst="roundRect">
            <a:avLst>
              <a:gd name="adj" fmla="val 3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656167" y="4206240"/>
            <a:ext cx="2926080" cy="731520"/>
          </a:xfrm>
          <a:prstGeom prst="rect">
            <a:avLst/>
          </a:prstGeom>
          <a:noFill/>
        </p:spPr>
        <p:txBody>
          <a:bodyPr wrap="square" lIns="0" rIns="0" tIns="0" bIns="0" anchor="t">
            <a:spAutoFit/>
          </a:bodyPr>
          <a:lstStyle/>
          <a:p>
            <a:pPr algn="l">
              <a:lnSpc>
                <a:spcPct val="130000"/>
              </a:lnSpc>
            </a:pPr>
            <a:r>
              <a:rPr sz="1100" b="0" i="0">
                <a:solidFill>
                  <a:srgbClr val="94A3B8"/>
                </a:solidFill>
                <a:latin typeface="Calibri"/>
              </a:rPr>
              <a:t>Enrichir les indicateurs de risque</a:t>
            </a:r>
          </a:p>
        </p:txBody>
      </p:sp>
      <p:sp>
        <p:nvSpPr>
          <p:cNvPr id="92" name="Rounded Rectangle 91"/>
          <p:cNvSpPr/>
          <p:nvPr/>
        </p:nvSpPr>
        <p:spPr>
          <a:xfrm>
            <a:off x="8427567" y="5010912"/>
            <a:ext cx="109728" cy="109728"/>
          </a:xfrm>
          <a:prstGeom prst="roundRect">
            <a:avLst>
              <a:gd name="adj" fmla="val 3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656167" y="4846320"/>
            <a:ext cx="2926080" cy="731520"/>
          </a:xfrm>
          <a:prstGeom prst="rect">
            <a:avLst/>
          </a:prstGeom>
          <a:noFill/>
        </p:spPr>
        <p:txBody>
          <a:bodyPr wrap="square" lIns="0" rIns="0" tIns="0" bIns="0" anchor="t">
            <a:spAutoFit/>
          </a:bodyPr>
          <a:lstStyle/>
          <a:p>
            <a:pPr algn="l">
              <a:lnSpc>
                <a:spcPct val="130000"/>
              </a:lnSpc>
            </a:pPr>
            <a:r>
              <a:rPr sz="1100" b="0" i="0">
                <a:solidFill>
                  <a:srgbClr val="94A3B8"/>
                </a:solidFill>
                <a:latin typeface="Calibri"/>
              </a:rPr>
              <a:t>Du pédagogique vers l'opérationnel</a:t>
            </a:r>
          </a:p>
        </p:txBody>
      </p:sp>
      <p:sp>
        <p:nvSpPr>
          <p:cNvPr id="94" name="Rounded Rectangle 93"/>
          <p:cNvSpPr/>
          <p:nvPr/>
        </p:nvSpPr>
        <p:spPr>
          <a:xfrm>
            <a:off x="426567" y="5669280"/>
            <a:ext cx="11338560" cy="640080"/>
          </a:xfrm>
          <a:prstGeom prst="roundRect">
            <a:avLst>
              <a:gd name="adj" fmla="val 8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426567" y="5669280"/>
            <a:ext cx="91440" cy="64008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26567" y="5806440"/>
            <a:ext cx="11338560" cy="365760"/>
          </a:xfrm>
          <a:prstGeom prst="rect">
            <a:avLst/>
          </a:prstGeom>
          <a:noFill/>
        </p:spPr>
        <p:txBody>
          <a:bodyPr wrap="square" lIns="0" rIns="0" tIns="0" bIns="0" anchor="t">
            <a:spAutoFit/>
          </a:bodyPr>
          <a:lstStyle/>
          <a:p>
            <a:pPr algn="ctr"/>
            <a:r>
              <a:rPr sz="1400" b="0" i="1">
                <a:solidFill>
                  <a:srgbClr val="F8FAFC"/>
                </a:solidFill>
                <a:latin typeface="Calibri"/>
              </a:rPr>
              <a:t>Une chaîne de veille rigoureuse, défensive et exploitable, à partir de sources ouvertes et autorisées.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2191695" cy="457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371600"/>
            <a:ext cx="12191695" cy="1371600"/>
          </a:xfrm>
          <a:prstGeom prst="rect">
            <a:avLst/>
          </a:prstGeom>
          <a:noFill/>
        </p:spPr>
        <p:txBody>
          <a:bodyPr wrap="square" lIns="0" rIns="0" tIns="0" bIns="0" anchor="t">
            <a:spAutoFit/>
          </a:bodyPr>
          <a:lstStyle/>
          <a:p>
            <a:pPr algn="ctr"/>
            <a:r>
              <a:rPr sz="9600" b="1" i="0">
                <a:solidFill>
                  <a:srgbClr val="F8FAFC"/>
                </a:solidFill>
                <a:latin typeface="Calibri"/>
              </a:rPr>
              <a:t>Merci</a:t>
            </a:r>
          </a:p>
        </p:txBody>
      </p:sp>
      <p:sp>
        <p:nvSpPr>
          <p:cNvPr id="5" name="TextBox 4"/>
          <p:cNvSpPr txBox="1"/>
          <p:nvPr/>
        </p:nvSpPr>
        <p:spPr>
          <a:xfrm>
            <a:off x="0" y="2377440"/>
            <a:ext cx="12191695" cy="548640"/>
          </a:xfrm>
          <a:prstGeom prst="rect">
            <a:avLst/>
          </a:prstGeom>
          <a:noFill/>
        </p:spPr>
        <p:txBody>
          <a:bodyPr wrap="square" lIns="0" rIns="0" tIns="0" bIns="0" anchor="t">
            <a:spAutoFit/>
          </a:bodyPr>
          <a:lstStyle/>
          <a:p>
            <a:pPr algn="ctr"/>
            <a:r>
              <a:rPr sz="2200" b="0" i="1">
                <a:solidFill>
                  <a:srgbClr val="94A3B8"/>
                </a:solidFill>
                <a:latin typeface="Calibri"/>
              </a:rPr>
              <a:t>pour votre attention.</a:t>
            </a:r>
          </a:p>
        </p:txBody>
      </p:sp>
      <p:sp>
        <p:nvSpPr>
          <p:cNvPr id="6" name="TextBox 5"/>
          <p:cNvSpPr txBox="1"/>
          <p:nvPr/>
        </p:nvSpPr>
        <p:spPr>
          <a:xfrm>
            <a:off x="0" y="3383280"/>
            <a:ext cx="12191695" cy="548640"/>
          </a:xfrm>
          <a:prstGeom prst="rect">
            <a:avLst/>
          </a:prstGeom>
          <a:noFill/>
        </p:spPr>
        <p:txBody>
          <a:bodyPr wrap="square" lIns="0" rIns="0" tIns="0" bIns="0" anchor="t">
            <a:spAutoFit/>
          </a:bodyPr>
          <a:lstStyle/>
          <a:p>
            <a:pPr algn="ctr"/>
            <a:r>
              <a:rPr sz="2800" b="1" i="0">
                <a:solidFill>
                  <a:srgbClr val="3B82F6"/>
                </a:solidFill>
                <a:latin typeface="Calibri"/>
              </a:rPr>
              <a:t>Questions ?</a:t>
            </a:r>
          </a:p>
        </p:txBody>
      </p:sp>
      <p:sp>
        <p:nvSpPr>
          <p:cNvPr id="7" name="TextBox 6"/>
          <p:cNvSpPr txBox="1"/>
          <p:nvPr/>
        </p:nvSpPr>
        <p:spPr>
          <a:xfrm>
            <a:off x="0" y="4389120"/>
            <a:ext cx="12191695" cy="365760"/>
          </a:xfrm>
          <a:prstGeom prst="rect">
            <a:avLst/>
          </a:prstGeom>
          <a:noFill/>
        </p:spPr>
        <p:txBody>
          <a:bodyPr wrap="square" lIns="0" rIns="0" tIns="0" bIns="0" anchor="t">
            <a:spAutoFit/>
          </a:bodyPr>
          <a:lstStyle/>
          <a:p>
            <a:pPr algn="ctr"/>
            <a:r>
              <a:rPr sz="1000" b="1" i="0">
                <a:solidFill>
                  <a:srgbClr val="64748B"/>
                </a:solidFill>
                <a:latin typeface="Calibri"/>
              </a:rPr>
              <a:t>ÉQUIPE PROJET</a:t>
            </a:r>
          </a:p>
        </p:txBody>
      </p:sp>
      <p:sp>
        <p:nvSpPr>
          <p:cNvPr id="8" name="TextBox 7"/>
          <p:cNvSpPr txBox="1"/>
          <p:nvPr/>
        </p:nvSpPr>
        <p:spPr>
          <a:xfrm>
            <a:off x="0" y="4709160"/>
            <a:ext cx="12191695" cy="457200"/>
          </a:xfrm>
          <a:prstGeom prst="rect">
            <a:avLst/>
          </a:prstGeom>
          <a:noFill/>
        </p:spPr>
        <p:txBody>
          <a:bodyPr wrap="square" lIns="0" rIns="0" tIns="0" bIns="0" anchor="t">
            <a:spAutoFit/>
          </a:bodyPr>
          <a:lstStyle/>
          <a:p>
            <a:pPr algn="ctr"/>
            <a:r>
              <a:rPr sz="1400" b="1" i="0">
                <a:solidFill>
                  <a:srgbClr val="F8FAFC"/>
                </a:solidFill>
                <a:latin typeface="Calibri"/>
              </a:rPr>
              <a:t>Hamza Bjibji  •  Chaimae Ben Sbeh  •  Yassir Salim El Akramine  •  Imane Sghiouar</a:t>
            </a:r>
          </a:p>
        </p:txBody>
      </p:sp>
      <p:sp>
        <p:nvSpPr>
          <p:cNvPr id="9" name="Rounded Rectangle 8"/>
          <p:cNvSpPr/>
          <p:nvPr/>
        </p:nvSpPr>
        <p:spPr>
          <a:xfrm>
            <a:off x="-62636" y="5669280"/>
            <a:ext cx="1883664" cy="36576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3B82F6"/>
                </a:solidFill>
                <a:latin typeface="Calibri"/>
              </a:rPr>
              <a:t>FastAPI</a:t>
            </a:r>
          </a:p>
        </p:txBody>
      </p:sp>
      <p:sp>
        <p:nvSpPr>
          <p:cNvPr id="10" name="Rounded Rectangle 9"/>
          <p:cNvSpPr/>
          <p:nvPr/>
        </p:nvSpPr>
        <p:spPr>
          <a:xfrm>
            <a:off x="1958188" y="5669280"/>
            <a:ext cx="1719072" cy="36576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3B82F6"/>
                </a:solidFill>
                <a:latin typeface="Calibri"/>
              </a:rPr>
              <a:t>Celery</a:t>
            </a:r>
          </a:p>
        </p:txBody>
      </p:sp>
      <p:sp>
        <p:nvSpPr>
          <p:cNvPr id="11" name="Rounded Rectangle 10"/>
          <p:cNvSpPr/>
          <p:nvPr/>
        </p:nvSpPr>
        <p:spPr>
          <a:xfrm>
            <a:off x="3814420" y="5669280"/>
            <a:ext cx="1554480" cy="36576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3B82F6"/>
                </a:solidFill>
                <a:latin typeface="Calibri"/>
              </a:rPr>
              <a:t>Redis</a:t>
            </a:r>
          </a:p>
        </p:txBody>
      </p:sp>
      <p:sp>
        <p:nvSpPr>
          <p:cNvPr id="12" name="Rounded Rectangle 11"/>
          <p:cNvSpPr/>
          <p:nvPr/>
        </p:nvSpPr>
        <p:spPr>
          <a:xfrm>
            <a:off x="5506060" y="5669280"/>
            <a:ext cx="2871215" cy="36576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3B82F6"/>
                </a:solidFill>
                <a:latin typeface="Calibri"/>
              </a:rPr>
              <a:t>Elasticsearch</a:t>
            </a:r>
          </a:p>
        </p:txBody>
      </p:sp>
      <p:sp>
        <p:nvSpPr>
          <p:cNvPr id="13" name="Rounded Rectangle 12"/>
          <p:cNvSpPr/>
          <p:nvPr/>
        </p:nvSpPr>
        <p:spPr>
          <a:xfrm>
            <a:off x="8514435" y="5669280"/>
            <a:ext cx="1554480" cy="36576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3B82F6"/>
                </a:solidFill>
                <a:latin typeface="Calibri"/>
              </a:rPr>
              <a:t>React</a:t>
            </a:r>
          </a:p>
        </p:txBody>
      </p:sp>
      <p:sp>
        <p:nvSpPr>
          <p:cNvPr id="14" name="Rounded Rectangle 13"/>
          <p:cNvSpPr/>
          <p:nvPr/>
        </p:nvSpPr>
        <p:spPr>
          <a:xfrm>
            <a:off x="10206075" y="5669280"/>
            <a:ext cx="2048256" cy="365760"/>
          </a:xfrm>
          <a:prstGeom prst="roundRect">
            <a:avLst>
              <a:gd name="adj" fmla="val 50000"/>
            </a:avLst>
          </a:prstGeom>
          <a:solidFill>
            <a:srgbClr val="131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3B82F6"/>
                </a:solidFill>
                <a:latin typeface="Calibri"/>
              </a:rPr>
              <a:t>Power BI</a:t>
            </a:r>
          </a:p>
        </p:txBody>
      </p:sp>
      <p:sp>
        <p:nvSpPr>
          <p:cNvPr id="15" name="TextBox 14"/>
          <p:cNvSpPr txBox="1"/>
          <p:nvPr/>
        </p:nvSpPr>
        <p:spPr>
          <a:xfrm>
            <a:off x="0" y="6446520"/>
            <a:ext cx="12191695" cy="274320"/>
          </a:xfrm>
          <a:prstGeom prst="rect">
            <a:avLst/>
          </a:prstGeom>
          <a:noFill/>
        </p:spPr>
        <p:txBody>
          <a:bodyPr wrap="square" lIns="0" rIns="0" tIns="0" bIns="0" anchor="t">
            <a:spAutoFit/>
          </a:bodyPr>
          <a:lstStyle/>
          <a:p>
            <a:pPr algn="ctr"/>
            <a:r>
              <a:rPr sz="1000" b="0" i="0">
                <a:solidFill>
                  <a:srgbClr val="64748B"/>
                </a:solidFill>
                <a:latin typeface="Calibri"/>
              </a:rPr>
              <a:t>Data Breach &amp; Threat Intelligence Monitoring Platform  •  Année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